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9993" y="2145444"/>
            <a:ext cx="4671641" cy="67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784" b="1">
                <a:solidFill>
                  <a:srgbClr val="FFFFFF"/>
                </a:solidFill>
                <a:latin typeface="Arimo-Bold"/>
              </a:rPr>
              <a:t>Physical AI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4935" y="3317128"/>
            <a:ext cx="7502094" cy="4319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44" b="1">
                <a:solidFill>
                  <a:srgbClr val="FFFFFF"/>
                </a:solidFill>
                <a:latin typeface="Arimo-Bold"/>
              </a:rPr>
              <a:t>The Low-Resistance Path to AMD Silicon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2816" y="4093340"/>
            <a:ext cx="6646251" cy="308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3498DB"/>
                </a:solidFill>
                <a:latin typeface="Arimo-Bold"/>
              </a:rPr>
              <a:t>One Interface · Every Language · CPU · GPU · NPU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2068707"/>
            <a:ext cx="2910784" cy="268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90" b="1">
                <a:solidFill>
                  <a:srgbClr val="FFFFFF"/>
                </a:solidFill>
                <a:latin typeface="Arimo-Bold"/>
              </a:rPr>
              <a:t>What is Physical AI SDK?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2616565"/>
            <a:ext cx="9090345" cy="191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3498DB"/>
                </a:solidFill>
                <a:latin typeface="Arimo-Bold"/>
              </a:rPr>
              <a:t>Physical AI SDK (PAI SDK)</a:t>
            </a:r>
            <a:r>
              <a:rPr sz="1350">
                <a:solidFill>
                  <a:srgbClr val="FFFFFF"/>
                </a:solidFill>
                <a:latin typeface="Arimo"/>
              </a:rPr>
              <a:t> is a </a:t>
            </a:r>
            <a:r>
              <a:rPr sz="1350" b="1">
                <a:solidFill>
                  <a:srgbClr val="3498DB"/>
                </a:solidFill>
                <a:latin typeface="Arimo-Bold"/>
              </a:rPr>
              <a:t>unified inference engine</a:t>
            </a:r>
            <a:r>
              <a:rPr sz="1350">
                <a:solidFill>
                  <a:srgbClr val="FFFFFF"/>
                </a:solidFill>
                <a:latin typeface="Arimo"/>
              </a:rPr>
              <a:t> that catalyses your product development on AMD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3026140"/>
            <a:ext cx="4974552" cy="191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FFFFFF"/>
                </a:solidFill>
                <a:latin typeface="Arimo"/>
              </a:rPr>
              <a:t>It does this by creating a </a:t>
            </a:r>
            <a:r>
              <a:rPr sz="1350" b="1">
                <a:solidFill>
                  <a:srgbClr val="3498DB"/>
                </a:solidFill>
                <a:latin typeface="Arimo-Bold"/>
              </a:rPr>
              <a:t>"Low-Resistance Path"</a:t>
            </a:r>
            <a:r>
              <a:rPr sz="1350">
                <a:solidFill>
                  <a:srgbClr val="FFFFFF"/>
                </a:solidFill>
                <a:latin typeface="Arimo"/>
              </a:rPr>
              <a:t> to AMD silicon.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435715"/>
            <a:ext cx="7613456" cy="191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FFFFFF"/>
                </a:solidFill>
                <a:latin typeface="Arimo"/>
              </a:rPr>
              <a:t>A single </a:t>
            </a:r>
            <a:r>
              <a:rPr sz="1350" b="1">
                <a:solidFill>
                  <a:srgbClr val="3498DB"/>
                </a:solidFill>
                <a:latin typeface="Arimo-Bold"/>
              </a:rPr>
              <a:t>unified interface</a:t>
            </a:r>
            <a:r>
              <a:rPr sz="1350">
                <a:solidFill>
                  <a:srgbClr val="FFFFFF"/>
                </a:solidFill>
                <a:latin typeface="Arimo"/>
              </a:rPr>
              <a:t> to run AI workloads across </a:t>
            </a:r>
            <a:r>
              <a:rPr sz="1350" b="1">
                <a:solidFill>
                  <a:srgbClr val="3498DB"/>
                </a:solidFill>
                <a:latin typeface="Arimo-Bold"/>
              </a:rPr>
              <a:t>CPU, GPU, and NPU</a:t>
            </a:r>
            <a:r>
              <a:rPr sz="1350">
                <a:solidFill>
                  <a:srgbClr val="FFFFFF"/>
                </a:solidFill>
                <a:latin typeface="Arimo"/>
              </a:rPr>
              <a:t> on AMD edge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3988165"/>
            <a:ext cx="7844993" cy="1915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3498DB"/>
                </a:solidFill>
                <a:latin typeface="Arimo-Bold"/>
              </a:rPr>
              <a:t>Learn one interface — deploy across every AMD compute device</a:t>
            </a:r>
            <a:r>
              <a:rPr sz="1350">
                <a:solidFill>
                  <a:srgbClr val="FFFFFF"/>
                </a:solidFill>
                <a:latin typeface="Arimo"/>
              </a:rPr>
              <a:t>, from edge CPU to iGPU to NPU.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25313"/>
            <a:ext cx="3665745" cy="2979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Arimo-Bold"/>
              </a:rPr>
              <a:t>Physical AI SDK —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875917"/>
            <a:ext cx="2188863" cy="14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97" i="1">
                <a:solidFill>
                  <a:srgbClr val="00BCD4"/>
                </a:solidFill>
                <a:latin typeface="Arimo-Italic"/>
              </a:rPr>
              <a:t>From Camera to Product — in 4 NMTS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9393" y="1193731"/>
            <a:ext cx="933582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4CAF50"/>
                </a:solidFill>
                <a:latin typeface="Arimo-Bold"/>
              </a:rPr>
              <a:t>App · logic /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564" y="1411864"/>
            <a:ext cx="875074" cy="12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92">
                <a:solidFill>
                  <a:srgbClr val="CCCCCC"/>
                </a:solidFill>
                <a:latin typeface="Arimo"/>
              </a:rPr>
              <a:t>decisions ·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8168" y="1244036"/>
            <a:ext cx="649613" cy="2459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3498DB"/>
                </a:solidFill>
                <a:latin typeface="Arimo-Bold"/>
              </a:rPr>
              <a:t>2 NMTS</a:t>
            </a:r>
          </a:p>
          <a:p>
            <a:r>
              <a:rPr sz="860" b="1">
                <a:solidFill>
                  <a:srgbClr val="3498DB"/>
                </a:solidFill>
                <a:latin typeface="Arimo-Bold"/>
              </a:rPr>
              <a:t>postprocess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3405" y="2070031"/>
            <a:ext cx="1025171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mo-Bold"/>
              </a:rPr>
              <a:t>Physical AI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940" y="2288164"/>
            <a:ext cx="856382" cy="12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92">
                <a:solidFill>
                  <a:srgbClr val="FFFFFF"/>
                </a:solidFill>
                <a:latin typeface="Arimo"/>
              </a:rPr>
              <a:t>Inference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693" y="2120336"/>
            <a:ext cx="770856" cy="2459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4CAF50"/>
                </a:solidFill>
                <a:latin typeface="Arimo-Bold"/>
              </a:rPr>
              <a:t>0 NMTS</a:t>
            </a:r>
          </a:p>
          <a:p>
            <a:r>
              <a:rPr sz="860" b="1">
                <a:solidFill>
                  <a:srgbClr val="4CAF50"/>
                </a:solidFill>
                <a:latin typeface="Arimo-Bold"/>
              </a:rPr>
              <a:t>you write 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9862" y="2946331"/>
            <a:ext cx="1052398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BCD4"/>
                </a:solidFill>
                <a:latin typeface="Arimo-Bold"/>
              </a:rPr>
              <a:t>Camera /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6024" y="3164464"/>
            <a:ext cx="560142" cy="12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92">
                <a:solidFill>
                  <a:srgbClr val="CCCCCC"/>
                </a:solidFill>
                <a:latin typeface="Arimo"/>
              </a:rPr>
              <a:t>raw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168" y="2996636"/>
            <a:ext cx="589019" cy="2459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3498DB"/>
                </a:solidFill>
                <a:latin typeface="Arimo-Bold"/>
              </a:rPr>
              <a:t>2 NMTS</a:t>
            </a:r>
          </a:p>
          <a:p>
            <a:r>
              <a:rPr sz="860" b="1">
                <a:solidFill>
                  <a:srgbClr val="3498DB"/>
                </a:solidFill>
                <a:latin typeface="Arimo-Bold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460681"/>
            <a:ext cx="2349454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3498DB"/>
                </a:solidFill>
                <a:latin typeface="Arimo-Bold"/>
              </a:rPr>
              <a:t>2 NMTS in</a:t>
            </a:r>
            <a:r>
              <a:rPr sz="1050">
                <a:solidFill>
                  <a:srgbClr val="FFFFFF"/>
                </a:solidFill>
                <a:latin typeface="Arimo"/>
              </a:rPr>
              <a:t> — capture, hand to the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689281"/>
            <a:ext cx="2453343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3498DB"/>
                </a:solidFill>
                <a:latin typeface="Arimo-Bold"/>
              </a:rPr>
              <a:t>0 NMTS middle</a:t>
            </a:r>
            <a:r>
              <a:rPr sz="1050">
                <a:solidFill>
                  <a:srgbClr val="FFFFFF"/>
                </a:solidFill>
                <a:latin typeface="Arimo"/>
              </a:rPr>
              <a:t> — the SDK </a:t>
            </a:r>
            <a:r>
              <a:rPr sz="1050" i="1">
                <a:solidFill>
                  <a:srgbClr val="FFFFFF"/>
                </a:solidFill>
                <a:latin typeface="Arimo-Italic"/>
              </a:rPr>
              <a:t>is</a:t>
            </a:r>
            <a:r>
              <a:rPr sz="1050">
                <a:solidFill>
                  <a:srgbClr val="FFFFFF"/>
                </a:solidFill>
                <a:latin typeface="Arimo"/>
              </a:rPr>
              <a:t> the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927406"/>
            <a:ext cx="1956377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3498DB"/>
                </a:solidFill>
                <a:latin typeface="Arimo-Bold"/>
              </a:rPr>
              <a:t>2 NMTS out</a:t>
            </a:r>
            <a:r>
              <a:rPr sz="1050">
                <a:solidFill>
                  <a:srgbClr val="FFFFFF"/>
                </a:solidFill>
                <a:latin typeface="Arimo"/>
              </a:rPr>
              <a:t> — act on the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4165531"/>
            <a:ext cx="2709354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4CAF50"/>
                </a:solidFill>
                <a:latin typeface="Arimo-Bold"/>
              </a:rPr>
              <a:t>Total effort: 4 NMTS → a working edge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012" y="1120211"/>
            <a:ext cx="3657141" cy="1221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3498DB"/>
                </a:solidFill>
                <a:latin typeface="Arimo-Bold"/>
              </a:rPr>
              <a:t>NMTS</a:t>
            </a:r>
            <a:r>
              <a:rPr sz="860">
                <a:solidFill>
                  <a:srgbClr val="FFFFFF"/>
                </a:solidFill>
                <a:latin typeface="Arimo"/>
              </a:rPr>
              <a:t> = "Not More Than Ten (lines of code)" — one unit of developer effort.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012" y="1346131"/>
            <a:ext cx="2208147" cy="14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3498DB"/>
                </a:solidFill>
                <a:latin typeface="Arimo-Bold"/>
              </a:rPr>
              <a:t>The whole application — in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0312" y="1779019"/>
            <a:ext cx="2974490" cy="1246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1">
                <a:solidFill>
                  <a:srgbClr val="6A737D"/>
                </a:solidFill>
                <a:latin typeface="Cousine"/>
              </a:rPr>
              <a:t># NMTS 1 · set up the SDK</a:t>
            </a:r>
          </a:p>
          <a:p>
            <a:r>
              <a:rPr sz="651">
                <a:solidFill>
                  <a:srgbClr val="D73A49"/>
                </a:solidFill>
                <a:latin typeface="Cousine"/>
              </a:rPr>
              <a:t>from</a:t>
            </a:r>
            <a:r>
              <a:rPr sz="651">
                <a:solidFill>
                  <a:srgbClr val="000000"/>
                </a:solidFill>
                <a:latin typeface="Cousine"/>
              </a:rPr>
              <a:t> physical_ai_sdk.inference_engine </a:t>
            </a:r>
            <a:r>
              <a:rPr sz="651">
                <a:solidFill>
                  <a:srgbClr val="D73A49"/>
                </a:solidFill>
                <a:latin typeface="Cousine"/>
              </a:rPr>
              <a:t>import</a:t>
            </a:r>
            <a:r>
              <a:rPr sz="651">
                <a:solidFill>
                  <a:srgbClr val="000000"/>
                </a:solidFill>
                <a:latin typeface="Cousine"/>
              </a:rPr>
              <a:t> </a:t>
            </a:r>
            <a:r>
              <a:rPr sz="651">
                <a:solidFill>
                  <a:srgbClr val="6F42C1"/>
                </a:solidFill>
                <a:latin typeface="Cousine"/>
              </a:rPr>
              <a:t>InferenceEngine</a:t>
            </a:r>
          </a:p>
          <a:p>
            <a:r>
              <a:rPr sz="651">
                <a:solidFill>
                  <a:srgbClr val="000000"/>
                </a:solidFill>
                <a:latin typeface="Cousine"/>
              </a:rPr>
              <a:t>engine = </a:t>
            </a:r>
            <a:r>
              <a:rPr sz="651">
                <a:solidFill>
                  <a:srgbClr val="6F42C1"/>
                </a:solidFill>
                <a:latin typeface="Cousine"/>
              </a:rPr>
              <a:t>InferenceEngine</a:t>
            </a:r>
            <a:r>
              <a:rPr sz="651">
                <a:solidFill>
                  <a:srgbClr val="000000"/>
                </a:solidFill>
                <a:latin typeface="Cousine"/>
              </a:rPr>
              <a:t>(</a:t>
            </a:r>
            <a:r>
              <a:rPr sz="651">
                <a:solidFill>
                  <a:srgbClr val="032F62"/>
                </a:solidFill>
                <a:latin typeface="Cousine"/>
              </a:rPr>
              <a:t>"physical-ai-sdk.local"</a:t>
            </a:r>
            <a:r>
              <a:rPr sz="651">
                <a:solidFill>
                  <a:srgbClr val="000000"/>
                </a:solidFill>
                <a:latin typeface="Cousine"/>
              </a:rPr>
              <a:t>)</a:t>
            </a:r>
          </a:p>
          <a:p>
            <a:r>
              <a:rPr sz="651">
                <a:solidFill>
                  <a:srgbClr val="000000"/>
                </a:solidFill>
                <a:latin typeface="Cousine"/>
              </a:rPr>
              <a:t>yolo   = engine.model(</a:t>
            </a:r>
            <a:r>
              <a:rPr sz="651">
                <a:solidFill>
                  <a:srgbClr val="032F62"/>
                </a:solidFill>
                <a:latin typeface="Cousine"/>
              </a:rPr>
              <a:t>"yolov12"</a:t>
            </a:r>
            <a:r>
              <a:rPr sz="651">
                <a:solidFill>
                  <a:srgbClr val="000000"/>
                </a:solidFill>
                <a:latin typeface="Cousine"/>
              </a:rPr>
              <a:t>)</a:t>
            </a:r>
          </a:p>
          <a:p>
            <a:r>
              <a:rPr sz="651">
                <a:solidFill>
                  <a:srgbClr val="6A737D"/>
                </a:solidFill>
                <a:latin typeface="Cousine"/>
              </a:rPr>
              <a:t># NMTS 2 · read the camera</a:t>
            </a:r>
          </a:p>
          <a:p>
            <a:r>
              <a:rPr sz="651">
                <a:solidFill>
                  <a:srgbClr val="000000"/>
                </a:solidFill>
                <a:latin typeface="Cousine"/>
              </a:rPr>
              <a:t>frame = Camera.open(</a:t>
            </a:r>
            <a:r>
              <a:rPr sz="651">
                <a:solidFill>
                  <a:srgbClr val="005CC5"/>
                </a:solidFill>
                <a:latin typeface="Cousine"/>
              </a:rPr>
              <a:t>0</a:t>
            </a:r>
            <a:r>
              <a:rPr sz="651">
                <a:solidFill>
                  <a:srgbClr val="000000"/>
                </a:solidFill>
                <a:latin typeface="Cousine"/>
              </a:rPr>
              <a:t>).read()</a:t>
            </a:r>
          </a:p>
          <a:p>
            <a:r>
              <a:rPr sz="651">
                <a:solidFill>
                  <a:srgbClr val="6A737D"/>
                </a:solidFill>
                <a:latin typeface="Cousine"/>
              </a:rPr>
              <a:t># NMTS 3 · inference — SDK does everything</a:t>
            </a:r>
          </a:p>
          <a:p>
            <a:r>
              <a:rPr sz="651">
                <a:solidFill>
                  <a:srgbClr val="000000"/>
                </a:solidFill>
                <a:latin typeface="Cousine"/>
              </a:rPr>
              <a:t>dets = yolo.predict(frame)</a:t>
            </a:r>
          </a:p>
          <a:p>
            <a:r>
              <a:rPr sz="651">
                <a:solidFill>
                  <a:srgbClr val="6A737D"/>
                </a:solidFill>
                <a:latin typeface="Cousine"/>
              </a:rPr>
              <a:t># NMTS 4 · act on the results</a:t>
            </a:r>
          </a:p>
          <a:p>
            <a:r>
              <a:rPr sz="651">
                <a:solidFill>
                  <a:srgbClr val="D73A49"/>
                </a:solidFill>
                <a:latin typeface="Cousine"/>
              </a:rPr>
              <a:t>for</a:t>
            </a:r>
            <a:r>
              <a:rPr sz="651">
                <a:solidFill>
                  <a:srgbClr val="000000"/>
                </a:solidFill>
                <a:latin typeface="Cousine"/>
              </a:rPr>
              <a:t> d </a:t>
            </a:r>
            <a:r>
              <a:rPr sz="651">
                <a:solidFill>
                  <a:srgbClr val="D73A49"/>
                </a:solidFill>
                <a:latin typeface="Cousine"/>
              </a:rPr>
              <a:t>in</a:t>
            </a:r>
            <a:r>
              <a:rPr sz="651">
                <a:solidFill>
                  <a:srgbClr val="000000"/>
                </a:solidFill>
                <a:latin typeface="Cousine"/>
              </a:rPr>
              <a:t> dets:</a:t>
            </a:r>
          </a:p>
          <a:p>
            <a:r>
              <a:rPr sz="651">
                <a:solidFill>
                  <a:srgbClr val="000000"/>
                </a:solidFill>
                <a:latin typeface="Cousine"/>
              </a:rPr>
              <a:t>    </a:t>
            </a:r>
            <a:r>
              <a:rPr sz="651">
                <a:solidFill>
                  <a:srgbClr val="6F42C1"/>
                </a:solidFill>
                <a:latin typeface="Cousine"/>
              </a:rPr>
              <a:t>draw_box</a:t>
            </a:r>
            <a:r>
              <a:rPr sz="651">
                <a:solidFill>
                  <a:srgbClr val="000000"/>
                </a:solidFill>
                <a:latin typeface="Cousine"/>
              </a:rPr>
              <a:t>(frame, d.box, d.label)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6012" y="3227782"/>
            <a:ext cx="2828034" cy="107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5">
                <a:solidFill>
                  <a:srgbClr val="CCCCCC"/>
                </a:solidFill>
                <a:latin typeface="Arimo"/>
              </a:rPr>
              <a:t>Same call, every language: </a:t>
            </a:r>
          </a:p>
          <a:p>
            <a:r>
              <a:rPr sz="755" b="1">
                <a:solidFill>
                  <a:srgbClr val="00BCD4"/>
                </a:solidFill>
                <a:latin typeface="Arimo-Bold"/>
              </a:rPr>
              <a:t>Python</a:t>
            </a:r>
          </a:p>
          <a:p>
            <a:r>
              <a:rPr sz="755">
                <a:solidFill>
                  <a:srgbClr val="CCCCCC"/>
                </a:solidFill>
                <a:latin typeface="Arimo"/>
              </a:rPr>
              <a:t> </a:t>
            </a:r>
          </a:p>
          <a:p>
            <a:r>
              <a:rPr sz="755" b="1">
                <a:solidFill>
                  <a:srgbClr val="00BCD4"/>
                </a:solidFill>
                <a:latin typeface="Arimo-Bold"/>
              </a:rPr>
              <a:t>C++</a:t>
            </a:r>
          </a:p>
          <a:p>
            <a:r>
              <a:rPr sz="755">
                <a:solidFill>
                  <a:srgbClr val="CCCCCC"/>
                </a:solidFill>
                <a:latin typeface="Arimo"/>
              </a:rPr>
              <a:t> </a:t>
            </a:r>
          </a:p>
          <a:p>
            <a:r>
              <a:rPr sz="755" b="1">
                <a:solidFill>
                  <a:srgbClr val="00BCD4"/>
                </a:solidFill>
                <a:latin typeface="Arimo-Bold"/>
              </a:rPr>
              <a:t>Kotlin</a:t>
            </a:r>
          </a:p>
          <a:p>
            <a:r>
              <a:rPr sz="755">
                <a:solidFill>
                  <a:srgbClr val="CCCCCC"/>
                </a:solidFill>
                <a:latin typeface="Arimo"/>
              </a:rPr>
              <a:t> </a:t>
            </a:r>
          </a:p>
          <a:p>
            <a:r>
              <a:rPr sz="755" b="1">
                <a:solidFill>
                  <a:srgbClr val="00BCD4"/>
                </a:solidFill>
                <a:latin typeface="Arimo-Bold"/>
              </a:rPr>
              <a:t>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4932" y="3532318"/>
            <a:ext cx="901649" cy="131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Arimo-Bold"/>
              </a:rPr>
              <a:t>Physical AI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9182" y="3775404"/>
            <a:ext cx="2413227" cy="113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98" b="1">
                <a:solidFill>
                  <a:srgbClr val="FFFFFF"/>
                </a:solidFill>
                <a:latin typeface="Arimo-Bold"/>
              </a:rPr>
              <a:t>Inference Engine · one interface, seamless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7895" y="4044650"/>
            <a:ext cx="395997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00BCD4"/>
                </a:solidFill>
                <a:latin typeface="Arimo-Bold"/>
              </a:rPr>
              <a:t>YOLOv12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6179" y="4178000"/>
            <a:ext cx="239636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>
                <a:solidFill>
                  <a:srgbClr val="FFFFFF"/>
                </a:solidFill>
                <a:latin typeface="Arimo"/>
              </a:rP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8561" y="4044650"/>
            <a:ext cx="527847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00BCD4"/>
                </a:solidFill>
                <a:latin typeface="Arimo-Bold"/>
              </a:rPr>
              <a:t>MobileNetV3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368" y="4178000"/>
            <a:ext cx="288380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>
                <a:solidFill>
                  <a:srgbClr val="FFFFFF"/>
                </a:solidFill>
                <a:latin typeface="Arimo"/>
              </a:rPr>
              <a:t>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2096" y="4044650"/>
            <a:ext cx="474019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00BCD4"/>
                </a:solidFill>
                <a:latin typeface="Arimo-Bold"/>
              </a:rPr>
              <a:t>MobileSAM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0408" y="4178000"/>
            <a:ext cx="337385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>
                <a:solidFill>
                  <a:srgbClr val="FFFFFF"/>
                </a:solidFill>
                <a:latin typeface="Arimo"/>
              </a:rPr>
              <a:t>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9535" y="4044650"/>
            <a:ext cx="332433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00BCD4"/>
                </a:solidFill>
                <a:latin typeface="Arimo-Bold"/>
              </a:rPr>
              <a:t>Llama-3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90200" y="4178000"/>
            <a:ext cx="171149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>
                <a:solidFill>
                  <a:srgbClr val="FFFFFF"/>
                </a:solidFill>
                <a:latin typeface="Arimo"/>
              </a:rPr>
              <a:t>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7336" y="4406600"/>
            <a:ext cx="1956858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4CAF50"/>
                </a:solidFill>
                <a:latin typeface="Arimo-Bold"/>
              </a:rPr>
              <a:t>one call runs seamlessly on any AMD compute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5184" y="4597100"/>
            <a:ext cx="4001403" cy="1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92" b="1">
                <a:solidFill>
                  <a:srgbClr val="4CAF50"/>
                </a:solidFill>
                <a:latin typeface="Arimo-Bold"/>
              </a:rPr>
              <a:t>AMD CPU</a:t>
            </a:r>
          </a:p>
          <a:p>
            <a:r>
              <a:rPr sz="692" b="1">
                <a:solidFill>
                  <a:srgbClr val="4CAF50"/>
                </a:solidFill>
                <a:latin typeface="Arimo-Bold"/>
              </a:rPr>
              <a:t>AMD GPU</a:t>
            </a:r>
          </a:p>
          <a:p>
            <a:r>
              <a:rPr sz="692" b="1">
                <a:solidFill>
                  <a:srgbClr val="4CAF50"/>
                </a:solidFill>
                <a:latin typeface="Arimo-Bold"/>
              </a:rPr>
              <a:t>AMD NPU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5136139"/>
            <a:ext cx="10103450" cy="12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92" b="1">
                <a:solidFill>
                  <a:srgbClr val="FF8A8A"/>
                </a:solidFill>
                <a:latin typeface="Arimo-Bold"/>
              </a:rPr>
              <a:t>Without PAI SDK</a:t>
            </a:r>
            <a:r>
              <a:rPr sz="892">
                <a:solidFill>
                  <a:srgbClr val="FFFFFF"/>
                </a:solidFill>
                <a:latin typeface="Arimo"/>
              </a:rPr>
              <a:t> — Triton + ROCm + gRPC setup, per-language rewrites, </a:t>
            </a:r>
            <a:r>
              <a:rPr sz="892" b="1">
                <a:solidFill>
                  <a:srgbClr val="FF8A8A"/>
                </a:solidFill>
                <a:latin typeface="Arimo-Bold"/>
              </a:rPr>
              <a:t>weeks</a:t>
            </a:r>
            <a:r>
              <a:rPr sz="892">
                <a:solidFill>
                  <a:srgbClr val="FFFFFF"/>
                </a:solidFill>
                <a:latin typeface="Arimo"/>
              </a:rPr>
              <a:t> to first inference</a:t>
            </a:r>
          </a:p>
          <a:p>
            <a:r>
              <a:rPr sz="892" b="1">
                <a:solidFill>
                  <a:srgbClr val="4CAF50"/>
                </a:solidFill>
                <a:latin typeface="Arimo-Bold"/>
              </a:rPr>
              <a:t>With PAI SDK</a:t>
            </a:r>
            <a:r>
              <a:rPr sz="892">
                <a:solidFill>
                  <a:srgbClr val="FFFFFF"/>
                </a:solidFill>
                <a:latin typeface="Arimo"/>
              </a:rPr>
              <a:t> — one call, </a:t>
            </a:r>
            <a:r>
              <a:rPr sz="892" b="1">
                <a:solidFill>
                  <a:srgbClr val="4CAF50"/>
                </a:solidFill>
                <a:latin typeface="Arimo-Bold"/>
              </a:rPr>
              <a:t>4 NMTS</a:t>
            </a:r>
            <a:r>
              <a:rPr sz="892">
                <a:solidFill>
                  <a:srgbClr val="FFFFFF"/>
                </a:solidFill>
                <a:latin typeface="Arimo"/>
              </a:rPr>
              <a:t>, 2 engineers, </a:t>
            </a:r>
            <a:r>
              <a:rPr sz="892" b="1">
                <a:solidFill>
                  <a:srgbClr val="4CAF50"/>
                </a:solidFill>
                <a:latin typeface="Arimo-Bold"/>
              </a:rPr>
              <a:t>half a week</a:t>
            </a:r>
            <a:r>
              <a:rPr sz="892">
                <a:solidFill>
                  <a:srgbClr val="FFFFFF"/>
                </a:solidFill>
                <a:latin typeface="Arimo"/>
              </a:rPr>
              <a:t> to a stable app on AMD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603" y="5657747"/>
            <a:ext cx="961478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FFFFFF"/>
                </a:solidFill>
                <a:latin typeface="Arimo-Bold"/>
              </a:rPr>
              <a:t>The Pitch:</a:t>
            </a:r>
            <a:r>
              <a:rPr sz="1575" b="1">
                <a:solidFill>
                  <a:srgbClr val="4CAF50"/>
                </a:solidFill>
                <a:latin typeface="Arimo-Bold"/>
              </a:rPr>
              <a:t> Physical AI SDK accelerates AI development on AMD Edge-HW — </a:t>
            </a:r>
            <a:r>
              <a:rPr sz="1575" b="1">
                <a:solidFill>
                  <a:srgbClr val="4AA3FF"/>
                </a:solidFill>
                <a:latin typeface="Arimo-Bold"/>
              </a:rPr>
              <a:t>from a quarter to a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889491"/>
            <a:ext cx="5258834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Same Inference Call — Every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495322"/>
            <a:ext cx="67788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017032"/>
            <a:ext cx="3274307" cy="9587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CF222E"/>
                </a:solidFill>
                <a:latin typeface="LiberationMono"/>
              </a:rPr>
              <a:t>from</a:t>
            </a:r>
            <a:r>
              <a:rPr sz="1102">
                <a:solidFill>
                  <a:srgbClr val="000000"/>
                </a:solidFill>
                <a:latin typeface="LiberationMono"/>
              </a:rPr>
              <a:t> physical_ai_sdk.inference_engine \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  </a:t>
            </a:r>
            <a:r>
              <a:rPr sz="1102">
                <a:solidFill>
                  <a:srgbClr val="CF222E"/>
                </a:solidFill>
                <a:latin typeface="LiberationMono"/>
              </a:rPr>
              <a:t>import</a:t>
            </a:r>
            <a:r>
              <a:rPr sz="1102">
                <a:solidFill>
                  <a:srgbClr val="000000"/>
                </a:solidFill>
                <a:latin typeface="LiberationMono"/>
              </a:rPr>
              <a:t> InferenceEngine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engine = InferenceEngine(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  endpoint=</a:t>
            </a:r>
            <a:r>
              <a:rPr sz="1102">
                <a:solidFill>
                  <a:srgbClr val="0A3069"/>
                </a:solidFill>
                <a:latin typeface="LiberationMono"/>
              </a:rPr>
              <a:t>"physical-ai-sdk.local"</a:t>
            </a:r>
            <a:r>
              <a:rPr sz="1102">
                <a:solidFill>
                  <a:srgbClr val="000000"/>
                </a:solidFill>
                <a:latin typeface="LiberationMono"/>
              </a:rPr>
              <a:t>)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yolo = engine.model(</a:t>
            </a:r>
            <a:r>
              <a:rPr sz="1102">
                <a:solidFill>
                  <a:srgbClr val="0A3069"/>
                </a:solidFill>
                <a:latin typeface="LiberationMono"/>
              </a:rPr>
              <a:t>"yolov12"</a:t>
            </a:r>
            <a:r>
              <a:rPr sz="1102">
                <a:solidFill>
                  <a:srgbClr val="000000"/>
                </a:solidFill>
                <a:latin typeface="LiberationMono"/>
              </a:rPr>
              <a:t>)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dets = yolo.predict(frame)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276497"/>
            <a:ext cx="37804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798207"/>
            <a:ext cx="3946159" cy="7967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0550AE"/>
                </a:solidFill>
                <a:latin typeface="LiberationMono"/>
              </a:rPr>
              <a:t>#</a:t>
            </a:r>
            <a:r>
              <a:rPr sz="1102">
                <a:solidFill>
                  <a:srgbClr val="CF222E"/>
                </a:solidFill>
                <a:latin typeface="LiberationMono"/>
              </a:rPr>
              <a:t>include</a:t>
            </a:r>
            <a:r>
              <a:rPr sz="1102">
                <a:solidFill>
                  <a:srgbClr val="0550AE"/>
                </a:solidFill>
                <a:latin typeface="LiberationMono"/>
              </a:rPr>
              <a:t> </a:t>
            </a:r>
            <a:r>
              <a:rPr sz="1102">
                <a:solidFill>
                  <a:srgbClr val="0A3069"/>
                </a:solidFill>
                <a:latin typeface="LiberationMono"/>
              </a:rPr>
              <a:t>&lt;physical_ai_sdk/inference_engine.hpp&gt;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auto</a:t>
            </a:r>
            <a:r>
              <a:rPr sz="1102">
                <a:solidFill>
                  <a:srgbClr val="000000"/>
                </a:solidFill>
                <a:latin typeface="LiberationMono"/>
              </a:rPr>
              <a:t> engine = </a:t>
            </a:r>
            <a:r>
              <a:rPr sz="1102">
                <a:solidFill>
                  <a:srgbClr val="953800"/>
                </a:solidFill>
                <a:latin typeface="LiberationMono"/>
              </a:rPr>
              <a:t>InferenceEngine</a:t>
            </a:r>
            <a:r>
              <a:rPr sz="1102">
                <a:solidFill>
                  <a:srgbClr val="000000"/>
                </a:solidFill>
                <a:latin typeface="LiberationMono"/>
              </a:rPr>
              <a:t>(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  </a:t>
            </a:r>
            <a:r>
              <a:rPr sz="1102">
                <a:solidFill>
                  <a:srgbClr val="0A3069"/>
                </a:solidFill>
                <a:latin typeface="LiberationMono"/>
              </a:rPr>
              <a:t>"physical-ai-sdk.local"</a:t>
            </a:r>
            <a:r>
              <a:rPr sz="1102">
                <a:solidFill>
                  <a:srgbClr val="000000"/>
                </a:solidFill>
                <a:latin typeface="LiberationMono"/>
              </a:rPr>
              <a:t>);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auto</a:t>
            </a:r>
            <a:r>
              <a:rPr sz="1102">
                <a:solidFill>
                  <a:srgbClr val="000000"/>
                </a:solidFill>
                <a:latin typeface="LiberationMono"/>
              </a:rPr>
              <a:t> yolo = engine.</a:t>
            </a:r>
            <a:r>
              <a:rPr sz="1102">
                <a:solidFill>
                  <a:srgbClr val="953800"/>
                </a:solidFill>
                <a:latin typeface="LiberationMono"/>
              </a:rPr>
              <a:t>model</a:t>
            </a:r>
            <a:r>
              <a:rPr sz="1102">
                <a:solidFill>
                  <a:srgbClr val="000000"/>
                </a:solidFill>
                <a:latin typeface="LiberationMono"/>
              </a:rPr>
              <a:t>(</a:t>
            </a:r>
            <a:r>
              <a:rPr sz="1102">
                <a:solidFill>
                  <a:srgbClr val="0A3069"/>
                </a:solidFill>
                <a:latin typeface="LiberationMono"/>
              </a:rPr>
              <a:t>"yolov12"</a:t>
            </a:r>
            <a:r>
              <a:rPr sz="1102">
                <a:solidFill>
                  <a:srgbClr val="000000"/>
                </a:solidFill>
                <a:latin typeface="LiberationMono"/>
              </a:rPr>
              <a:t>);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auto</a:t>
            </a:r>
            <a:r>
              <a:rPr sz="1102">
                <a:solidFill>
                  <a:srgbClr val="000000"/>
                </a:solidFill>
                <a:latin typeface="LiberationMono"/>
              </a:rPr>
              <a:t> dets = yolo.</a:t>
            </a:r>
            <a:r>
              <a:rPr sz="1102">
                <a:solidFill>
                  <a:srgbClr val="953800"/>
                </a:solidFill>
                <a:latin typeface="LiberationMono"/>
              </a:rPr>
              <a:t>predict</a:t>
            </a:r>
            <a:r>
              <a:rPr sz="1102">
                <a:solidFill>
                  <a:srgbClr val="000000"/>
                </a:solidFill>
                <a:latin typeface="LiberationMono"/>
              </a:rPr>
              <a:t>(frame);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18" y="1495322"/>
            <a:ext cx="152219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Android (Kotlin)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793" y="2017032"/>
            <a:ext cx="3861961" cy="7967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CF222E"/>
                </a:solidFill>
                <a:latin typeface="LiberationMono"/>
              </a:rPr>
              <a:t>import</a:t>
            </a:r>
            <a:r>
              <a:rPr sz="1102">
                <a:solidFill>
                  <a:srgbClr val="000000"/>
                </a:solidFill>
                <a:latin typeface="LiberationMono"/>
              </a:rPr>
              <a:t> com.amd.physical_ai_sdk.InferenceEngine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val</a:t>
            </a:r>
            <a:r>
              <a:rPr sz="1102">
                <a:solidFill>
                  <a:srgbClr val="000000"/>
                </a:solidFill>
                <a:latin typeface="LiberationMono"/>
              </a:rPr>
              <a:t> engine = InferenceEngine(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  endpoint = </a:t>
            </a:r>
            <a:r>
              <a:rPr sz="1102">
                <a:solidFill>
                  <a:srgbClr val="0A3069"/>
                </a:solidFill>
                <a:latin typeface="LiberationMono"/>
              </a:rPr>
              <a:t>"physical-ai-sdk.local"</a:t>
            </a:r>
            <a:r>
              <a:rPr sz="1102">
                <a:solidFill>
                  <a:srgbClr val="000000"/>
                </a:solidFill>
                <a:latin typeface="LiberationMono"/>
              </a:rPr>
              <a:t>)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val</a:t>
            </a:r>
            <a:r>
              <a:rPr sz="1102">
                <a:solidFill>
                  <a:srgbClr val="000000"/>
                </a:solidFill>
                <a:latin typeface="LiberationMono"/>
              </a:rPr>
              <a:t> yolo = engine.model(</a:t>
            </a:r>
            <a:r>
              <a:rPr sz="1102">
                <a:solidFill>
                  <a:srgbClr val="0A3069"/>
                </a:solidFill>
                <a:latin typeface="LiberationMono"/>
              </a:rPr>
              <a:t>"yolov12"</a:t>
            </a:r>
            <a:r>
              <a:rPr sz="1102">
                <a:solidFill>
                  <a:srgbClr val="000000"/>
                </a:solidFill>
                <a:latin typeface="LiberationMono"/>
              </a:rPr>
              <a:t>)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val</a:t>
            </a:r>
            <a:r>
              <a:rPr sz="1102">
                <a:solidFill>
                  <a:srgbClr val="000000"/>
                </a:solidFill>
                <a:latin typeface="LiberationMono"/>
              </a:rPr>
              <a:t> dets = yolo.predict(frame)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6018" y="3114572"/>
            <a:ext cx="219741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JavaScript /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793" y="3636282"/>
            <a:ext cx="4282047" cy="9587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CF222E"/>
                </a:solidFill>
                <a:latin typeface="LiberationMono"/>
              </a:rPr>
              <a:t>import</a:t>
            </a:r>
            <a:r>
              <a:rPr sz="1102">
                <a:solidFill>
                  <a:srgbClr val="000000"/>
                </a:solidFill>
                <a:latin typeface="LiberationMono"/>
              </a:rPr>
              <a:t> { </a:t>
            </a:r>
            <a:r>
              <a:rPr sz="1102">
                <a:solidFill>
                  <a:srgbClr val="6639BA"/>
                </a:solidFill>
                <a:latin typeface="LiberationMono"/>
              </a:rPr>
              <a:t>InferenceEngine</a:t>
            </a:r>
            <a:r>
              <a:rPr sz="1102">
                <a:solidFill>
                  <a:srgbClr val="000000"/>
                </a:solidFill>
                <a:latin typeface="LiberationMono"/>
              </a:rPr>
              <a:t> }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  </a:t>
            </a:r>
            <a:r>
              <a:rPr sz="1102">
                <a:solidFill>
                  <a:srgbClr val="CF222E"/>
                </a:solidFill>
                <a:latin typeface="LiberationMono"/>
              </a:rPr>
              <a:t>from</a:t>
            </a:r>
            <a:r>
              <a:rPr sz="1102">
                <a:solidFill>
                  <a:srgbClr val="000000"/>
                </a:solidFill>
                <a:latin typeface="LiberationMono"/>
              </a:rPr>
              <a:t> </a:t>
            </a:r>
            <a:r>
              <a:rPr sz="1102">
                <a:solidFill>
                  <a:srgbClr val="0A3069"/>
                </a:solidFill>
                <a:latin typeface="LiberationMono"/>
              </a:rPr>
              <a:t>"@amd/physical-ai-sdk"</a:t>
            </a:r>
            <a:r>
              <a:rPr sz="1102">
                <a:solidFill>
                  <a:srgbClr val="000000"/>
                </a:solidFill>
                <a:latin typeface="LiberationMono"/>
              </a:rPr>
              <a:t>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const</a:t>
            </a:r>
            <a:r>
              <a:rPr sz="1102">
                <a:solidFill>
                  <a:srgbClr val="000000"/>
                </a:solidFill>
                <a:latin typeface="LiberationMono"/>
              </a:rPr>
              <a:t> engine = </a:t>
            </a:r>
            <a:r>
              <a:rPr sz="1102">
                <a:solidFill>
                  <a:srgbClr val="CF222E"/>
                </a:solidFill>
                <a:latin typeface="LiberationMono"/>
              </a:rPr>
              <a:t>new</a:t>
            </a:r>
            <a:r>
              <a:rPr sz="1102">
                <a:solidFill>
                  <a:srgbClr val="000000"/>
                </a:solidFill>
                <a:latin typeface="LiberationMono"/>
              </a:rPr>
              <a:t> </a:t>
            </a:r>
            <a:r>
              <a:rPr sz="1102">
                <a:solidFill>
                  <a:srgbClr val="6639BA"/>
                </a:solidFill>
                <a:latin typeface="LiberationMono"/>
              </a:rPr>
              <a:t>InferenceEngine</a:t>
            </a:r>
            <a:r>
              <a:rPr sz="1102">
                <a:solidFill>
                  <a:srgbClr val="000000"/>
                </a:solidFill>
                <a:latin typeface="LiberationMono"/>
              </a:rPr>
              <a:t>({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  </a:t>
            </a:r>
            <a:r>
              <a:rPr sz="1102">
                <a:solidFill>
                  <a:srgbClr val="0550AE"/>
                </a:solidFill>
                <a:latin typeface="LiberationMono"/>
              </a:rPr>
              <a:t>endpoint</a:t>
            </a:r>
            <a:r>
              <a:rPr sz="1102">
                <a:solidFill>
                  <a:srgbClr val="000000"/>
                </a:solidFill>
                <a:latin typeface="LiberationMono"/>
              </a:rPr>
              <a:t>: </a:t>
            </a:r>
            <a:r>
              <a:rPr sz="1102">
                <a:solidFill>
                  <a:srgbClr val="0A3069"/>
                </a:solidFill>
                <a:latin typeface="LiberationMono"/>
              </a:rPr>
              <a:t>"http://physical-ai-sdk.local:8000"</a:t>
            </a:r>
            <a:r>
              <a:rPr sz="1102">
                <a:solidFill>
                  <a:srgbClr val="000000"/>
                </a:solidFill>
                <a:latin typeface="LiberationMono"/>
              </a:rPr>
              <a:t> });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const</a:t>
            </a:r>
            <a:r>
              <a:rPr sz="1102">
                <a:solidFill>
                  <a:srgbClr val="000000"/>
                </a:solidFill>
                <a:latin typeface="LiberationMono"/>
              </a:rPr>
              <a:t> yolo = </a:t>
            </a:r>
            <a:r>
              <a:rPr sz="1102">
                <a:solidFill>
                  <a:srgbClr val="CF222E"/>
                </a:solidFill>
                <a:latin typeface="LiberationMono"/>
              </a:rPr>
              <a:t>await</a:t>
            </a:r>
            <a:r>
              <a:rPr sz="1102">
                <a:solidFill>
                  <a:srgbClr val="000000"/>
                </a:solidFill>
                <a:latin typeface="LiberationMono"/>
              </a:rPr>
              <a:t> engine.</a:t>
            </a:r>
            <a:r>
              <a:rPr sz="1102">
                <a:solidFill>
                  <a:srgbClr val="6639BA"/>
                </a:solidFill>
                <a:latin typeface="LiberationMono"/>
              </a:rPr>
              <a:t>model</a:t>
            </a:r>
            <a:r>
              <a:rPr sz="1102">
                <a:solidFill>
                  <a:srgbClr val="000000"/>
                </a:solidFill>
                <a:latin typeface="LiberationMono"/>
              </a:rPr>
              <a:t>(</a:t>
            </a:r>
            <a:r>
              <a:rPr sz="1102">
                <a:solidFill>
                  <a:srgbClr val="0A3069"/>
                </a:solidFill>
                <a:latin typeface="LiberationMono"/>
              </a:rPr>
              <a:t>"yolov12"</a:t>
            </a:r>
            <a:r>
              <a:rPr sz="1102">
                <a:solidFill>
                  <a:srgbClr val="000000"/>
                </a:solidFill>
                <a:latin typeface="LiberationMono"/>
              </a:rPr>
              <a:t>);</a:t>
            </a:r>
          </a:p>
          <a:p>
            <a:r>
              <a:rPr sz="1102">
                <a:solidFill>
                  <a:srgbClr val="CF222E"/>
                </a:solidFill>
                <a:latin typeface="LiberationMono"/>
              </a:rPr>
              <a:t>const</a:t>
            </a:r>
            <a:r>
              <a:rPr sz="1102">
                <a:solidFill>
                  <a:srgbClr val="000000"/>
                </a:solidFill>
                <a:latin typeface="LiberationMono"/>
              </a:rPr>
              <a:t> dets = </a:t>
            </a:r>
            <a:r>
              <a:rPr sz="1102">
                <a:solidFill>
                  <a:srgbClr val="CF222E"/>
                </a:solidFill>
                <a:latin typeface="LiberationMono"/>
              </a:rPr>
              <a:t>await</a:t>
            </a:r>
            <a:r>
              <a:rPr sz="1102">
                <a:solidFill>
                  <a:srgbClr val="000000"/>
                </a:solidFill>
                <a:latin typeface="LiberationMono"/>
              </a:rPr>
              <a:t> yolo.</a:t>
            </a:r>
            <a:r>
              <a:rPr sz="1102">
                <a:solidFill>
                  <a:srgbClr val="6639BA"/>
                </a:solidFill>
                <a:latin typeface="LiberationMono"/>
              </a:rPr>
              <a:t>predict</a:t>
            </a:r>
            <a:r>
              <a:rPr sz="1102">
                <a:solidFill>
                  <a:srgbClr val="000000"/>
                </a:solidFill>
                <a:latin typeface="LiberationMono"/>
              </a:rPr>
              <a:t>(frame);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5133872"/>
            <a:ext cx="9126590" cy="235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One mental model, four ecosystems.</a:t>
            </a:r>
            <a:r>
              <a:rPr sz="1575">
                <a:solidFill>
                  <a:srgbClr val="FFFFFF"/>
                </a:solidFill>
                <a:latin typeface="Arimo"/>
              </a:rPr>
              <a:t> Same </a:t>
            </a:r>
            <a:r>
              <a:rPr sz="1417">
                <a:solidFill>
                  <a:srgbClr val="00BCD4"/>
                </a:solidFill>
                <a:latin typeface="LiberationMono"/>
              </a:rPr>
              <a:t>Detection {label, score, box}</a:t>
            </a:r>
            <a:r>
              <a:rPr sz="1575">
                <a:solidFill>
                  <a:srgbClr val="FFFFFF"/>
                </a:solidFill>
                <a:latin typeface="Arimo"/>
              </a:rPr>
              <a:t> output everywhere.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535658"/>
            <a:ext cx="3305462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What Am I Getting in This SDK?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965761"/>
            <a:ext cx="942396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00BCD4"/>
                </a:solidFill>
                <a:latin typeface="Arimo-Bold"/>
              </a:rPr>
              <a:t>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253713"/>
            <a:ext cx="5003938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Unified inference engine</a:t>
            </a:r>
            <a:r>
              <a:rPr sz="1275">
                <a:solidFill>
                  <a:srgbClr val="FFFFFF"/>
                </a:solidFill>
                <a:latin typeface="Arimo"/>
              </a:rPr>
              <a:t> — one interface across </a:t>
            </a:r>
            <a:r>
              <a:rPr sz="1275" b="1">
                <a:solidFill>
                  <a:srgbClr val="3498DB"/>
                </a:solidFill>
                <a:latin typeface="Arimo-Bold"/>
              </a:rPr>
              <a:t>CPU · GPU · NPU</a:t>
            </a:r>
            <a:r>
              <a:rPr sz="1275">
                <a:solidFill>
                  <a:srgbClr val="FFFFFF"/>
                </a:solidFill>
                <a:latin typeface="Arimo"/>
              </a:rPr>
              <a:t>,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every language (Python · C++ · Android · JS) and transport (in-place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739488"/>
            <a:ext cx="257316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gRPC · HTTP), </a:t>
            </a:r>
            <a:r>
              <a:rPr sz="1275" b="1">
                <a:solidFill>
                  <a:srgbClr val="3498DB"/>
                </a:solidFill>
                <a:latin typeface="Arimo-Bold"/>
              </a:rPr>
              <a:t>zero-copy on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061136"/>
            <a:ext cx="961864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00BCD4"/>
                </a:solidFill>
                <a:latin typeface="Arimo-Bold"/>
              </a:rPr>
              <a:t>The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349088"/>
            <a:ext cx="387803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Optimized model zoo</a:t>
            </a:r>
            <a:r>
              <a:rPr sz="1275">
                <a:solidFill>
                  <a:srgbClr val="FFFFFF"/>
                </a:solidFill>
                <a:latin typeface="Arimo"/>
              </a:rPr>
              <a:t> — AMD-tuned models per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634838"/>
            <a:ext cx="5124660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Add a model = drop a config</a:t>
            </a:r>
            <a:r>
              <a:rPr sz="1275">
                <a:solidFill>
                  <a:srgbClr val="FFFFFF"/>
                </a:solidFill>
                <a:latin typeface="Arimo"/>
              </a:rPr>
              <a:t>; parallel · sequential · batched pipelines,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all by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443" y="1965761"/>
            <a:ext cx="816047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00BCD4"/>
                </a:solidFill>
                <a:latin typeface="Arimo-Bold"/>
              </a:rPr>
              <a:t>The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1293" y="2253713"/>
            <a:ext cx="4979397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Accuracy, throughput &amp; PnP benchmarks</a:t>
            </a:r>
            <a:r>
              <a:rPr sz="1275">
                <a:solidFill>
                  <a:srgbClr val="FFFFFF"/>
                </a:solidFill>
                <a:latin typeface="Arimo"/>
              </a:rPr>
              <a:t> on edge for every model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— </a:t>
            </a:r>
            <a:r>
              <a:rPr sz="1275" b="1">
                <a:solidFill>
                  <a:srgbClr val="4CAF50"/>
                </a:solidFill>
                <a:latin typeface="Arimo-Bold"/>
              </a:rPr>
              <a:t>~130 inf/s on AMD Strix Halo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443" y="2823011"/>
            <a:ext cx="1039995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00BCD4"/>
                </a:solidFill>
                <a:latin typeface="Arimo-Bold"/>
              </a:rPr>
              <a:t>The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1293" y="3110963"/>
            <a:ext cx="407656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OBB &amp; Docker</a:t>
            </a:r>
            <a:r>
              <a:rPr sz="1275">
                <a:solidFill>
                  <a:srgbClr val="FFFFFF"/>
                </a:solidFill>
                <a:latin typeface="Arimo"/>
              </a:rPr>
              <a:t> — reproducible, ready-to-ship packaging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1293" y="3387188"/>
            <a:ext cx="451455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Co-engineering</a:t>
            </a:r>
            <a:r>
              <a:rPr sz="1275">
                <a:solidFill>
                  <a:srgbClr val="FFFFFF"/>
                </a:solidFill>
                <a:latin typeface="Arimo"/>
              </a:rPr>
              <a:t> with lighthouse customers — cut latency, tune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1293" y="3634838"/>
            <a:ext cx="64786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4387313"/>
            <a:ext cx="777558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 </a:t>
            </a:r>
            <a:r>
              <a:rPr sz="1275" b="1">
                <a:solidFill>
                  <a:srgbClr val="3498DB"/>
                </a:solidFill>
                <a:latin typeface="Arimo-Bold"/>
              </a:rPr>
              <a:t>low-resistance path</a:t>
            </a:r>
            <a:r>
              <a:rPr sz="1275">
                <a:solidFill>
                  <a:srgbClr val="FFFFFF"/>
                </a:solidFill>
                <a:latin typeface="Arimo"/>
              </a:rPr>
              <a:t> to a </a:t>
            </a:r>
            <a:r>
              <a:rPr sz="1275" b="1">
                <a:solidFill>
                  <a:srgbClr val="3498DB"/>
                </a:solidFill>
                <a:latin typeface="Arimo-Bold"/>
              </a:rPr>
              <a:t>co-engineered, benchmarked, containerized</a:t>
            </a:r>
            <a:r>
              <a:rPr sz="1275">
                <a:solidFill>
                  <a:srgbClr val="FFFFFF"/>
                </a:solidFill>
                <a:latin typeface="Arimo"/>
              </a:rPr>
              <a:t> product on AMD edge hardware.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468983"/>
            <a:ext cx="4114875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Pipelines &amp; Models — Config, Not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891763"/>
            <a:ext cx="251064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Parallel — describe the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975" y="2346732"/>
            <a:ext cx="2574584" cy="629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pipelines/detect_classify.yaml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name: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detect_classify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parallel: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3B2300"/>
                </a:solidFill>
                <a:latin typeface="LiberationMono"/>
              </a:rPr>
              <a:t>-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550AE"/>
                </a:solidFill>
                <a:latin typeface="LiberationMono"/>
              </a:rPr>
              <a:t>model: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yolov12</a:t>
            </a:r>
            <a:r>
              <a:rPr sz="867">
                <a:solidFill>
                  <a:srgbClr val="000000"/>
                </a:solidFill>
                <a:latin typeface="LiberationMono"/>
              </a:rPr>
              <a:t>       </a:t>
            </a:r>
            <a:r>
              <a:rPr sz="867">
                <a:solidFill>
                  <a:srgbClr val="59636E"/>
                </a:solidFill>
                <a:latin typeface="LiberationMono"/>
              </a:rPr>
              <a:t># run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3B2300"/>
                </a:solidFill>
                <a:latin typeface="LiberationMono"/>
              </a:rPr>
              <a:t>-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550AE"/>
                </a:solidFill>
                <a:latin typeface="LiberationMono"/>
              </a:rPr>
              <a:t>model: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mobilenetv3</a:t>
            </a:r>
            <a:r>
              <a:rPr sz="867">
                <a:solidFill>
                  <a:srgbClr val="000000"/>
                </a:solidFill>
                <a:latin typeface="LiberationMono"/>
              </a:rPr>
              <a:t>   </a:t>
            </a:r>
            <a:r>
              <a:rPr sz="867">
                <a:solidFill>
                  <a:srgbClr val="59636E"/>
                </a:solidFill>
                <a:latin typeface="LiberationMono"/>
              </a:rPr>
              <a:t>#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3184932"/>
            <a:ext cx="2508191" cy="505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out = engine.model(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  </a:t>
            </a:r>
            <a:r>
              <a:rPr sz="867">
                <a:solidFill>
                  <a:srgbClr val="0A3069"/>
                </a:solidFill>
                <a:latin typeface="LiberationMono"/>
              </a:rPr>
              <a:t>"detect_classify"</a:t>
            </a:r>
            <a:r>
              <a:rPr sz="867">
                <a:solidFill>
                  <a:srgbClr val="000000"/>
                </a:solidFill>
                <a:latin typeface="LiberationMono"/>
              </a:rPr>
              <a:t>).predict(frame)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out.detections      </a:t>
            </a:r>
            <a:r>
              <a:rPr sz="867">
                <a:solidFill>
                  <a:srgbClr val="59636E"/>
                </a:solidFill>
                <a:latin typeface="LiberationMono"/>
              </a:rPr>
              <a:t># from YOLOv12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out.classification  </a:t>
            </a:r>
            <a:r>
              <a:rPr sz="867">
                <a:solidFill>
                  <a:srgbClr val="59636E"/>
                </a:solidFill>
                <a:latin typeface="LiberationMono"/>
              </a:rPr>
              <a:t># from MobileNetV3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825338"/>
            <a:ext cx="3123047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Concurrent — no threads, no GIL, no 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443" y="1891763"/>
            <a:ext cx="224962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Sequential — chain the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168" y="2346732"/>
            <a:ext cx="2508575" cy="629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pipelines/detect_stream.yaml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name: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detect_stream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sequential: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3B2300"/>
                </a:solidFill>
                <a:latin typeface="LiberationMono"/>
              </a:rPr>
              <a:t>-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550AE"/>
                </a:solidFill>
                <a:latin typeface="LiberationMono"/>
              </a:rPr>
              <a:t>model: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preprocess</a:t>
            </a:r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59636E"/>
                </a:solidFill>
                <a:latin typeface="LiberationMono"/>
              </a:rPr>
              <a:t># raw → tensor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3B2300"/>
                </a:solidFill>
                <a:latin typeface="LiberationMono"/>
              </a:rPr>
              <a:t>-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550AE"/>
                </a:solidFill>
                <a:latin typeface="LiberationMono"/>
              </a:rPr>
              <a:t>model: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yolov12</a:t>
            </a:r>
            <a:r>
              <a:rPr sz="867">
                <a:solidFill>
                  <a:srgbClr val="000000"/>
                </a:solidFill>
                <a:latin typeface="LiberationMono"/>
              </a:rPr>
              <a:t>     </a:t>
            </a:r>
            <a:r>
              <a:rPr sz="867">
                <a:solidFill>
                  <a:srgbClr val="59636E"/>
                </a:solidFill>
                <a:latin typeface="LiberationMono"/>
              </a:rPr>
              <a:t># tensor → dets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443" y="3120488"/>
            <a:ext cx="224930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Add a model — drop a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3168" y="3575456"/>
            <a:ext cx="2574333" cy="5057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models/my_detector/config.yaml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name: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my_detector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task: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detect</a:t>
            </a:r>
            <a:r>
              <a:rPr sz="867">
                <a:solidFill>
                  <a:srgbClr val="000000"/>
                </a:solidFill>
                <a:latin typeface="LiberationMono"/>
              </a:rPr>
              <a:t>      </a:t>
            </a:r>
            <a:r>
              <a:rPr sz="867">
                <a:solidFill>
                  <a:srgbClr val="59636E"/>
                </a:solidFill>
                <a:latin typeface="LiberationMono"/>
              </a:rPr>
              <a:t># auto pre + NMS post</a:t>
            </a:r>
          </a:p>
          <a:p>
            <a:r>
              <a:rPr sz="867">
                <a:solidFill>
                  <a:srgbClr val="0550AE"/>
                </a:solidFill>
                <a:latin typeface="LiberationMono"/>
              </a:rPr>
              <a:t>weights:</a:t>
            </a:r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my_detector.onnx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4453988"/>
            <a:ext cx="981593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Parallel · sequential · batched · load-shared</a:t>
            </a:r>
            <a:r>
              <a:rPr sz="1275">
                <a:solidFill>
                  <a:srgbClr val="FFFFFF"/>
                </a:solidFill>
                <a:latin typeface="Arimo"/>
              </a:rPr>
              <a:t> — all a config choice. New models appear on every transport and language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107033"/>
            <a:ext cx="4103444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Physical AI SDK - Structure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499036"/>
            <a:ext cx="4372631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Three Paths — Pick the One That Fits Your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786988"/>
            <a:ext cx="159253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1: Zero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177513"/>
            <a:ext cx="3023787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Every example ships with a pre-generated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450424"/>
            <a:ext cx="1398978" cy="165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2889657"/>
            <a:ext cx="2178103" cy="124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examples/yolov12/METRICS_TABLE.md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49063"/>
            <a:ext cx="274479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CPU, GPU, NPU throughput &amp;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34813"/>
            <a:ext cx="222258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Cross-device comparison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20563"/>
            <a:ext cx="269086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Auto-generated from benchmark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006313"/>
            <a:ext cx="246609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Plan:</a:t>
            </a:r>
            <a:r>
              <a:rPr sz="1275">
                <a:solidFill>
                  <a:srgbClr val="FFFFFF"/>
                </a:solidFill>
                <a:latin typeface="Arimo"/>
              </a:rPr>
              <a:t> expose as a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4482563"/>
            <a:ext cx="316757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4CAF50"/>
                </a:solidFill>
                <a:latin typeface="Arimo-Bold"/>
              </a:rPr>
              <a:t>Just open the file — numbers are already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4730213"/>
            <a:ext cx="39590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4CAF50"/>
                </a:solidFill>
                <a:latin typeface="Arimo-Bold"/>
              </a:rPr>
              <a:t>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725" y="1786988"/>
            <a:ext cx="260909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2: Docker (One Command)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6725" y="2177513"/>
            <a:ext cx="317195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Pre-installed ROCm + RyzenAI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2450" y="2642007"/>
            <a:ext cx="1716095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Pull &amp; run the container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docker run physical-ai-sdk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2450" y="3023007"/>
            <a:ext cx="2244105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Inside the container: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make benchmark-all-devices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3415763"/>
            <a:ext cx="170993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No local installs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575" y="3691988"/>
            <a:ext cx="188982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Reproducible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575" y="3977738"/>
            <a:ext cx="3304275" cy="190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Generates </a:t>
            </a:r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  <a:r>
              <a:rPr sz="1275">
                <a:solidFill>
                  <a:srgbClr val="FFFFFF"/>
                </a:solidFill>
                <a:latin typeface="Arimo"/>
              </a:rPr>
              <a:t>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0" y="4463513"/>
            <a:ext cx="249235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4CAF50"/>
                </a:solidFill>
                <a:latin typeface="Arimo-Bold"/>
              </a:rPr>
              <a:t>One command to fresh numbers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7200" y="1786988"/>
            <a:ext cx="180838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3: Manual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7200" y="2177513"/>
            <a:ext cx="226776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Full local installation — 4 steps: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2925" y="2642007"/>
            <a:ext cx="2046098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1. Install ROCm and raizen-ai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./install.sh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2925" y="3023007"/>
            <a:ext cx="1584093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2. Navigate to example</a:t>
            </a:r>
          </a:p>
          <a:p>
            <a:r>
              <a:rPr sz="867">
                <a:solidFill>
                  <a:srgbClr val="953800"/>
                </a:solidFill>
                <a:latin typeface="LiberationMono"/>
              </a:rPr>
              <a:t>cd</a:t>
            </a:r>
            <a:r>
              <a:rPr sz="867">
                <a:solidFill>
                  <a:srgbClr val="000000"/>
                </a:solidFill>
                <a:latin typeface="LiberationMono"/>
              </a:rPr>
              <a:t> examples/yolov12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2925" y="3404006"/>
            <a:ext cx="2244100" cy="2485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3. Run benchmarks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make benchmark-all-devices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7200" y="3787238"/>
            <a:ext cx="2032244" cy="190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Output: </a:t>
            </a:r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8175" y="4330163"/>
            <a:ext cx="19252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FF9800"/>
                </a:solidFill>
                <a:latin typeface="Arimo-Bold"/>
              </a:rPr>
              <a:t>Most control, most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775191"/>
            <a:ext cx="1587141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Easy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362914"/>
            <a:ext cx="4246302" cy="245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Uniform Interface Across Every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819172"/>
            <a:ext cx="222287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Make-Based Uniformity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266847"/>
            <a:ext cx="451362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Same commands work in </a:t>
            </a:r>
            <a:r>
              <a:rPr sz="1575" b="1">
                <a:solidFill>
                  <a:srgbClr val="3498DB"/>
                </a:solidFill>
                <a:latin typeface="Arimo-Bold"/>
              </a:rPr>
              <a:t>every</a:t>
            </a:r>
            <a:r>
              <a:rPr sz="1575">
                <a:solidFill>
                  <a:srgbClr val="FFFFFF"/>
                </a:solidFill>
                <a:latin typeface="Arimo"/>
              </a:rPr>
              <a:t> example directory: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788557"/>
            <a:ext cx="4785616" cy="7967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benchmark-all-devices metric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all devices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benchmark-gpu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GPU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benchmark-cpu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CPU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benchmark-npu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NPU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</a:t>
            </a:r>
            <a:r>
              <a:rPr sz="1102">
                <a:solidFill>
                  <a:srgbClr val="953800"/>
                </a:solidFill>
                <a:latin typeface="LiberationMono"/>
              </a:rPr>
              <a:t>eval</a:t>
            </a:r>
            <a:r>
              <a:rPr sz="1102">
                <a:solidFill>
                  <a:srgbClr val="000000"/>
                </a:solidFill>
                <a:latin typeface="LiberationMono"/>
              </a:rPr>
              <a:t>         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evaluation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86097"/>
            <a:ext cx="252371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Learn once, use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248047"/>
            <a:ext cx="262332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No per-model setup surprises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609997"/>
            <a:ext cx="4210132" cy="235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Consistent output format (</a:t>
            </a:r>
            <a:r>
              <a:rPr sz="1417">
                <a:solidFill>
                  <a:srgbClr val="00BCD4"/>
                </a:solidFill>
                <a:latin typeface="LiberationMono"/>
              </a:rPr>
              <a:t> </a:t>
            </a:r>
            <a:r>
              <a:rPr sz="1417">
                <a:solidFill>
                  <a:srgbClr val="00BCD4"/>
                </a:solidFill>
                <a:latin typeface="LiberationMono"/>
              </a:rPr>
              <a:t>METRICS_TABLE.md</a:t>
            </a:r>
            <a:r>
              <a:rPr sz="1575">
                <a:solidFill>
                  <a:srgbClr val="FFFFFF"/>
                </a:solidFill>
                <a:latin typeface="Arimo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6018" y="1819172"/>
            <a:ext cx="235689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Every Example Includes: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8927" y="2322584"/>
            <a:ext cx="350468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FFFFFF"/>
                </a:solidFill>
                <a:latin typeface="Arimo-Bold"/>
              </a:rPr>
              <a:t>Feature</a:t>
            </a:r>
          </a:p>
          <a:p>
            <a:r>
              <a:rPr sz="1338" b="1">
                <a:solidFill>
                  <a:srgbClr val="FFFFFF"/>
                </a:solidFill>
                <a:latin typeface="Arimo-Bold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9368" y="2703584"/>
            <a:ext cx="1369336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CPU / GPU / NPU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68" y="2960759"/>
            <a:ext cx="434373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875" y="2703584"/>
            <a:ext cx="275857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Benchmark each compute device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875" y="2960759"/>
            <a:ext cx="1559062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throughput &amp;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68" y="3341759"/>
            <a:ext cx="5198063" cy="437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Eval pipeline</a:t>
            </a:r>
          </a:p>
          <a:p>
            <a:r>
              <a:rPr sz="1338">
                <a:solidFill>
                  <a:srgbClr val="FFFFFF"/>
                </a:solidFill>
                <a:latin typeface="Arimo"/>
              </a:rPr>
              <a:t>Sample inputs → sample outputs to visually</a:t>
            </a:r>
          </a:p>
          <a:p>
            <a:r>
              <a:rPr sz="1338">
                <a:solidFill>
                  <a:srgbClr val="FFFFFF"/>
                </a:solidFill>
                <a:latin typeface="Arimo"/>
              </a:rPr>
              <a:t>verify correctness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68" y="3970409"/>
            <a:ext cx="64198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Guiding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68" y="4227584"/>
            <a:ext cx="121809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3970409"/>
            <a:ext cx="3268450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Per-example tutorial to walk you from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4227584"/>
            <a:ext cx="689585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to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6993" y="4857647"/>
            <a:ext cx="5036494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Principle:</a:t>
            </a:r>
            <a:r>
              <a:rPr sz="1575">
                <a:solidFill>
                  <a:srgbClr val="FFFFFF"/>
                </a:solidFill>
                <a:latin typeface="Arimo"/>
              </a:rPr>
              <a:t> If you can run one example, you can run them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all — same commands, same structure, same outputs.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6349" y="2535969"/>
            <a:ext cx="8699400" cy="67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784" b="1">
                <a:solidFill>
                  <a:srgbClr val="FFFFFF"/>
                </a:solidFill>
                <a:latin typeface="Arimo-Bold"/>
              </a:rPr>
              <a:t>Relation with AIG &amp; Value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4754" y="3696860"/>
            <a:ext cx="10402406" cy="339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92" b="1">
                <a:solidFill>
                  <a:srgbClr val="AAAAAA"/>
                </a:solidFill>
                <a:latin typeface="Arimo-Bold"/>
              </a:rPr>
              <a:t>How PAI SDK builds on — and feeds back into — the AMD 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249783"/>
            <a:ext cx="5439296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 — Research Desk → Vertical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641786"/>
            <a:ext cx="6640802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1. PAVS transforms raw researcher code into production-ready vertical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929738"/>
            <a:ext cx="253768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receive: Research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5158838"/>
            <a:ext cx="3554577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Flat list of scripts — no structure, no device flows,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5406488"/>
            <a:ext cx="116100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no Make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6725" y="929738"/>
            <a:ext cx="25376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receive: Research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2450" y="1384707"/>
            <a:ext cx="3300547" cy="1524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rocm-scripts/test/pytorch/yolo12n.py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#........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#........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recalled = gt_labels &amp; detected_classes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recall = </a:t>
            </a:r>
            <a:r>
              <a:rPr sz="867">
                <a:solidFill>
                  <a:srgbClr val="953800"/>
                </a:solidFill>
                <a:latin typeface="LiberationMono"/>
              </a:rPr>
              <a:t>len</a:t>
            </a:r>
            <a:r>
              <a:rPr sz="867">
                <a:solidFill>
                  <a:srgbClr val="000000"/>
                </a:solidFill>
                <a:latin typeface="LiberationMono"/>
              </a:rPr>
              <a:t>(recalled) / </a:t>
            </a:r>
            <a:r>
              <a:rPr sz="867">
                <a:solidFill>
                  <a:srgbClr val="953800"/>
                </a:solidFill>
                <a:latin typeface="LiberationMono"/>
              </a:rPr>
              <a:t>len</a:t>
            </a:r>
            <a:r>
              <a:rPr sz="867">
                <a:solidFill>
                  <a:srgbClr val="000000"/>
                </a:solidFill>
                <a:latin typeface="LiberationMono"/>
              </a:rPr>
              <a:t>(gt_labels)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sanity_pass = recall &gt;= RECALL_THRESHOLD</a:t>
            </a:r>
          </a:p>
          <a:p>
            <a:r>
              <a:rPr sz="867">
                <a:solidFill>
                  <a:srgbClr val="CF222E"/>
                </a:solidFill>
                <a:latin typeface="LiberationMono"/>
              </a:rPr>
              <a:t>assert</a:t>
            </a:r>
            <a:r>
              <a:rPr sz="867">
                <a:solidFill>
                  <a:srgbClr val="000000"/>
                </a:solidFill>
                <a:latin typeface="LiberationMono"/>
              </a:rPr>
              <a:t> sanity_pass, (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0A3069"/>
                </a:solidFill>
                <a:latin typeface="LiberationMono"/>
              </a:rPr>
              <a:t>f"recall </a:t>
            </a:r>
            <a:r>
              <a:rPr sz="867">
                <a:solidFill>
                  <a:srgbClr val="1F2328"/>
                </a:solidFill>
                <a:latin typeface="LiberationMono"/>
              </a:rPr>
              <a:t>{recall:</a:t>
            </a:r>
            <a:r>
              <a:rPr sz="867">
                <a:solidFill>
                  <a:srgbClr val="0550AE"/>
                </a:solidFill>
                <a:latin typeface="LiberationMono"/>
              </a:rPr>
              <a:t>.0</a:t>
            </a:r>
            <a:r>
              <a:rPr sz="867">
                <a:solidFill>
                  <a:srgbClr val="1F2328"/>
                </a:solidFill>
                <a:latin typeface="LiberationMono"/>
              </a:rPr>
              <a:t>%}</a:t>
            </a:r>
            <a:r>
              <a:rPr sz="867">
                <a:solidFill>
                  <a:srgbClr val="0A3069"/>
                </a:solidFill>
                <a:latin typeface="LiberationMono"/>
              </a:rPr>
              <a:t> &lt; </a:t>
            </a:r>
            <a:r>
              <a:rPr sz="867">
                <a:solidFill>
                  <a:srgbClr val="1F2328"/>
                </a:solidFill>
                <a:latin typeface="LiberationMono"/>
              </a:rPr>
              <a:t>{RECALL_THRESHOLD:</a:t>
            </a:r>
            <a:r>
              <a:rPr sz="867">
                <a:solidFill>
                  <a:srgbClr val="0550AE"/>
                </a:solidFill>
                <a:latin typeface="LiberationMono"/>
              </a:rPr>
              <a:t>.0</a:t>
            </a:r>
            <a:r>
              <a:rPr sz="867">
                <a:solidFill>
                  <a:srgbClr val="1F2328"/>
                </a:solidFill>
                <a:latin typeface="LiberationMono"/>
              </a:rPr>
              <a:t>%}</a:t>
            </a:r>
            <a:r>
              <a:rPr sz="867">
                <a:solidFill>
                  <a:srgbClr val="0A3069"/>
                </a:solidFill>
                <a:latin typeface="LiberationMono"/>
              </a:rPr>
              <a:t>"</a:t>
            </a:r>
            <a:r>
              <a:rPr sz="867">
                <a:solidFill>
                  <a:srgbClr val="000000"/>
                </a:solidFill>
                <a:latin typeface="LiberationMon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2450" y="3032532"/>
            <a:ext cx="2310179" cy="1010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CF222E"/>
                </a:solidFill>
                <a:latin typeface="LiberationMono"/>
              </a:rPr>
              <a:t>return</a:t>
            </a:r>
            <a:r>
              <a:rPr sz="867">
                <a:solidFill>
                  <a:srgbClr val="000000"/>
                </a:solidFill>
                <a:latin typeface="LiberationMono"/>
              </a:rPr>
              <a:t> lats, {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0A3069"/>
                </a:solidFill>
                <a:latin typeface="LiberationMono"/>
              </a:rPr>
              <a:t>"architecture"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0A3069"/>
                </a:solidFill>
                <a:latin typeface="LiberationMono"/>
              </a:rPr>
              <a:t>"CNN"</a:t>
            </a:r>
            <a:r>
              <a:rPr sz="867">
                <a:solidFill>
                  <a:srgbClr val="000000"/>
                </a:solidFill>
                <a:latin typeface="LiberationMono"/>
              </a:rPr>
              <a:t>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0A3069"/>
                </a:solidFill>
                <a:latin typeface="LiberationMono"/>
              </a:rPr>
              <a:t>"task"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0A3069"/>
                </a:solidFill>
                <a:latin typeface="LiberationMono"/>
              </a:rPr>
              <a:t>"object_detection"</a:t>
            </a:r>
            <a:r>
              <a:rPr sz="867">
                <a:solidFill>
                  <a:srgbClr val="000000"/>
                </a:solidFill>
                <a:latin typeface="LiberationMono"/>
              </a:rPr>
              <a:t>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0A3069"/>
                </a:solidFill>
                <a:latin typeface="LiberationMono"/>
              </a:rPr>
              <a:t>"num_detections"</a:t>
            </a:r>
            <a:r>
              <a:rPr sz="867">
                <a:solidFill>
                  <a:srgbClr val="000000"/>
                </a:solidFill>
                <a:latin typeface="LiberationMono"/>
              </a:rPr>
              <a:t>: num_detections,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</a:t>
            </a:r>
            <a:r>
              <a:rPr sz="867">
                <a:solidFill>
                  <a:srgbClr val="0A3069"/>
                </a:solidFill>
                <a:latin typeface="LiberationMono"/>
              </a:rPr>
              <a:t>"recall"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953800"/>
                </a:solidFill>
                <a:latin typeface="LiberationMono"/>
              </a:rPr>
              <a:t>round</a:t>
            </a:r>
            <a:r>
              <a:rPr sz="867">
                <a:solidFill>
                  <a:srgbClr val="000000"/>
                </a:solidFill>
                <a:latin typeface="LiberationMono"/>
              </a:rPr>
              <a:t>(recall, </a:t>
            </a:r>
            <a:r>
              <a:rPr sz="867">
                <a:solidFill>
                  <a:srgbClr val="0550AE"/>
                </a:solidFill>
                <a:latin typeface="LiberationMono"/>
              </a:rPr>
              <a:t>4</a:t>
            </a:r>
            <a:r>
              <a:rPr sz="867">
                <a:solidFill>
                  <a:srgbClr val="000000"/>
                </a:solidFill>
                <a:latin typeface="LiberationMono"/>
              </a:rPr>
              <a:t>),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}</a:t>
            </a:r>
          </a:p>
          <a:p>
            <a:r>
              <a:rPr sz="867">
                <a:solidFill>
                  <a:srgbClr val="CF222E"/>
                </a:solidFill>
                <a:latin typeface="LiberationMono"/>
              </a:rPr>
              <a:t>if</a:t>
            </a:r>
            <a:r>
              <a:rPr sz="867">
                <a:solidFill>
                  <a:srgbClr val="000000"/>
                </a:solidFill>
                <a:latin typeface="LiberationMono"/>
              </a:rPr>
              <a:t> __name__ == </a:t>
            </a:r>
            <a:r>
              <a:rPr sz="867">
                <a:solidFill>
                  <a:srgbClr val="0A3069"/>
                </a:solidFill>
                <a:latin typeface="LiberationMono"/>
              </a:rPr>
              <a:t>"__main__"</a:t>
            </a:r>
            <a:r>
              <a:rPr sz="867">
                <a:solidFill>
                  <a:srgbClr val="000000"/>
                </a:solidFill>
                <a:latin typeface="LiberationMono"/>
              </a:rPr>
              <a:t>: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 sys.exit(run(run_benchmark))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6725" y="4187288"/>
            <a:ext cx="30237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Single script, no structure, no device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929738"/>
            <a:ext cx="262760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deliver: Vertical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925" y="1384707"/>
            <a:ext cx="2046098" cy="30393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examples/yolov12/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Makefile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METRICS_TABLE.md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README.md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app/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routes/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services/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main.py &amp; config.py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scripts/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benchmark.py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export_onnx.py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profile_model.py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run_val.py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└── update_metrics_table.py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tests/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test_api.py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test_docker.py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test_migraphx.py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└── test_yolo_workflow.py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weights/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datasets/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requirements.txt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requirements_cpu.txt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└── requirements_npu.txt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4558763"/>
            <a:ext cx="3317604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App, scripts, tests, per-device requirements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4806413"/>
            <a:ext cx="1214925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production-ready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6035138"/>
            <a:ext cx="912032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Physical AI &amp; Vertical Software:</a:t>
            </a:r>
            <a:r>
              <a:rPr sz="1275">
                <a:solidFill>
                  <a:srgbClr val="FFFFFF"/>
                </a:solidFill>
                <a:latin typeface="Arimo"/>
              </a:rPr>
              <a:t> Researcher's Desk → Vertical Software — same commands, every device, production-ready.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73608"/>
            <a:ext cx="5870530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Contributions(contd.) — Building the AMD AI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786863"/>
            <a:ext cx="513506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2. AIG vs PAVS — Functional Correctness over Operator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5718" y="1247001"/>
            <a:ext cx="2594290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AIG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PAVS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70851"/>
            <a:ext cx="411850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Approach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Operator validation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Functional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4226"/>
            <a:ext cx="2030088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Inputs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Dummy / 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670" y="2009001"/>
            <a:ext cx="3013292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tensors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Real input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37626"/>
            <a:ext cx="2305847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Measures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Throughput on isolated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670" y="2647176"/>
            <a:ext cx="221779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4614" y="2437626"/>
            <a:ext cx="220175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End-to-end accuracy + throughput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4614" y="2647176"/>
            <a:ext cx="435776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980551"/>
            <a:ext cx="5012828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Pipeline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Op-level checks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Full inference pipeline (pre → infer →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post)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758663"/>
            <a:ext cx="496126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PAVS implements the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end-to-end working pipeline</a:t>
            </a:r>
            <a:r>
              <a:rPr sz="1275">
                <a:solidFill>
                  <a:srgbClr val="FFFFFF"/>
                </a:solidFill>
                <a:latin typeface="Arimo"/>
              </a:rPr>
              <a:t> and ensures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4006313"/>
            <a:ext cx="4895441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model produces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expected outputs from real input datasets</a:t>
            </a:r>
            <a:r>
              <a:rPr sz="1275">
                <a:solidFill>
                  <a:srgbClr val="FFFFFF"/>
                </a:solidFill>
                <a:latin typeface="Arimo"/>
              </a:rPr>
              <a:t> — not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just numbers from dummy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443" y="786863"/>
            <a:ext cx="381212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3. Developer-Friendly Inference Tools &amp; LLM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443" y="1186913"/>
            <a:ext cx="483719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Profilers + LLM serving stacks — with tutorials for ease of adoption: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425" y="1637526"/>
            <a:ext cx="3220717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FFFFFF"/>
                </a:solidFill>
                <a:latin typeface="Arimo-Bold"/>
              </a:rPr>
              <a:t>Category</a:t>
            </a:r>
          </a:p>
          <a:p>
            <a:r>
              <a:rPr sz="1083" b="1">
                <a:solidFill>
                  <a:srgbClr val="FFFFFF"/>
                </a:solidFill>
                <a:latin typeface="Arimo-Bold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793" y="1970901"/>
            <a:ext cx="342352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Profilers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Lemonade, NPU AI Analyzer, ROCProfiler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793" y="2304276"/>
            <a:ext cx="298043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LLM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1438" y="2304276"/>
            <a:ext cx="3699718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vLLM (high-throughput serving), Llama.cpp (edge inference),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FastFlowLM (LLMs on NPU)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443" y="2939513"/>
            <a:ext cx="5378879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Bridging the </a:t>
            </a:r>
            <a:r>
              <a:rPr sz="1275" b="1">
                <a:solidFill>
                  <a:srgbClr val="3498DB"/>
                </a:solidFill>
                <a:latin typeface="Arimo-Bold"/>
              </a:rPr>
              <a:t>open-source ecosystem</a:t>
            </a:r>
            <a:r>
              <a:rPr sz="1275">
                <a:solidFill>
                  <a:srgbClr val="FFFFFF"/>
                </a:solidFill>
                <a:latin typeface="Arimo"/>
              </a:rPr>
              <a:t> 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 </a:t>
            </a:r>
            <a:r>
              <a:rPr sz="1275" b="1">
                <a:solidFill>
                  <a:srgbClr val="3498DB"/>
                </a:solidFill>
                <a:latin typeface="Arimo-Bold"/>
              </a:rPr>
              <a:t>AMD HW ecosystem</a:t>
            </a:r>
            <a:r>
              <a:rPr sz="1275">
                <a:solidFill>
                  <a:srgbClr val="FFFFFF"/>
                </a:solidFill>
                <a:latin typeface="Arimo"/>
              </a:rPr>
              <a:t> — making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these tools easy to use across the AMD stack.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443" y="3577688"/>
            <a:ext cx="237862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4. Vertical Application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443" y="3968213"/>
            <a:ext cx="500380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 platform that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evolves with the client</a:t>
            </a:r>
            <a:r>
              <a:rPr sz="1275">
                <a:solidFill>
                  <a:srgbClr val="FFFFFF"/>
                </a:solidFill>
                <a:latin typeface="Arimo"/>
              </a:rPr>
              <a:t> — solving, fixing, and growing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443" y="4215863"/>
            <a:ext cx="210616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together in targeted domains: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702" y="4666476"/>
            <a:ext cx="1999701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FFFFFF"/>
                </a:solidFill>
                <a:latin typeface="Arimo-Bold"/>
              </a:rPr>
              <a:t>Domain</a:t>
            </a:r>
          </a:p>
          <a:p>
            <a:r>
              <a:rPr sz="1083" b="1">
                <a:solidFill>
                  <a:srgbClr val="FFFFFF"/>
                </a:solidFill>
                <a:latin typeface="Arimo-Bold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793" y="4999851"/>
            <a:ext cx="2771620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Healthcare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Medical imaging, 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793" y="5333226"/>
            <a:ext cx="2656802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Automotive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Perception, safety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793" y="5657076"/>
            <a:ext cx="2832979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Industrial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Inspection, anomaly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68869" y="6317679"/>
            <a:ext cx="23727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687933"/>
            <a:ext cx="5377095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Contributions(contd.) — AIG Model → Task-Specific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079936"/>
            <a:ext cx="4359424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5. Operationalizing AIG Models for Real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367888"/>
            <a:ext cx="2327524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From Generic to Task-Specific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758413"/>
            <a:ext cx="46262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Took generic AIG Hub models and extended them with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006063"/>
            <a:ext cx="5049308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enablement, hyperparameter tuning, and backend exploration to reach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application-level performance: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757" y="2704326"/>
            <a:ext cx="2691646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FFFFFF"/>
                </a:solidFill>
                <a:latin typeface="Arimo-Bold"/>
              </a:rPr>
              <a:t>Backend</a:t>
            </a:r>
          </a:p>
          <a:p>
            <a:r>
              <a:rPr sz="1083" b="1">
                <a:solidFill>
                  <a:srgbClr val="FFFFFF"/>
                </a:solidFill>
                <a:latin typeface="Arimo-Bold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8176"/>
            <a:ext cx="4254732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PyTorch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Fallback path — handles missing/broken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361551"/>
            <a:ext cx="3643331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torch.compile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Additional optimization on top of PyTorch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94926"/>
            <a:ext cx="4119196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ONNX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Stable cross-device flow (CPU 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 GPU 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 NPU)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18776"/>
            <a:ext cx="3367732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MIGraphX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2× improvement</a:t>
            </a:r>
            <a:r>
              <a:rPr sz="1083">
                <a:solidFill>
                  <a:srgbClr val="FFFFFF"/>
                </a:solidFill>
                <a:latin typeface="Arimo"/>
              </a:rPr>
              <a:t> over torch+ROCm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4596863"/>
            <a:ext cx="4862153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MobileSAM · CenterPoint · YOLOv12 · YOLO26</a:t>
            </a:r>
            <a:r>
              <a:rPr sz="1275">
                <a:solidFill>
                  <a:srgbClr val="FFFFFF"/>
                </a:solidFill>
                <a:latin typeface="Arimo"/>
              </a:rPr>
              <a:t> — integrated into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AARTS robotics pipelines, consumed by the robotics team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443" y="1367888"/>
            <a:ext cx="224299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SmolVLA: Tuned for the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8840" y="1818501"/>
            <a:ext cx="2320760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AIG Generic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PAVS Task-Specific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793" y="2151876"/>
            <a:ext cx="2960081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Latency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48 ms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30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793" y="2475726"/>
            <a:ext cx="2876012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ROCm version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—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7.2.4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793" y="2805942"/>
            <a:ext cx="2685452" cy="1602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Customized to task</a:t>
            </a:r>
          </a:p>
          <a:p>
            <a:r>
              <a:rPr sz="1083">
                <a:solidFill>
                  <a:srgbClr val="FFFFFF"/>
                </a:solidFill>
                <a:latin typeface="DejaVuSans"/>
              </a:rPr>
              <a:t>✗</a:t>
            </a:r>
          </a:p>
          <a:p>
            <a:r>
              <a:rPr sz="1083">
                <a:solidFill>
                  <a:srgbClr val="FFFFFF"/>
                </a:solidFill>
                <a:latin typeface="DejaVu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443" y="3244313"/>
            <a:ext cx="5263170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37% latency reduction through algorithmic tuning alone</a:t>
            </a:r>
            <a:r>
              <a:rPr sz="1275">
                <a:solidFill>
                  <a:srgbClr val="FFFFFF"/>
                </a:solidFill>
                <a:latin typeface="Arimo"/>
              </a:rPr>
              <a:t> — on ROCm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7.2.4, without the edge-optimized kernels in ROCm 7.13 that give </a:t>
            </a:r>
            <a:r>
              <a:rPr sz="1275" b="1">
                <a:solidFill>
                  <a:srgbClr val="3498DB"/>
                </a:solidFill>
                <a:latin typeface="Arimo-Bold"/>
              </a:rPr>
              <a:t>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443" y="3730088"/>
            <a:ext cx="191689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speedup</a:t>
            </a:r>
            <a:r>
              <a:rPr sz="1275">
                <a:solidFill>
                  <a:srgbClr val="FFFFFF"/>
                </a:solidFill>
                <a:latin typeface="Arimo"/>
              </a:rPr>
              <a:t> on other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443" y="4120613"/>
            <a:ext cx="487755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The gains here are purely from </a:t>
            </a:r>
            <a:r>
              <a:rPr sz="1275" b="1">
                <a:solidFill>
                  <a:srgbClr val="3498DB"/>
                </a:solidFill>
                <a:latin typeface="Arimo-Bold"/>
              </a:rPr>
              <a:t>task-specific model and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443" y="4368263"/>
            <a:ext cx="342808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optimization</a:t>
            </a:r>
            <a:r>
              <a:rPr sz="1275">
                <a:solidFill>
                  <a:srgbClr val="FFFFFF"/>
                </a:solidFill>
                <a:latin typeface="Arimo"/>
              </a:rPr>
              <a:t> — not from a newer ROCm stack.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8418" y="4901663"/>
            <a:ext cx="448216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Headroom remains:</a:t>
            </a:r>
            <a:r>
              <a:rPr sz="1275">
                <a:solidFill>
                  <a:srgbClr val="FFFFFF"/>
                </a:solidFill>
                <a:latin typeface="Arimo"/>
              </a:rPr>
              <a:t> upgrading to ROCm 7.13 on top of these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8418" y="5149313"/>
            <a:ext cx="407740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algorithmic gains is expected to push latency even lower.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03716"/>
            <a:ext cx="7216631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Contributions(contd.) — Ecosystem &amp; Co-Engineering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991439"/>
            <a:ext cx="6126985" cy="245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6. Closing the Loop: Generic Model → Application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447697"/>
            <a:ext cx="160059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The Full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95372"/>
            <a:ext cx="535246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Continuing from the previous point — we don't stop at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200172"/>
            <a:ext cx="1623202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operationalization: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801" y="2647847"/>
            <a:ext cx="317961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1. Pick generic model from AIG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801" y="3009797"/>
            <a:ext cx="4069232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2. Make it </a:t>
            </a:r>
            <a:r>
              <a:rPr sz="1575" b="1">
                <a:solidFill>
                  <a:srgbClr val="3498DB"/>
                </a:solidFill>
                <a:latin typeface="Arimo-Bold"/>
              </a:rPr>
              <a:t>task-specific</a:t>
            </a:r>
            <a:r>
              <a:rPr sz="1575">
                <a:solidFill>
                  <a:srgbClr val="FFFFFF"/>
                </a:solidFill>
                <a:latin typeface="Arimo"/>
              </a:rPr>
              <a:t> (tune, operationalize)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01" y="3371747"/>
            <a:ext cx="472504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3. </a:t>
            </a:r>
            <a:r>
              <a:rPr sz="1575" b="1">
                <a:solidFill>
                  <a:srgbClr val="3498DB"/>
                </a:solidFill>
                <a:latin typeface="Arimo-Bold"/>
              </a:rPr>
              <a:t>Compute accuracy</a:t>
            </a:r>
            <a:r>
              <a:rPr sz="1575">
                <a:solidFill>
                  <a:srgbClr val="FFFFFF"/>
                </a:solidFill>
                <a:latin typeface="Arimo"/>
              </a:rPr>
              <a:t> on real inputs — surface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01" y="3733697"/>
            <a:ext cx="4116500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4. </a:t>
            </a:r>
            <a:r>
              <a:rPr sz="1575" b="1">
                <a:solidFill>
                  <a:srgbClr val="3498DB"/>
                </a:solidFill>
                <a:latin typeface="Arimo-Bold"/>
              </a:rPr>
              <a:t>Communicate gaps back to AIG</a:t>
            </a:r>
            <a:r>
              <a:rPr sz="1575">
                <a:solidFill>
                  <a:srgbClr val="FFFFFF"/>
                </a:solidFill>
                <a:latin typeface="Arimo"/>
              </a:rPr>
              <a:t> for model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01" y="4390922"/>
            <a:ext cx="4980590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5. Wire model into </a:t>
            </a:r>
            <a:r>
              <a:rPr sz="1575" b="1">
                <a:solidFill>
                  <a:srgbClr val="3498DB"/>
                </a:solidFill>
                <a:latin typeface="Arimo-Bold"/>
              </a:rPr>
              <a:t>inference pipelines</a:t>
            </a:r>
            <a:r>
              <a:rPr sz="1575">
                <a:solidFill>
                  <a:srgbClr val="FFFFFF"/>
                </a:solidFill>
                <a:latin typeface="Arimo"/>
              </a:rPr>
              <a:t> — connecting to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real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5229122"/>
            <a:ext cx="4191123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Taking the generic model all the way to working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applications — not just benchmarks.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018" y="1447697"/>
            <a:ext cx="285615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Co-Engineering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6018" y="1895372"/>
            <a:ext cx="1780071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PAVS × Audio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6068" y="2352572"/>
            <a:ext cx="4691392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Started discussions to explore co-engineering across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SDK verticals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6068" y="3009797"/>
            <a:ext cx="4536172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Shared infrastructure, tooling, and pipeline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6018" y="3371747"/>
            <a:ext cx="3178661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Rivian (RVT) — Automotive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6068" y="3819422"/>
            <a:ext cx="472078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Using PAI SDK models to build an </a:t>
            </a:r>
            <a:r>
              <a:rPr sz="1575" b="1">
                <a:solidFill>
                  <a:srgbClr val="3498DB"/>
                </a:solidFill>
                <a:latin typeface="Arimo-Bold"/>
              </a:rPr>
              <a:t>in-car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6068" y="4124222"/>
            <a:ext cx="422529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system</a:t>
            </a:r>
            <a:r>
              <a:rPr sz="1575">
                <a:solidFill>
                  <a:srgbClr val="FFFFFF"/>
                </a:solidFill>
                <a:latin typeface="Arimo"/>
              </a:rPr>
              <a:t> and </a:t>
            </a:r>
            <a:r>
              <a:rPr sz="1575" b="1">
                <a:solidFill>
                  <a:srgbClr val="3498DB"/>
                </a:solidFill>
                <a:latin typeface="Arimo-Bold"/>
              </a:rPr>
              <a:t>voice assistant</a:t>
            </a:r>
            <a:r>
              <a:rPr sz="1575">
                <a:solidFill>
                  <a:srgbClr val="FFFFFF"/>
                </a:solidFill>
                <a:latin typeface="Arimo"/>
              </a:rPr>
              <a:t> on AMD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6018" y="4486172"/>
            <a:ext cx="271193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Google — Gemma on LiteRT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6068" y="4933847"/>
            <a:ext cx="419158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Running the </a:t>
            </a:r>
            <a:r>
              <a:rPr sz="1575" b="1">
                <a:solidFill>
                  <a:srgbClr val="3498DB"/>
                </a:solidFill>
                <a:latin typeface="Arimo-Bold"/>
              </a:rPr>
              <a:t>Gemma</a:t>
            </a:r>
            <a:r>
              <a:rPr sz="1575">
                <a:solidFill>
                  <a:srgbClr val="FFFFFF"/>
                </a:solidFill>
                <a:latin typeface="Arimo"/>
              </a:rPr>
              <a:t> model on </a:t>
            </a:r>
            <a:r>
              <a:rPr sz="1575" b="1">
                <a:solidFill>
                  <a:srgbClr val="3498DB"/>
                </a:solidFill>
                <a:latin typeface="Arimo-Bold"/>
              </a:rPr>
              <a:t>LiteRT</a:t>
            </a:r>
            <a:r>
              <a:rPr sz="1575">
                <a:solidFill>
                  <a:srgbClr val="FFFFFF"/>
                </a:solidFill>
                <a:latin typeface="Arimo"/>
              </a:rPr>
              <a:t> on AMD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6068" y="5238647"/>
            <a:ext cx="83370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868908"/>
            <a:ext cx="5466171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Contributions(contd.) — Feedback Loop Back to AIG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260911"/>
            <a:ext cx="3498093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Gaps Found, Communicated, and Tracked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539338"/>
            <a:ext cx="260958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Performance &amp; Deprecation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939388"/>
            <a:ext cx="5111072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MIGraphX + ONNX is 2× faster than torch.compile</a:t>
            </a:r>
            <a:r>
              <a:rPr sz="1275">
                <a:solidFill>
                  <a:srgbClr val="FFFFFF"/>
                </a:solidFill>
                <a:latin typeface="Arimo"/>
              </a:rPr>
              <a:t> — communicated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to AIG and cautioned against deprecating MIGraphX until hipDNN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425163"/>
            <a:ext cx="231293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reaches equivalent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815688"/>
            <a:ext cx="5087735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Concat layer broken in YOLOv26</a:t>
            </a:r>
            <a:r>
              <a:rPr sz="1275">
                <a:solidFill>
                  <a:srgbClr val="FFFFFF"/>
                </a:solidFill>
                <a:latin typeface="Arimo"/>
              </a:rPr>
              <a:t> — layer not decomposing correctly,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63338"/>
            <a:ext cx="5086105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producing garbage outputs; Jiras opened to track and get AIG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53863"/>
            <a:ext cx="4913204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MIGraphX breaks MobileSAM</a:t>
            </a:r>
            <a:r>
              <a:rPr sz="1275">
                <a:solidFill>
                  <a:srgbClr val="FFFFFF"/>
                </a:solidFill>
                <a:latin typeface="Arimo"/>
              </a:rPr>
              <a:t> — missing operator causing failures;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01513"/>
            <a:ext cx="339329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AIG informed to investigate the unsupported 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443" y="1539338"/>
            <a:ext cx="191337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Operator Gaps &amp;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1293" y="1939388"/>
            <a:ext cx="4187631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ScatterND not available</a:t>
            </a:r>
            <a:r>
              <a:rPr sz="1275">
                <a:solidFill>
                  <a:srgbClr val="FFFFFF"/>
                </a:solidFill>
                <a:latin typeface="Arimo"/>
              </a:rPr>
              <a:t> in MIGraphX EP or ONNX EP —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communicated to AIG for prioritization~(centerpoint)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1293" y="2577563"/>
            <a:ext cx="5048577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NPU debug tools received</a:t>
            </a:r>
            <a:r>
              <a:rPr sz="1275">
                <a:solidFill>
                  <a:srgbClr val="FFFFFF"/>
                </a:solidFill>
                <a:latin typeface="Arimo"/>
              </a:rPr>
              <a:t> — now able to analyze layer-level outputs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that are not producing correct results and provide richer, more precise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1293" y="3063338"/>
            <a:ext cx="115226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feedback to AIG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1293" y="3453863"/>
            <a:ext cx="4746545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Unified NPU + GPU dependency request</a:t>
            </a:r>
            <a:r>
              <a:rPr sz="1275">
                <a:solidFill>
                  <a:srgbClr val="FFFFFF"/>
                </a:solidFill>
                <a:latin typeface="Arimo"/>
              </a:rPr>
              <a:t> — GPU stack requires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1293" y="3701513"/>
            <a:ext cx="4974142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NumPy &lt;2, NPU stack requires NumPy 2+; the version conflict forces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separate virtual environments today. Communicated to AIG to 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1293" y="4187288"/>
            <a:ext cx="506664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this so NPU and GPU can share a single application-level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815938"/>
            <a:ext cx="1052668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PAVS acts as the functional correctness signal for AIG</a:t>
            </a:r>
            <a:r>
              <a:rPr sz="1275">
                <a:solidFill>
                  <a:srgbClr val="FFFFFF"/>
                </a:solidFill>
                <a:latin typeface="Arimo"/>
              </a:rPr>
              <a:t> — we find what breaks on real inputs and real pipelines, and feed that back so the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5063588"/>
            <a:ext cx="70178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improves.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994266"/>
            <a:ext cx="8331141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Contributions(contd.) — PAI SDK Platform &amp; Edge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572464"/>
            <a:ext cx="5145825" cy="245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Infrastructure: Installer, Edge HW, and LLM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028722"/>
            <a:ext cx="276774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Installation &amp; Edge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485922"/>
            <a:ext cx="5003915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Single installer/uninstaller</a:t>
            </a:r>
            <a:r>
              <a:rPr sz="1575">
                <a:solidFill>
                  <a:srgbClr val="FFFFFF"/>
                </a:solidFill>
                <a:latin typeface="Arimo"/>
              </a:rPr>
              <a:t> for ROCm + RyzenAI in PAI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SDK — one command to set up or tear down the 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85997"/>
            <a:ext cx="466858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38422"/>
            <a:ext cx="503097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Extended and maintained ROCm + RAI support for </a:t>
            </a:r>
            <a:r>
              <a:rPr sz="1575" b="1">
                <a:solidFill>
                  <a:srgbClr val="3498DB"/>
                </a:solidFill>
                <a:latin typeface="Arimo-Bold"/>
              </a:rPr>
              <a:t>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43222"/>
            <a:ext cx="4835738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HW</a:t>
            </a:r>
            <a:r>
              <a:rPr sz="1575">
                <a:solidFill>
                  <a:srgbClr val="FFFFFF"/>
                </a:solidFill>
                <a:latin typeface="Arimo"/>
              </a:rPr>
              <a:t> — required targeted patches for hardware-specific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400447"/>
            <a:ext cx="4994651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Yocto &amp; LTS support</a:t>
            </a:r>
            <a:r>
              <a:rPr sz="1575">
                <a:solidFill>
                  <a:srgbClr val="FFFFFF"/>
                </a:solidFill>
                <a:latin typeface="Arimo"/>
              </a:rPr>
              <a:t> — enabling model deployment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705247"/>
            <a:ext cx="2179271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embedded edge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6018" y="2028722"/>
            <a:ext cx="3159838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LLM Infrastructure on AMD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6068" y="2485922"/>
            <a:ext cx="4936074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Integrated </a:t>
            </a:r>
            <a:r>
              <a:rPr sz="1575" b="1">
                <a:solidFill>
                  <a:srgbClr val="3498DB"/>
                </a:solidFill>
                <a:latin typeface="Arimo-Bold"/>
              </a:rPr>
              <a:t>stable vLLM</a:t>
            </a:r>
            <a:r>
              <a:rPr sz="1575">
                <a:solidFill>
                  <a:srgbClr val="FFFFFF"/>
                </a:solidFill>
                <a:latin typeface="Arimo"/>
              </a:rPr>
              <a:t> — high-throughput serving with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quantized LLM variants on iGPU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6068" y="3143147"/>
            <a:ext cx="475806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Integrating </a:t>
            </a:r>
            <a:r>
              <a:rPr sz="1575" b="1">
                <a:solidFill>
                  <a:srgbClr val="3498DB"/>
                </a:solidFill>
                <a:latin typeface="Arimo-Bold"/>
              </a:rPr>
              <a:t>FLM framework</a:t>
            </a:r>
            <a:r>
              <a:rPr sz="1575">
                <a:solidFill>
                  <a:srgbClr val="FFFFFF"/>
                </a:solidFill>
                <a:latin typeface="Arimo"/>
              </a:rPr>
              <a:t> — running LLMs on NPU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6068" y="3505097"/>
            <a:ext cx="4958789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Bridging the open-source LLM ecosystem onto the AMD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edge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993" y="4343297"/>
            <a:ext cx="4891416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Full-stack edge enablement: installer → hardware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patches → quantized LLM serving → NPU inference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993" y="4943372"/>
            <a:ext cx="163824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Yocto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94191"/>
            <a:ext cx="3001725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Pain Points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981914"/>
            <a:ext cx="7630905" cy="245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Current Challenges on Edge Devices — and How We've Addressed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428647"/>
            <a:ext cx="106713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85847"/>
            <a:ext cx="256752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ROCm Installation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333522"/>
            <a:ext cx="423556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ROCm install on edge devices is </a:t>
            </a:r>
            <a:r>
              <a:rPr sz="1575" b="1">
                <a:solidFill>
                  <a:srgbClr val="3498DB"/>
                </a:solidFill>
                <a:latin typeface="Arimo-Bold"/>
              </a:rPr>
              <a:t>not yet 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695472"/>
            <a:ext cx="503482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Driver/firmware mismatches on some hardware revisions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3057422"/>
            <a:ext cx="2500512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Reboot During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14622"/>
            <a:ext cx="4424268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ROCm installation requires a </a:t>
            </a:r>
            <a:r>
              <a:rPr sz="1575" b="1">
                <a:solidFill>
                  <a:srgbClr val="3498DB"/>
                </a:solidFill>
                <a:latin typeface="Arimo-Bold"/>
              </a:rPr>
              <a:t>system reboot</a:t>
            </a:r>
            <a:r>
              <a:rPr sz="1575">
                <a:solidFill>
                  <a:srgbClr val="FFFFFF"/>
                </a:solidFill>
                <a:latin typeface="Arimo"/>
              </a:rPr>
              <a:t> mid-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71847"/>
            <a:ext cx="332401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Breaks unattended / CI-driven installs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533797"/>
            <a:ext cx="279326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Sudo / Root Access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81472"/>
            <a:ext cx="415793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Both ROCm and RyzenAI installers need </a:t>
            </a:r>
            <a:r>
              <a:rPr sz="1575" b="1">
                <a:solidFill>
                  <a:srgbClr val="3498DB"/>
                </a:solidFill>
                <a:latin typeface="Arimo-Bold"/>
              </a:rPr>
              <a:t>sudo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286272"/>
            <a:ext cx="933916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privileges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6018" y="1428647"/>
            <a:ext cx="2841338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Solution: Dockerized PAI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6018" y="1885847"/>
            <a:ext cx="5414684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We have </a:t>
            </a:r>
            <a:r>
              <a:rPr sz="1575" b="1">
                <a:solidFill>
                  <a:srgbClr val="3498DB"/>
                </a:solidFill>
                <a:latin typeface="Arimo-Bold"/>
              </a:rPr>
              <a:t>dockerized the full setup</a:t>
            </a:r>
            <a:r>
              <a:rPr sz="1575">
                <a:solidFill>
                  <a:srgbClr val="FFFFFF"/>
                </a:solidFill>
                <a:latin typeface="Arimo"/>
              </a:rPr>
              <a:t> — ROCm + RyzenAI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pre-installed, pre-configured, and ready to use out of the box: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793" y="2702832"/>
            <a:ext cx="4029802" cy="320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59636E"/>
                </a:solidFill>
                <a:latin typeface="LiberationMono"/>
              </a:rPr>
              <a:t># Pull and run — no installs, no reboot, no sudo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docker run physical-ai-sdk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793" y="3188607"/>
            <a:ext cx="2854459" cy="320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59636E"/>
                </a:solidFill>
                <a:latin typeface="LiberationMono"/>
              </a:rPr>
              <a:t># Start benchmarking immediately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benchmark-all-devices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6068" y="3800372"/>
            <a:ext cx="274534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No local ROCm install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6068" y="4162322"/>
            <a:ext cx="2412905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No reboot, no sudo on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6068" y="4524272"/>
            <a:ext cx="389069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Reproducible environment across machines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6068" y="4886222"/>
            <a:ext cx="296797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Ready to deliver to users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" y="5876822"/>
            <a:ext cx="1013150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Docker sidesteps all three pain points</a:t>
            </a:r>
            <a:r>
              <a:rPr sz="1575">
                <a:solidFill>
                  <a:srgbClr val="FFFFFF"/>
                </a:solidFill>
                <a:latin typeface="Arimo"/>
              </a:rPr>
              <a:t> — users get the full PAI SDK on the fly, without touching the host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1398" y="526194"/>
            <a:ext cx="7429070" cy="67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784" b="1">
                <a:solidFill>
                  <a:srgbClr val="FFFFFF"/>
                </a:solidFill>
                <a:latin typeface="Arimo-Bold"/>
              </a:rPr>
              <a:t>SW Stack (For Reference)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1902" y="6317679"/>
            <a:ext cx="254203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
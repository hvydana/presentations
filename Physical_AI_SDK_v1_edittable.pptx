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_x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600" y="6115050"/>
            <a:ext cx="167640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1097508"/>
            <a:ext cx="4103444" cy="244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21" b="1">
                <a:solidFill>
                  <a:srgbClr val="FFFFFF"/>
                </a:solidFill>
                <a:latin typeface="Arimo-Bold"/>
              </a:rPr>
              <a:t>Physical AI SDK - Structure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1499036"/>
            <a:ext cx="4372631" cy="195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77" b="1">
                <a:solidFill>
                  <a:srgbClr val="AAAAAA"/>
                </a:solidFill>
                <a:latin typeface="Arimo-Bold"/>
              </a:rPr>
              <a:t>Three Paths — Pick the One That Fits Your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1777463"/>
            <a:ext cx="1592532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Option 1: Zero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2177513"/>
            <a:ext cx="3023787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Every example ships with a pre-generated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440899"/>
            <a:ext cx="1398978" cy="1650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47">
                <a:solidFill>
                  <a:srgbClr val="00BCD4"/>
                </a:solidFill>
                <a:latin typeface="LiberationMono"/>
              </a:rPr>
              <a:t>METRICS_TABLE.md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975" y="2880132"/>
            <a:ext cx="2178103" cy="124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000000"/>
                </a:solidFill>
                <a:latin typeface="LiberationMono"/>
              </a:rPr>
              <a:t>examples/yolov12/METRICS_TABLE.md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158588"/>
            <a:ext cx="2744790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CPU, GPU, NPU throughput &amp;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444338"/>
            <a:ext cx="2222582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Cross-device comparison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720563"/>
            <a:ext cx="2690869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Auto-generated from benchmark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006313"/>
            <a:ext cx="2466093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Plan:</a:t>
            </a:r>
            <a:r>
              <a:rPr sz="1275">
                <a:solidFill>
                  <a:srgbClr val="FFFFFF"/>
                </a:solidFill>
                <a:latin typeface="Arimo"/>
              </a:rPr>
              <a:t> expose as a web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" y="4492088"/>
            <a:ext cx="3167576" cy="419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4CAF50"/>
                </a:solidFill>
                <a:latin typeface="Arimo-Bold"/>
              </a:rPr>
              <a:t>Just open the file — numbers are already</a:t>
            </a:r>
          </a:p>
          <a:p>
            <a:r>
              <a:rPr sz="1275" b="1">
                <a:solidFill>
                  <a:srgbClr val="4CAF50"/>
                </a:solidFill>
                <a:latin typeface="Arimo-Bold"/>
              </a:rPr>
              <a:t>there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6725" y="1777463"/>
            <a:ext cx="2609099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Option 2: Docker (One Command)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6725" y="2177513"/>
            <a:ext cx="3171951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Pre-installed ROCm + RyzenAI environment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2450" y="2632482"/>
            <a:ext cx="1716095" cy="2485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59636E"/>
                </a:solidFill>
                <a:latin typeface="LiberationMono"/>
              </a:rPr>
              <a:t># Pull &amp; run the container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docker run physical-ai-sdk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2450" y="3013482"/>
            <a:ext cx="2244105" cy="2485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59636E"/>
                </a:solidFill>
                <a:latin typeface="LiberationMono"/>
              </a:rPr>
              <a:t># Inside the container: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make benchmark-all-devices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0575" y="3415763"/>
            <a:ext cx="1709930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No local installs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0575" y="3701513"/>
            <a:ext cx="1889829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Reproducible environment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0575" y="3977738"/>
            <a:ext cx="3304275" cy="1903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Generates </a:t>
            </a:r>
            <a:r>
              <a:rPr sz="1147">
                <a:solidFill>
                  <a:srgbClr val="00BCD4"/>
                </a:solidFill>
                <a:latin typeface="LiberationMono"/>
              </a:rPr>
              <a:t>METRICS_TABLE.md</a:t>
            </a:r>
            <a:r>
              <a:rPr sz="1275">
                <a:solidFill>
                  <a:srgbClr val="FFFFFF"/>
                </a:solidFill>
                <a:latin typeface="Arimo"/>
              </a:rPr>
              <a:t> </a:t>
            </a:r>
            <a:r>
              <a:rPr sz="1275">
                <a:solidFill>
                  <a:srgbClr val="FFFFFF"/>
                </a:solidFill>
                <a:latin typeface="Arimo"/>
              </a:rPr>
              <a:t> automatically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700" y="4463513"/>
            <a:ext cx="2492351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4CAF50"/>
                </a:solidFill>
                <a:latin typeface="Arimo-Bold"/>
              </a:rPr>
              <a:t>One command to fresh numbers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0" y="1777463"/>
            <a:ext cx="1808381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Option 3: Manual 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7200" y="2177513"/>
            <a:ext cx="2267760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Full local installation — 4 steps: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2925" y="2632482"/>
            <a:ext cx="2046101" cy="2485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59636E"/>
                </a:solidFill>
                <a:latin typeface="LiberationMono"/>
              </a:rPr>
              <a:t># 1. Install ROCm and raizen-ai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./install.sh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2925" y="3013482"/>
            <a:ext cx="1584093" cy="2485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59636E"/>
                </a:solidFill>
                <a:latin typeface="LiberationMono"/>
              </a:rPr>
              <a:t># 2. Navigate to example</a:t>
            </a:r>
          </a:p>
          <a:p>
            <a:r>
              <a:rPr sz="867">
                <a:solidFill>
                  <a:srgbClr val="953800"/>
                </a:solidFill>
                <a:latin typeface="LiberationMono"/>
              </a:rPr>
              <a:t>cd</a:t>
            </a:r>
            <a:r>
              <a:rPr sz="867">
                <a:solidFill>
                  <a:srgbClr val="000000"/>
                </a:solidFill>
                <a:latin typeface="LiberationMono"/>
              </a:rPr>
              <a:t> examples/yolov12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2925" y="3394481"/>
            <a:ext cx="2244105" cy="2485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59636E"/>
                </a:solidFill>
                <a:latin typeface="LiberationMono"/>
              </a:rPr>
              <a:t># 3. Run benchmarks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make benchmark-all-devices metrics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7200" y="3787238"/>
            <a:ext cx="2032244" cy="1903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Output: </a:t>
            </a:r>
            <a:r>
              <a:rPr sz="1147">
                <a:solidFill>
                  <a:srgbClr val="00BCD4"/>
                </a:solidFill>
                <a:latin typeface="LiberationMono"/>
              </a:rPr>
              <a:t>METRICS_TABLE.md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8175" y="4330163"/>
            <a:ext cx="1925291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FF9800"/>
                </a:solidFill>
                <a:latin typeface="Arimo-Bold"/>
              </a:rPr>
              <a:t>Most control, most setup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79001" y="6317679"/>
            <a:ext cx="127101" cy="255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777777"/>
                </a:solidFill>
                <a:latin typeface="Arim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_x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600" y="6115050"/>
            <a:ext cx="167640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775191"/>
            <a:ext cx="1587141" cy="3128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4" b="1">
                <a:solidFill>
                  <a:srgbClr val="FFFFFF"/>
                </a:solidFill>
                <a:latin typeface="Arimo-Bold"/>
              </a:rPr>
              <a:t>Easy to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1362914"/>
            <a:ext cx="4246302" cy="2458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32" b="1">
                <a:solidFill>
                  <a:srgbClr val="AAAAAA"/>
                </a:solidFill>
                <a:latin typeface="Arimo-Bold"/>
              </a:rPr>
              <a:t>Uniform Interface Across Every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1819172"/>
            <a:ext cx="2222877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Make-Based Uniformity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2266847"/>
            <a:ext cx="4513624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Same commands work in </a:t>
            </a:r>
            <a:r>
              <a:rPr sz="1575" b="1">
                <a:solidFill>
                  <a:srgbClr val="3498DB"/>
                </a:solidFill>
                <a:latin typeface="Arimo-Bold"/>
              </a:rPr>
              <a:t>every</a:t>
            </a:r>
            <a:r>
              <a:rPr sz="1575">
                <a:solidFill>
                  <a:srgbClr val="FFFFFF"/>
                </a:solidFill>
                <a:latin typeface="Arimo"/>
              </a:rPr>
              <a:t> example directory: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788557"/>
            <a:ext cx="4785615" cy="8063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2">
                <a:solidFill>
                  <a:srgbClr val="000000"/>
                </a:solidFill>
                <a:latin typeface="LiberationMono"/>
              </a:rPr>
              <a:t>make benchmark-all-devices metric   </a:t>
            </a:r>
            <a:r>
              <a:rPr sz="1102">
                <a:solidFill>
                  <a:srgbClr val="59636E"/>
                </a:solidFill>
                <a:latin typeface="LiberationMono"/>
              </a:rPr>
              <a:t># all devices</a:t>
            </a:r>
          </a:p>
          <a:p>
            <a:r>
              <a:rPr sz="1102">
                <a:solidFill>
                  <a:srgbClr val="000000"/>
                </a:solidFill>
                <a:latin typeface="LiberationMono"/>
              </a:rPr>
              <a:t>make benchmark-gpu                  </a:t>
            </a:r>
            <a:r>
              <a:rPr sz="1102">
                <a:solidFill>
                  <a:srgbClr val="59636E"/>
                </a:solidFill>
                <a:latin typeface="LiberationMono"/>
              </a:rPr>
              <a:t># GPU only</a:t>
            </a:r>
          </a:p>
          <a:p>
            <a:r>
              <a:rPr sz="1102">
                <a:solidFill>
                  <a:srgbClr val="000000"/>
                </a:solidFill>
                <a:latin typeface="LiberationMono"/>
              </a:rPr>
              <a:t>make benchmark-cpu                  </a:t>
            </a:r>
            <a:r>
              <a:rPr sz="1102">
                <a:solidFill>
                  <a:srgbClr val="59636E"/>
                </a:solidFill>
                <a:latin typeface="LiberationMono"/>
              </a:rPr>
              <a:t># CPU only</a:t>
            </a:r>
          </a:p>
          <a:p>
            <a:r>
              <a:rPr sz="1102">
                <a:solidFill>
                  <a:srgbClr val="000000"/>
                </a:solidFill>
                <a:latin typeface="LiberationMono"/>
              </a:rPr>
              <a:t>make benchmark-npu                  </a:t>
            </a:r>
            <a:r>
              <a:rPr sz="1102">
                <a:solidFill>
                  <a:srgbClr val="59636E"/>
                </a:solidFill>
                <a:latin typeface="LiberationMono"/>
              </a:rPr>
              <a:t># NPU only</a:t>
            </a:r>
          </a:p>
          <a:p>
            <a:r>
              <a:rPr sz="1102">
                <a:solidFill>
                  <a:srgbClr val="000000"/>
                </a:solidFill>
                <a:latin typeface="LiberationMono"/>
              </a:rPr>
              <a:t>make </a:t>
            </a:r>
            <a:r>
              <a:rPr sz="1102">
                <a:solidFill>
                  <a:srgbClr val="953800"/>
                </a:solidFill>
                <a:latin typeface="LiberationMono"/>
              </a:rPr>
              <a:t>eval</a:t>
            </a:r>
            <a:r>
              <a:rPr sz="1102">
                <a:solidFill>
                  <a:srgbClr val="000000"/>
                </a:solidFill>
                <a:latin typeface="LiberationMono"/>
              </a:rPr>
              <a:t>                           </a:t>
            </a:r>
            <a:r>
              <a:rPr sz="1102">
                <a:solidFill>
                  <a:srgbClr val="59636E"/>
                </a:solidFill>
                <a:latin typeface="LiberationMono"/>
              </a:rPr>
              <a:t># evaluation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95622"/>
            <a:ext cx="2523714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Learn once, use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257572"/>
            <a:ext cx="2623327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No per-model setup surprises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609997"/>
            <a:ext cx="4210132" cy="235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Consistent output format (</a:t>
            </a:r>
            <a:r>
              <a:rPr sz="1417">
                <a:solidFill>
                  <a:srgbClr val="00BCD4"/>
                </a:solidFill>
                <a:latin typeface="LiberationMono"/>
              </a:rPr>
              <a:t> </a:t>
            </a:r>
            <a:r>
              <a:rPr sz="1417">
                <a:solidFill>
                  <a:srgbClr val="00BCD4"/>
                </a:solidFill>
                <a:latin typeface="LiberationMono"/>
              </a:rPr>
              <a:t>METRICS_TABLE.md</a:t>
            </a:r>
            <a:r>
              <a:rPr sz="1575">
                <a:solidFill>
                  <a:srgbClr val="FFFFFF"/>
                </a:solidFill>
                <a:latin typeface="Arimo"/>
              </a:rPr>
              <a:t>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6018" y="1819172"/>
            <a:ext cx="2356897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Every Example Includes: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8927" y="2322584"/>
            <a:ext cx="3504684" cy="1899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38" b="1">
                <a:solidFill>
                  <a:srgbClr val="FFFFFF"/>
                </a:solidFill>
                <a:latin typeface="Arimo-Bold"/>
              </a:rPr>
              <a:t>Feature</a:t>
            </a:r>
          </a:p>
          <a:p>
            <a:r>
              <a:rPr sz="1338" b="1">
                <a:solidFill>
                  <a:srgbClr val="FFFFFF"/>
                </a:solidFill>
                <a:latin typeface="Arimo-Bold"/>
              </a:rPr>
              <a:t>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9368" y="2703584"/>
            <a:ext cx="1369336" cy="1899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38" b="1">
                <a:solidFill>
                  <a:srgbClr val="3498DB"/>
                </a:solidFill>
                <a:latin typeface="Arimo-Bold"/>
              </a:rPr>
              <a:t>CPU / GPU / NPU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9368" y="2960759"/>
            <a:ext cx="434373" cy="1899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38" b="1">
                <a:solidFill>
                  <a:srgbClr val="3498DB"/>
                </a:solidFill>
                <a:latin typeface="Arimo-Bold"/>
              </a:rPr>
              <a:t>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9875" y="2703584"/>
            <a:ext cx="2758574" cy="1899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38">
                <a:solidFill>
                  <a:srgbClr val="FFFFFF"/>
                </a:solidFill>
                <a:latin typeface="Arimo"/>
              </a:rPr>
              <a:t>Benchmark each compute device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9875" y="2960759"/>
            <a:ext cx="1559062" cy="1899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38">
                <a:solidFill>
                  <a:srgbClr val="FFFFFF"/>
                </a:solidFill>
                <a:latin typeface="Arimo"/>
              </a:rPr>
              <a:t>throughput &amp;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9368" y="3341759"/>
            <a:ext cx="5198063" cy="437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38" b="1">
                <a:solidFill>
                  <a:srgbClr val="3498DB"/>
                </a:solidFill>
                <a:latin typeface="Arimo-Bold"/>
              </a:rPr>
              <a:t>Eval pipeline</a:t>
            </a:r>
          </a:p>
          <a:p>
            <a:r>
              <a:rPr sz="1338">
                <a:solidFill>
                  <a:srgbClr val="FFFFFF"/>
                </a:solidFill>
                <a:latin typeface="Arimo"/>
              </a:rPr>
              <a:t>Sample inputs → sample outputs to visually</a:t>
            </a:r>
          </a:p>
          <a:p>
            <a:r>
              <a:rPr sz="1338">
                <a:solidFill>
                  <a:srgbClr val="FFFFFF"/>
                </a:solidFill>
                <a:latin typeface="Arimo"/>
              </a:rPr>
              <a:t>verify correctness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9368" y="3970409"/>
            <a:ext cx="641984" cy="1899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38" b="1">
                <a:solidFill>
                  <a:srgbClr val="3498DB"/>
                </a:solidFill>
                <a:latin typeface="Arimo-Bold"/>
              </a:rPr>
              <a:t>Guiding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9368" y="4227584"/>
            <a:ext cx="1218094" cy="1899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38" b="1">
                <a:solidFill>
                  <a:srgbClr val="3498DB"/>
                </a:solidFill>
                <a:latin typeface="Arimo-Bold"/>
              </a:rPr>
              <a:t>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9875" y="3970409"/>
            <a:ext cx="3268450" cy="1899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38">
                <a:solidFill>
                  <a:srgbClr val="FFFFFF"/>
                </a:solidFill>
                <a:latin typeface="Arimo"/>
              </a:rPr>
              <a:t>Per-example tutorial to walk you from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9875" y="4227584"/>
            <a:ext cx="689585" cy="1899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38">
                <a:solidFill>
                  <a:srgbClr val="FFFFFF"/>
                </a:solidFill>
                <a:latin typeface="Arimo"/>
              </a:rPr>
              <a:t>to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6993" y="4857647"/>
            <a:ext cx="5036494" cy="518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Principle:</a:t>
            </a:r>
            <a:r>
              <a:rPr sz="1575">
                <a:solidFill>
                  <a:srgbClr val="FFFFFF"/>
                </a:solidFill>
                <a:latin typeface="Arimo"/>
              </a:rPr>
              <a:t> If you can run one example, you can run them</a:t>
            </a:r>
          </a:p>
          <a:p>
            <a:r>
              <a:rPr sz="1575">
                <a:solidFill>
                  <a:srgbClr val="FFFFFF"/>
                </a:solidFill>
                <a:latin typeface="Arimo"/>
              </a:rPr>
              <a:t>all — same commands, same structure, same outputs.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79001" y="6317679"/>
            <a:ext cx="127101" cy="255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777777"/>
                </a:solidFill>
                <a:latin typeface="Arim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_x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600" y="6115050"/>
            <a:ext cx="1676400" cy="476250"/>
          </a:xfrm>
          <a:prstGeom prst="rect">
            <a:avLst/>
          </a:prstGeom>
        </p:spPr>
      </p:pic>
      <p:pic>
        <p:nvPicPr>
          <p:cNvPr id="3" name="Picture 2" descr="p2_x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295400"/>
            <a:ext cx="2381249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249783"/>
            <a:ext cx="5439296" cy="244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21" b="1">
                <a:solidFill>
                  <a:srgbClr val="FFFFFF"/>
                </a:solidFill>
                <a:latin typeface="Arimo-Bold"/>
              </a:rPr>
              <a:t>Contributions — Research Desk → Vertical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641786"/>
            <a:ext cx="6640802" cy="195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77" b="1">
                <a:solidFill>
                  <a:srgbClr val="AAAAAA"/>
                </a:solidFill>
                <a:latin typeface="Arimo-Bold"/>
              </a:rPr>
              <a:t>1. PAVS transforms raw researcher code into production-ready vertical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929738"/>
            <a:ext cx="2537688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What we receive: Research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5158838"/>
            <a:ext cx="3554577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i="1">
                <a:solidFill>
                  <a:srgbClr val="FFFFFF"/>
                </a:solidFill>
                <a:latin typeface="Arimo-Italic"/>
              </a:rPr>
              <a:t>Flat list of scripts — no structure, no device flows,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5406488"/>
            <a:ext cx="1161002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i="1">
                <a:solidFill>
                  <a:srgbClr val="FFFFFF"/>
                </a:solidFill>
                <a:latin typeface="Arimo-Italic"/>
              </a:rPr>
              <a:t>no Make targets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6725" y="929738"/>
            <a:ext cx="2537691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What we receive: Research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2450" y="1384707"/>
            <a:ext cx="2640112" cy="13915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59636E"/>
                </a:solidFill>
                <a:latin typeface="LiberationMono"/>
              </a:rPr>
              <a:t># rocm-scripts/test/pytorch/yolo12n.py</a:t>
            </a:r>
          </a:p>
          <a:p>
            <a:r>
              <a:rPr sz="867">
                <a:solidFill>
                  <a:srgbClr val="59636E"/>
                </a:solidFill>
                <a:latin typeface="LiberationMono"/>
              </a:rPr>
              <a:t>#........</a:t>
            </a:r>
          </a:p>
          <a:p>
            <a:r>
              <a:rPr sz="867">
                <a:solidFill>
                  <a:srgbClr val="59636E"/>
                </a:solidFill>
                <a:latin typeface="LiberationMono"/>
              </a:rPr>
              <a:t># .......</a:t>
            </a:r>
          </a:p>
          <a:p>
            <a:r>
              <a:rPr sz="867">
                <a:solidFill>
                  <a:srgbClr val="59636E"/>
                </a:solidFill>
                <a:latin typeface="LiberationMono"/>
              </a:rPr>
              <a:t># .......</a:t>
            </a:r>
          </a:p>
          <a:p>
            <a:r>
              <a:rPr sz="867">
                <a:solidFill>
                  <a:srgbClr val="59636E"/>
                </a:solidFill>
                <a:latin typeface="LiberationMono"/>
              </a:rPr>
              <a:t>#........</a:t>
            </a:r>
          </a:p>
          <a:p>
            <a:r>
              <a:rPr sz="867">
                <a:solidFill>
                  <a:srgbClr val="59636E"/>
                </a:solidFill>
                <a:latin typeface="LiberationMono"/>
              </a:rPr>
              <a:t># .......</a:t>
            </a:r>
          </a:p>
          <a:p>
            <a:r>
              <a:rPr sz="867">
                <a:solidFill>
                  <a:srgbClr val="59636E"/>
                </a:solidFill>
                <a:latin typeface="LiberationMono"/>
              </a:rPr>
              <a:t># .......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recalled = gt_labels &amp; detected_classes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recall = </a:t>
            </a:r>
            <a:r>
              <a:rPr sz="867">
                <a:solidFill>
                  <a:srgbClr val="953800"/>
                </a:solidFill>
                <a:latin typeface="LiberationMono"/>
              </a:rPr>
              <a:t>len</a:t>
            </a:r>
            <a:r>
              <a:rPr sz="867">
                <a:solidFill>
                  <a:srgbClr val="000000"/>
                </a:solidFill>
                <a:latin typeface="LiberationMono"/>
              </a:rPr>
              <a:t>(recalled) / </a:t>
            </a:r>
            <a:r>
              <a:rPr sz="867">
                <a:solidFill>
                  <a:srgbClr val="953800"/>
                </a:solidFill>
                <a:latin typeface="LiberationMono"/>
              </a:rPr>
              <a:t>len</a:t>
            </a:r>
            <a:r>
              <a:rPr sz="867">
                <a:solidFill>
                  <a:srgbClr val="000000"/>
                </a:solidFill>
                <a:latin typeface="LiberationMono"/>
              </a:rPr>
              <a:t>(gt_labels)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sanity_pass = recall &gt;= RECALL_THRESHOLD</a:t>
            </a:r>
          </a:p>
          <a:p>
            <a:r>
              <a:rPr sz="867">
                <a:solidFill>
                  <a:srgbClr val="CF222E"/>
                </a:solidFill>
                <a:latin typeface="LiberationMono"/>
              </a:rPr>
              <a:t>assert</a:t>
            </a:r>
            <a:r>
              <a:rPr sz="867">
                <a:solidFill>
                  <a:srgbClr val="000000"/>
                </a:solidFill>
                <a:latin typeface="LiberationMono"/>
              </a:rPr>
              <a:t> sanity_pass, (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8451" y="2775357"/>
            <a:ext cx="3234545" cy="124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000000"/>
                </a:solidFill>
                <a:latin typeface="LiberationMono"/>
              </a:rPr>
              <a:t> </a:t>
            </a:r>
            <a:r>
              <a:rPr sz="867">
                <a:solidFill>
                  <a:srgbClr val="0A3069"/>
                </a:solidFill>
                <a:latin typeface="LiberationMono"/>
              </a:rPr>
              <a:t>f"recall </a:t>
            </a:r>
            <a:r>
              <a:rPr sz="867">
                <a:solidFill>
                  <a:srgbClr val="1F2328"/>
                </a:solidFill>
                <a:latin typeface="LiberationMono"/>
              </a:rPr>
              <a:t>{recall:</a:t>
            </a:r>
            <a:r>
              <a:rPr sz="867">
                <a:solidFill>
                  <a:srgbClr val="0550AE"/>
                </a:solidFill>
                <a:latin typeface="LiberationMono"/>
              </a:rPr>
              <a:t>.0</a:t>
            </a:r>
            <a:r>
              <a:rPr sz="867">
                <a:solidFill>
                  <a:srgbClr val="1F2328"/>
                </a:solidFill>
                <a:latin typeface="LiberationMono"/>
              </a:rPr>
              <a:t>%}</a:t>
            </a:r>
            <a:r>
              <a:rPr sz="867">
                <a:solidFill>
                  <a:srgbClr val="0A3069"/>
                </a:solidFill>
                <a:latin typeface="LiberationMono"/>
              </a:rPr>
              <a:t> &lt; </a:t>
            </a:r>
            <a:r>
              <a:rPr sz="867">
                <a:solidFill>
                  <a:srgbClr val="1F2328"/>
                </a:solidFill>
                <a:latin typeface="LiberationMono"/>
              </a:rPr>
              <a:t>{RECALL_THRESHOLD:</a:t>
            </a:r>
            <a:r>
              <a:rPr sz="867">
                <a:solidFill>
                  <a:srgbClr val="0550AE"/>
                </a:solidFill>
                <a:latin typeface="LiberationMono"/>
              </a:rPr>
              <a:t>.0</a:t>
            </a:r>
            <a:r>
              <a:rPr sz="867">
                <a:solidFill>
                  <a:srgbClr val="1F2328"/>
                </a:solidFill>
                <a:latin typeface="LiberationMono"/>
              </a:rPr>
              <a:t>%}</a:t>
            </a:r>
            <a:r>
              <a:rPr sz="867">
                <a:solidFill>
                  <a:srgbClr val="0A3069"/>
                </a:solidFill>
                <a:latin typeface="LiberationMono"/>
              </a:rPr>
              <a:t>"</a:t>
            </a:r>
            <a:r>
              <a:rPr sz="867">
                <a:solidFill>
                  <a:srgbClr val="000000"/>
                </a:solidFill>
                <a:latin typeface="LiberationMono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2450" y="3032532"/>
            <a:ext cx="924105" cy="124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CF222E"/>
                </a:solidFill>
                <a:latin typeface="LiberationMono"/>
              </a:rPr>
              <a:t>return</a:t>
            </a:r>
            <a:r>
              <a:rPr sz="867">
                <a:solidFill>
                  <a:srgbClr val="000000"/>
                </a:solidFill>
                <a:latin typeface="LiberationMono"/>
              </a:rPr>
              <a:t> lats,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2450" y="3156357"/>
            <a:ext cx="2310179" cy="7629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000000"/>
                </a:solidFill>
                <a:latin typeface="LiberationMono"/>
              </a:rPr>
              <a:t> </a:t>
            </a:r>
            <a:r>
              <a:rPr sz="867">
                <a:solidFill>
                  <a:srgbClr val="0A3069"/>
                </a:solidFill>
                <a:latin typeface="LiberationMono"/>
              </a:rPr>
              <a:t>"architecture"</a:t>
            </a:r>
            <a:r>
              <a:rPr sz="867">
                <a:solidFill>
                  <a:srgbClr val="000000"/>
                </a:solidFill>
                <a:latin typeface="LiberationMono"/>
              </a:rPr>
              <a:t>: </a:t>
            </a:r>
            <a:r>
              <a:rPr sz="867">
                <a:solidFill>
                  <a:srgbClr val="0A3069"/>
                </a:solidFill>
                <a:latin typeface="LiberationMono"/>
              </a:rPr>
              <a:t>"CNN"</a:t>
            </a:r>
            <a:r>
              <a:rPr sz="867">
                <a:solidFill>
                  <a:srgbClr val="000000"/>
                </a:solidFill>
                <a:latin typeface="LiberationMono"/>
              </a:rPr>
              <a:t>,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 </a:t>
            </a:r>
            <a:r>
              <a:rPr sz="867">
                <a:solidFill>
                  <a:srgbClr val="0A3069"/>
                </a:solidFill>
                <a:latin typeface="LiberationMono"/>
              </a:rPr>
              <a:t>"task"</a:t>
            </a:r>
            <a:r>
              <a:rPr sz="867">
                <a:solidFill>
                  <a:srgbClr val="000000"/>
                </a:solidFill>
                <a:latin typeface="LiberationMono"/>
              </a:rPr>
              <a:t>: </a:t>
            </a:r>
            <a:r>
              <a:rPr sz="867">
                <a:solidFill>
                  <a:srgbClr val="0A3069"/>
                </a:solidFill>
                <a:latin typeface="LiberationMono"/>
              </a:rPr>
              <a:t>"object_detection"</a:t>
            </a:r>
            <a:r>
              <a:rPr sz="867">
                <a:solidFill>
                  <a:srgbClr val="000000"/>
                </a:solidFill>
                <a:latin typeface="LiberationMono"/>
              </a:rPr>
              <a:t>,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 </a:t>
            </a:r>
            <a:r>
              <a:rPr sz="867">
                <a:solidFill>
                  <a:srgbClr val="0A3069"/>
                </a:solidFill>
                <a:latin typeface="LiberationMono"/>
              </a:rPr>
              <a:t>"num_detections"</a:t>
            </a:r>
            <a:r>
              <a:rPr sz="867">
                <a:solidFill>
                  <a:srgbClr val="000000"/>
                </a:solidFill>
                <a:latin typeface="LiberationMono"/>
              </a:rPr>
              <a:t>: num_detections,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 </a:t>
            </a:r>
            <a:r>
              <a:rPr sz="867">
                <a:solidFill>
                  <a:srgbClr val="0A3069"/>
                </a:solidFill>
                <a:latin typeface="LiberationMono"/>
              </a:rPr>
              <a:t>"recall"</a:t>
            </a:r>
            <a:r>
              <a:rPr sz="867">
                <a:solidFill>
                  <a:srgbClr val="000000"/>
                </a:solidFill>
                <a:latin typeface="LiberationMono"/>
              </a:rPr>
              <a:t>: </a:t>
            </a:r>
            <a:r>
              <a:rPr sz="867">
                <a:solidFill>
                  <a:srgbClr val="953800"/>
                </a:solidFill>
                <a:latin typeface="LiberationMono"/>
              </a:rPr>
              <a:t>round</a:t>
            </a:r>
            <a:r>
              <a:rPr sz="867">
                <a:solidFill>
                  <a:srgbClr val="000000"/>
                </a:solidFill>
                <a:latin typeface="LiberationMono"/>
              </a:rPr>
              <a:t>(recall, </a:t>
            </a:r>
            <a:r>
              <a:rPr sz="867">
                <a:solidFill>
                  <a:srgbClr val="0550AE"/>
                </a:solidFill>
                <a:latin typeface="LiberationMono"/>
              </a:rPr>
              <a:t>4</a:t>
            </a:r>
            <a:r>
              <a:rPr sz="867">
                <a:solidFill>
                  <a:srgbClr val="000000"/>
                </a:solidFill>
                <a:latin typeface="LiberationMono"/>
              </a:rPr>
              <a:t>),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}</a:t>
            </a:r>
          </a:p>
          <a:p>
            <a:r>
              <a:rPr sz="867">
                <a:solidFill>
                  <a:srgbClr val="CF222E"/>
                </a:solidFill>
                <a:latin typeface="LiberationMono"/>
              </a:rPr>
              <a:t>if</a:t>
            </a:r>
            <a:r>
              <a:rPr sz="867">
                <a:solidFill>
                  <a:srgbClr val="000000"/>
                </a:solidFill>
                <a:latin typeface="LiberationMono"/>
              </a:rPr>
              <a:t> __name__ == </a:t>
            </a:r>
            <a:r>
              <a:rPr sz="867">
                <a:solidFill>
                  <a:srgbClr val="0A3069"/>
                </a:solidFill>
                <a:latin typeface="LiberationMono"/>
              </a:rPr>
              <a:t>"__main__"</a:t>
            </a:r>
            <a:r>
              <a:rPr sz="867">
                <a:solidFill>
                  <a:srgbClr val="000000"/>
                </a:solidFill>
                <a:latin typeface="Liberation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8451" y="3918356"/>
            <a:ext cx="1914099" cy="1247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000000"/>
                </a:solidFill>
                <a:latin typeface="LiberationMono"/>
              </a:rPr>
              <a:t> sys.exit(run(run_benchmark))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6725" y="4187288"/>
            <a:ext cx="3023791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i="1">
                <a:solidFill>
                  <a:srgbClr val="FFFFFF"/>
                </a:solidFill>
                <a:latin typeface="Arimo-Italic"/>
              </a:rPr>
              <a:t>Single script, no structure, no device 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7200" y="929738"/>
            <a:ext cx="2627600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What we deliver: Vertical 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2925" y="1384707"/>
            <a:ext cx="2046101" cy="30393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7">
                <a:solidFill>
                  <a:srgbClr val="000000"/>
                </a:solidFill>
                <a:latin typeface="LiberationMono"/>
              </a:rPr>
              <a:t>examples/yolov12/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├── Makefile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├── METRICS_TABLE.md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├── README.md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├── app/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│   ├── routes/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│   ├── services/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│   ├── main.py &amp; config.py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├── scripts/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│   ├── benchmark.py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│   ├── export_onnx.py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│   ├── profile_model.py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│   ├── run_val.py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│   └── update_metrics_table.py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├── tests/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│   ├── test_api.py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│   ├── test_docker.py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│   ├── test_migraphx.py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│   └── test_yolo_workflow.py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├── weights/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├── datasets/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├── requirements.txt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├── requirements_cpu.txt</a:t>
            </a:r>
          </a:p>
          <a:p>
            <a:r>
              <a:rPr sz="867">
                <a:solidFill>
                  <a:srgbClr val="000000"/>
                </a:solidFill>
                <a:latin typeface="LiberationMono"/>
              </a:rPr>
              <a:t>└── requirements_npu.txt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7200" y="4568288"/>
            <a:ext cx="3317604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i="1">
                <a:solidFill>
                  <a:srgbClr val="FFFFFF"/>
                </a:solidFill>
                <a:latin typeface="Arimo-Italic"/>
              </a:rPr>
              <a:t>App, scripts, tests, per-device requirements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7200" y="4815938"/>
            <a:ext cx="1214925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i="1">
                <a:solidFill>
                  <a:srgbClr val="FFFFFF"/>
                </a:solidFill>
                <a:latin typeface="Arimo-Italic"/>
              </a:rPr>
              <a:t>production-ready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225" y="6035138"/>
            <a:ext cx="9120326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Physical AI &amp; Vertical Software:</a:t>
            </a:r>
            <a:r>
              <a:rPr sz="1275">
                <a:solidFill>
                  <a:srgbClr val="FFFFFF"/>
                </a:solidFill>
                <a:latin typeface="Arimo"/>
              </a:rPr>
              <a:t> Researcher's Desk → Vertical Software — same commands, every device, production-ready.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79001" y="6317679"/>
            <a:ext cx="127101" cy="255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777777"/>
                </a:solidFill>
                <a:latin typeface="Arim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_x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600" y="6115050"/>
            <a:ext cx="167640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373608"/>
            <a:ext cx="5870530" cy="244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21" b="1">
                <a:solidFill>
                  <a:srgbClr val="FFFFFF"/>
                </a:solidFill>
                <a:latin typeface="Arimo-Bold"/>
              </a:rPr>
              <a:t>Contributions(contd.) — Building the AMD AI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786863"/>
            <a:ext cx="5135062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2. AIG vs PAVS — Functional Correctness over Operator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5718" y="1247001"/>
            <a:ext cx="2594290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AIG</a:t>
            </a:r>
          </a:p>
          <a:p>
            <a:r>
              <a:rPr sz="1083" b="1">
                <a:solidFill>
                  <a:srgbClr val="3498DB"/>
                </a:solidFill>
                <a:latin typeface="Arimo-Bold"/>
              </a:rPr>
              <a:t>PAVS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570851"/>
            <a:ext cx="4118505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Approach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Operator validation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Functional correctness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904226"/>
            <a:ext cx="2030088" cy="258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Inputs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Dummy / synthetic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670" y="2009001"/>
            <a:ext cx="3013292" cy="258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>
                <a:solidFill>
                  <a:srgbClr val="FFFFFF"/>
                </a:solidFill>
                <a:latin typeface="Arimo"/>
              </a:rPr>
              <a:t>tensors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Real input datasets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437626"/>
            <a:ext cx="2305847" cy="258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Measures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Throughput on isolated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670" y="2647176"/>
            <a:ext cx="221779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>
                <a:solidFill>
                  <a:srgbClr val="FFFFFF"/>
                </a:solidFill>
                <a:latin typeface="Arimo"/>
              </a:rPr>
              <a:t>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4614" y="2437626"/>
            <a:ext cx="2201755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>
                <a:solidFill>
                  <a:srgbClr val="FFFFFF"/>
                </a:solidFill>
                <a:latin typeface="Arimo"/>
              </a:rPr>
              <a:t>End-to-end accuracy + throughput 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4614" y="2647176"/>
            <a:ext cx="435776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>
                <a:solidFill>
                  <a:srgbClr val="FFFFFF"/>
                </a:solidFill>
                <a:latin typeface="Arimo"/>
              </a:rPr>
              <a:t>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980551"/>
            <a:ext cx="5012828" cy="3537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Pipeline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Op-level checks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Full inference pipeline (pre → infer →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post)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" y="3758663"/>
            <a:ext cx="4961263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PAVS implements the </a:t>
            </a:r>
            <a:r>
              <a:rPr sz="1275" b="1">
                <a:solidFill>
                  <a:srgbClr val="3498DB"/>
                </a:solidFill>
                <a:latin typeface="Arimo-Bold"/>
              </a:rPr>
              <a:t>end-to-end working pipeline</a:t>
            </a:r>
            <a:r>
              <a:rPr sz="1275">
                <a:solidFill>
                  <a:srgbClr val="FFFFFF"/>
                </a:solidFill>
                <a:latin typeface="Arimo"/>
              </a:rPr>
              <a:t> and ensures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" y="4006313"/>
            <a:ext cx="4895441" cy="419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model produces </a:t>
            </a:r>
            <a:r>
              <a:rPr sz="1275" b="1">
                <a:solidFill>
                  <a:srgbClr val="3498DB"/>
                </a:solidFill>
                <a:latin typeface="Arimo-Bold"/>
              </a:rPr>
              <a:t>expected outputs from real input datasets</a:t>
            </a:r>
            <a:r>
              <a:rPr sz="1275">
                <a:solidFill>
                  <a:srgbClr val="FFFFFF"/>
                </a:solidFill>
                <a:latin typeface="Arimo"/>
              </a:rPr>
              <a:t> — not</a:t>
            </a:r>
          </a:p>
          <a:p>
            <a:r>
              <a:rPr sz="1275">
                <a:solidFill>
                  <a:srgbClr val="FFFFFF"/>
                </a:solidFill>
                <a:latin typeface="Arimo"/>
              </a:rPr>
              <a:t>just numbers from dummy inputs.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443" y="786863"/>
            <a:ext cx="3812120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3. Developer-Friendly Inference Tools &amp; LLM Infra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443" y="1186913"/>
            <a:ext cx="4837190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Profilers + LLM serving stacks — with tutorials for ease of adoption: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9425" y="1637526"/>
            <a:ext cx="3220717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FFFFFF"/>
                </a:solidFill>
                <a:latin typeface="Arimo-Bold"/>
              </a:rPr>
              <a:t>Category</a:t>
            </a:r>
          </a:p>
          <a:p>
            <a:r>
              <a:rPr sz="1083" b="1">
                <a:solidFill>
                  <a:srgbClr val="FFFFFF"/>
                </a:solidFill>
                <a:latin typeface="Arimo-Bold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793" y="1970901"/>
            <a:ext cx="3423525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Profilers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Lemonade, NPU AI Analyzer, ROCProfiler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793" y="2304276"/>
            <a:ext cx="298043" cy="3537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LLM</a:t>
            </a:r>
          </a:p>
          <a:p>
            <a:r>
              <a:rPr sz="1083" b="1">
                <a:solidFill>
                  <a:srgbClr val="3498DB"/>
                </a:solidFill>
                <a:latin typeface="Arimo-Bold"/>
              </a:rPr>
              <a:t>Infra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1438" y="2304276"/>
            <a:ext cx="3699718" cy="3537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>
                <a:solidFill>
                  <a:srgbClr val="FFFFFF"/>
                </a:solidFill>
                <a:latin typeface="Arimo"/>
              </a:rPr>
              <a:t>vLLM (high-throughput serving), Llama.cpp (edge inference),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FastFlowLM (LLMs on NPU)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443" y="2939513"/>
            <a:ext cx="5378879" cy="419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Bridging the </a:t>
            </a:r>
            <a:r>
              <a:rPr sz="1275" b="1">
                <a:solidFill>
                  <a:srgbClr val="3498DB"/>
                </a:solidFill>
                <a:latin typeface="Arimo-Bold"/>
              </a:rPr>
              <a:t>open-source ecosystem</a:t>
            </a:r>
            <a:r>
              <a:rPr sz="1275">
                <a:solidFill>
                  <a:srgbClr val="FFFFFF"/>
                </a:solidFill>
                <a:latin typeface="Arimo"/>
              </a:rPr>
              <a:t> </a:t>
            </a:r>
          </a:p>
          <a:p>
            <a:r>
              <a:rPr sz="1275">
                <a:solidFill>
                  <a:srgbClr val="FFFFFF"/>
                </a:solidFill>
                <a:latin typeface="Arimo"/>
              </a:rPr>
              <a:t> </a:t>
            </a:r>
            <a:r>
              <a:rPr sz="1275" b="1">
                <a:solidFill>
                  <a:srgbClr val="3498DB"/>
                </a:solidFill>
                <a:latin typeface="Arimo-Bold"/>
              </a:rPr>
              <a:t>AMD HW ecosystem</a:t>
            </a:r>
            <a:r>
              <a:rPr sz="1275">
                <a:solidFill>
                  <a:srgbClr val="FFFFFF"/>
                </a:solidFill>
                <a:latin typeface="Arimo"/>
              </a:rPr>
              <a:t> — making</a:t>
            </a:r>
          </a:p>
          <a:p>
            <a:r>
              <a:rPr sz="1275">
                <a:solidFill>
                  <a:srgbClr val="FFFFFF"/>
                </a:solidFill>
                <a:latin typeface="Arimo"/>
              </a:rPr>
              <a:t>these tools easy to use across the AMD stack.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443" y="3577688"/>
            <a:ext cx="2378623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 b="1">
                <a:solidFill>
                  <a:srgbClr val="3498DB"/>
                </a:solidFill>
                <a:latin typeface="Arimo-Bold"/>
              </a:rPr>
              <a:t>4. Vertical Application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443" y="3968213"/>
            <a:ext cx="5003806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A platform that </a:t>
            </a:r>
            <a:r>
              <a:rPr sz="1275" b="1">
                <a:solidFill>
                  <a:srgbClr val="3498DB"/>
                </a:solidFill>
                <a:latin typeface="Arimo-Bold"/>
              </a:rPr>
              <a:t>evolves with the client</a:t>
            </a:r>
            <a:r>
              <a:rPr sz="1275">
                <a:solidFill>
                  <a:srgbClr val="FFFFFF"/>
                </a:solidFill>
                <a:latin typeface="Arimo"/>
              </a:rPr>
              <a:t> — solving, fixing, and growing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443" y="4215863"/>
            <a:ext cx="2106162" cy="18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75">
                <a:solidFill>
                  <a:srgbClr val="FFFFFF"/>
                </a:solidFill>
                <a:latin typeface="Arimo"/>
              </a:rPr>
              <a:t>together in targeted domains: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6702" y="4666476"/>
            <a:ext cx="1999701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FFFFFF"/>
                </a:solidFill>
                <a:latin typeface="Arimo-Bold"/>
              </a:rPr>
              <a:t>Domain</a:t>
            </a:r>
          </a:p>
          <a:p>
            <a:r>
              <a:rPr sz="1083" b="1">
                <a:solidFill>
                  <a:srgbClr val="FFFFFF"/>
                </a:solidFill>
                <a:latin typeface="Arimo-Bold"/>
              </a:rPr>
              <a:t>Focus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793" y="4999851"/>
            <a:ext cx="2771620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Healthcare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Medical imaging, diagnostics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793" y="5333226"/>
            <a:ext cx="2656802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Automotive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Perception, safety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793" y="5657076"/>
            <a:ext cx="2832979" cy="15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3" b="1">
                <a:solidFill>
                  <a:srgbClr val="3498DB"/>
                </a:solidFill>
                <a:latin typeface="Arimo-Bold"/>
              </a:rPr>
              <a:t>Industrial</a:t>
            </a:r>
          </a:p>
          <a:p>
            <a:r>
              <a:rPr sz="1083">
                <a:solidFill>
                  <a:srgbClr val="FFFFFF"/>
                </a:solidFill>
                <a:latin typeface="Arimo"/>
              </a:rPr>
              <a:t>Inspection, anomaly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79001" y="6317679"/>
            <a:ext cx="127101" cy="255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777777"/>
                </a:solidFill>
                <a:latin typeface="Arim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_x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600" y="6115050"/>
            <a:ext cx="167640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546591"/>
            <a:ext cx="1524399" cy="3128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4" b="1">
                <a:solidFill>
                  <a:srgbClr val="FFFFFF"/>
                </a:solidFill>
                <a:latin typeface="Arimo-Bold"/>
              </a:rPr>
              <a:t>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1124789"/>
            <a:ext cx="3850513" cy="2458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32" b="1">
                <a:solidFill>
                  <a:srgbClr val="AAAAAA"/>
                </a:solidFill>
                <a:latin typeface="Arimo-Bold"/>
              </a:rPr>
              <a:t>Current Challenges on Edge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1581047"/>
            <a:ext cx="2567520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ROCm Installation Stability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038247"/>
            <a:ext cx="4235563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ROCm install on edge devices is </a:t>
            </a:r>
            <a:r>
              <a:rPr sz="1575" b="1">
                <a:solidFill>
                  <a:srgbClr val="3498DB"/>
                </a:solidFill>
                <a:latin typeface="Arimo-Bold"/>
              </a:rPr>
              <a:t>not yet stable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390672"/>
            <a:ext cx="5034829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Driver/firmware mismatches on some hardware revisions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752622"/>
            <a:ext cx="4675940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Workaround: pinned ROCm versions in install scripts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3114572"/>
            <a:ext cx="2500512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Reboot During Installation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562247"/>
            <a:ext cx="4424268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ROCm installation requires a </a:t>
            </a:r>
            <a:r>
              <a:rPr sz="1575" b="1">
                <a:solidFill>
                  <a:srgbClr val="3498DB"/>
                </a:solidFill>
                <a:latin typeface="Arimo-Bold"/>
              </a:rPr>
              <a:t>system reboot</a:t>
            </a:r>
            <a:r>
              <a:rPr sz="1575">
                <a:solidFill>
                  <a:srgbClr val="FFFFFF"/>
                </a:solidFill>
                <a:latin typeface="Arimo"/>
              </a:rPr>
              <a:t> mid-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867047"/>
            <a:ext cx="700287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228997"/>
            <a:ext cx="3324014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Breaks unattended / CI-driven installs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590947"/>
            <a:ext cx="4435554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Users unfamiliar with the flow find this unexpected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6018" y="1581047"/>
            <a:ext cx="2793267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Sudo / Root Access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6068" y="2038247"/>
            <a:ext cx="4157933" cy="518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Both ROCm and RyzenAI installers need </a:t>
            </a:r>
            <a:r>
              <a:rPr sz="1575" b="1">
                <a:solidFill>
                  <a:srgbClr val="3498DB"/>
                </a:solidFill>
                <a:latin typeface="Arimo-Bold"/>
              </a:rPr>
              <a:t>sudo</a:t>
            </a:r>
          </a:p>
          <a:p>
            <a:r>
              <a:rPr sz="1575" b="1">
                <a:solidFill>
                  <a:srgbClr val="3498DB"/>
                </a:solidFill>
                <a:latin typeface="Arimo-Bold"/>
              </a:rPr>
              <a:t>privileges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6068" y="2695472"/>
            <a:ext cx="2089863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Containers mitigate this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" y="5181497"/>
            <a:ext cx="10811529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 b="1">
                <a:solidFill>
                  <a:srgbClr val="3498DB"/>
                </a:solidFill>
                <a:latin typeface="Arimo-Bold"/>
              </a:rPr>
              <a:t>Docker path sidesteps all three issues</a:t>
            </a:r>
            <a:r>
              <a:rPr sz="1575">
                <a:solidFill>
                  <a:srgbClr val="FFFFFF"/>
                </a:solidFill>
                <a:latin typeface="Arimo"/>
              </a:rPr>
              <a:t> — pre-built image with ROCm + RyzenAI already configured, no reboot, no sudo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" y="5486297"/>
            <a:ext cx="711689" cy="223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75">
                <a:solidFill>
                  <a:srgbClr val="FFFFFF"/>
                </a:solidFill>
                <a:latin typeface="Arimo"/>
              </a:rPr>
              <a:t>on host.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9001" y="6317679"/>
            <a:ext cx="127101" cy="255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777777"/>
                </a:solidFill>
                <a:latin typeface="Arim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_x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600" y="6115050"/>
            <a:ext cx="1676400" cy="476250"/>
          </a:xfrm>
          <a:prstGeom prst="rect">
            <a:avLst/>
          </a:prstGeom>
        </p:spPr>
      </p:pic>
      <p:pic>
        <p:nvPicPr>
          <p:cNvPr id="3" name="Picture 2" descr="p5_x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676400"/>
            <a:ext cx="762000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81398" y="526194"/>
            <a:ext cx="7429070" cy="67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784" b="1">
                <a:solidFill>
                  <a:srgbClr val="FFFFFF"/>
                </a:solidFill>
                <a:latin typeface="Arimo-Bold"/>
              </a:rPr>
              <a:t>SW Stack (For Reference)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9001" y="6317679"/>
            <a:ext cx="127101" cy="255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777777"/>
                </a:solidFill>
                <a:latin typeface="Arimo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
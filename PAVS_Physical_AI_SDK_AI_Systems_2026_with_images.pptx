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29" r:id="rId16"/>
  </p:sldMasterIdLst>
  <p:notesMasterIdLst>
    <p:notesMasterId r:id="rId34"/>
  </p:notesMasterIdLst>
  <p:handoutMasterIdLst>
    <p:handoutMasterId r:id="rId35"/>
  </p:handoutMasterIdLst>
  <p:sldIdLst>
    <p:sldId id="330" r:id="rId17"/>
    <p:sldId id="2147483643" r:id="rId18"/>
    <p:sldId id="332" r:id="rId19"/>
    <p:sldId id="333" r:id="rId20"/>
    <p:sldId id="334" r:id="rId21"/>
    <p:sldId id="257" r:id="rId22"/>
    <p:sldId id="2147477833" r:id="rId23"/>
    <p:sldId id="259" r:id="rId24"/>
    <p:sldId id="261" r:id="rId25"/>
    <p:sldId id="262" r:id="rId26"/>
    <p:sldId id="263" r:id="rId27"/>
    <p:sldId id="267" r:id="rId28"/>
    <p:sldId id="260" r:id="rId29"/>
    <p:sldId id="256" r:id="rId30"/>
    <p:sldId id="258" r:id="rId31"/>
    <p:sldId id="272" r:id="rId32"/>
    <p:sldId id="2147483642" r:id="rId33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8ED933F-4F1C-4DDE-BF23-0F1F06AAFA39}">
          <p14:sldIdLst>
            <p14:sldId id="330"/>
            <p14:sldId id="2147483643"/>
            <p14:sldId id="332"/>
            <p14:sldId id="333"/>
            <p14:sldId id="334"/>
            <p14:sldId id="257"/>
            <p14:sldId id="2147477833"/>
            <p14:sldId id="259"/>
            <p14:sldId id="261"/>
            <p14:sldId id="262"/>
            <p14:sldId id="263"/>
            <p14:sldId id="267"/>
            <p14:sldId id="260"/>
            <p14:sldId id="256"/>
            <p14:sldId id="258"/>
            <p14:sldId id="272"/>
            <p14:sldId id="214748364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1F8F2F-AF8E-86B5-DB1F-925EA42192D5}" name="Ip, Clarence" initials="CI" userId="S::clarence@amd.com::a9c4a036-5c54-462a-96da-804d8bb66a72" providerId="AD"/>
  <p188:author id="{6557BD6D-869E-5D96-1E78-53781AEA71F5}" name="Gutta, Venkata Narendra Kumar" initials="GK" userId="S::vengutta@amd.com::ea8e4704-adaf-48e5-bf77-f38b7a1f1019" providerId="AD"/>
  <p188:author id="{E1CD24C7-47EA-2B49-33AD-30288B4B3ABA}" name="Yan, Zhaohui" initials="" userId="S::zhaohyan@amd.com::f56ad578-d0ca-4825-ac93-1312648419f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4A3E1E"/>
    <a:srgbClr val="0D454A"/>
    <a:srgbClr val="2B313A"/>
    <a:srgbClr val="171B20"/>
    <a:srgbClr val="8D8C95"/>
    <a:srgbClr val="000000"/>
    <a:srgbClr val="131313"/>
    <a:srgbClr val="242428"/>
    <a:srgbClr val="1918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925733-317E-283E-B7D7-7E2CE9C6EB42}" v="107" dt="2026-03-09T12:28:18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slideMaster" Target="slideMasters/slideMaster1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commentAuthors" Target="commentAuthors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6/11/relationships/changesInfo" Target="changesInfos/changesInfo1.xml"/><Relationship Id="rId42" Type="http://schemas.microsoft.com/office/2015/10/relationships/revisionInfo" Target="revisionInfo.xml"/><Relationship Id="rId43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ydana, Hari Krishna" userId="S::hvydana@amd.com::6ebf3a72-0355-4dcc-8671-e076bae5a601" providerId="AD" clId="Web-{B8925733-317E-283E-B7D7-7E2CE9C6EB42}"/>
    <pc:docChg chg="addSld delSld modSld modSection">
      <pc:chgData name="Vydana, Hari Krishna" userId="S::hvydana@amd.com::6ebf3a72-0355-4dcc-8671-e076bae5a601" providerId="AD" clId="Web-{B8925733-317E-283E-B7D7-7E2CE9C6EB42}" dt="2026-03-09T12:28:17.396" v="78" actId="20577"/>
      <pc:docMkLst>
        <pc:docMk/>
      </pc:docMkLst>
      <pc:sldChg chg="modSp del">
        <pc:chgData name="Vydana, Hari Krishna" userId="S::hvydana@amd.com::6ebf3a72-0355-4dcc-8671-e076bae5a601" providerId="AD" clId="Web-{B8925733-317E-283E-B7D7-7E2CE9C6EB42}" dt="2026-03-09T12:26:55.390" v="39"/>
        <pc:sldMkLst>
          <pc:docMk/>
          <pc:sldMk cId="1785018412" sldId="266"/>
        </pc:sldMkLst>
        <pc:spChg chg="mod">
          <ac:chgData name="Vydana, Hari Krishna" userId="S::hvydana@amd.com::6ebf3a72-0355-4dcc-8671-e076bae5a601" providerId="AD" clId="Web-{B8925733-317E-283E-B7D7-7E2CE9C6EB42}" dt="2026-03-09T12:26:50.890" v="38" actId="20577"/>
          <ac:spMkLst>
            <pc:docMk/>
            <pc:sldMk cId="1785018412" sldId="266"/>
            <ac:spMk id="47" creationId="{E3824846-7C7B-FAE5-01FF-EC24E02010F4}"/>
          </ac:spMkLst>
        </pc:spChg>
      </pc:sldChg>
      <pc:sldChg chg="modSp">
        <pc:chgData name="Vydana, Hari Krishna" userId="S::hvydana@amd.com::6ebf3a72-0355-4dcc-8671-e076bae5a601" providerId="AD" clId="Web-{B8925733-317E-283E-B7D7-7E2CE9C6EB42}" dt="2026-03-09T12:26:28.450" v="36" actId="20577"/>
        <pc:sldMkLst>
          <pc:docMk/>
          <pc:sldMk cId="2127601082" sldId="330"/>
        </pc:sldMkLst>
        <pc:spChg chg="mod">
          <ac:chgData name="Vydana, Hari Krishna" userId="S::hvydana@amd.com::6ebf3a72-0355-4dcc-8671-e076bae5a601" providerId="AD" clId="Web-{B8925733-317E-283E-B7D7-7E2CE9C6EB42}" dt="2026-03-09T12:26:28.450" v="36" actId="20577"/>
          <ac:spMkLst>
            <pc:docMk/>
            <pc:sldMk cId="2127601082" sldId="330"/>
            <ac:spMk id="4" creationId="{92D4D9CA-F34A-7824-0DAE-1C328DB20EF9}"/>
          </ac:spMkLst>
        </pc:spChg>
      </pc:sldChg>
      <pc:sldChg chg="modSp add replId">
        <pc:chgData name="Vydana, Hari Krishna" userId="S::hvydana@amd.com::6ebf3a72-0355-4dcc-8671-e076bae5a601" providerId="AD" clId="Web-{B8925733-317E-283E-B7D7-7E2CE9C6EB42}" dt="2026-03-09T12:28:17.396" v="78" actId="20577"/>
        <pc:sldMkLst>
          <pc:docMk/>
          <pc:sldMk cId="2698931691" sldId="2147483643"/>
        </pc:sldMkLst>
        <pc:spChg chg="mod">
          <ac:chgData name="Vydana, Hari Krishna" userId="S::hvydana@amd.com::6ebf3a72-0355-4dcc-8671-e076bae5a601" providerId="AD" clId="Web-{B8925733-317E-283E-B7D7-7E2CE9C6EB42}" dt="2026-03-09T12:28:17.396" v="78" actId="20577"/>
          <ac:spMkLst>
            <pc:docMk/>
            <pc:sldMk cId="2698931691" sldId="2147483643"/>
            <ac:spMk id="2" creationId="{F35B7BB8-9433-BE5D-4678-745735DDDC52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3/9/2026 5:25 AM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3/9/2026 5:02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975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395A5-0FE2-B372-71AD-0518898E1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5A6F0-6A6D-D5E9-B77D-F3B3BDD31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EE76A-D797-DE78-EE90-3F1E6F848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C3E6C-05D3-CC20-6958-C9F11AE4060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B3AD5-63DD-1A68-C7FD-1503E562E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04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90191-AFE5-72EE-A45D-DB77F5A5F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E3493-4503-5B15-71CE-F285AD1E5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AAF16-802E-BB23-8855-D8B508B8C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D4017-E8CE-A30C-1035-F1FE166FA6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B207E-EB57-D212-114A-9B4C2BD2A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210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25ACD-AF0D-C937-8328-47E3C6EC0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F009E4-B06E-CC65-9BE6-12D5C3C3A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10463-C8FF-4A0A-D3C0-8592598CF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0353C-7629-338F-472B-E364D5AA6E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2356E6-3836-D0C1-7636-020350AFD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98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EC085-10FF-6D63-C605-7A8AA2E2F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CFA6AB-79B9-9719-1E4A-E424C5275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523C5-8668-E77D-AC4F-1D6C5FC8E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30D9B-DCB2-AAB7-75CA-3D4682D1E3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0F78FF-0A1E-12BD-DDF5-5AED96EDF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58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48485-F65D-D007-83C1-0D3A0AF61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D8BA0-90F1-74B4-43BA-F77FD1428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8F436-1B57-8540-55E5-FE5D1E080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369A43-718C-D4B9-3124-6BF9C50E38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8BCB9B-F563-2C07-0145-50F3D1EF1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713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DFB4F-6D74-1A20-BD08-50F9F12E7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518E6-2C26-F2F9-4070-E9BB6A534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65972-9CF0-A4B3-3366-FBAA55740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80C798-43E0-EC4B-1C4A-A8B70012D7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0C1AD-0C97-2E93-EFBF-E0D0E0BF1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217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966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6AE7D-7D3B-D3E5-F646-DC82711EF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F1E03-BF7C-CE5C-7D55-84196BB1C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90048-D450-C054-81AF-710C67A71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E01D84-3C55-0357-A6D0-53B4C7EBDC0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7B171-29C5-A1EA-E5AC-B27BB14D0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85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458D4-A3A4-BC3A-5226-81D2DCD3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BC0F6-5233-3297-1065-188DD3118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9F29EA-8BFB-6052-3C38-C63B957AE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9F2FEA-D25B-9085-3FB6-A50958DBEB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FA868-1557-50F1-BD31-EF3C69EF58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551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2EC8C-9F82-E322-ABD0-25AD4893C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3E8ED-ED04-38EB-493D-C01AB32EC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8500"/>
            <a:ext cx="6194425" cy="3484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93603-838D-02D5-F9E1-E8BC7F2F7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7C52B-3913-5EF7-1ECB-2D2910FE1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9AFB38-0ABE-46A6-A2CD-91E75B392D1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6442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2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8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 userDrawn="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0" userDrawn="1">
          <p15:clr>
            <a:srgbClr val="C35EA4"/>
          </p15:clr>
        </p15:guide>
        <p15:guide id="11" pos="2993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980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and drop your photo here</a:t>
            </a:r>
            <a:br>
              <a:rPr lang="en-US"/>
            </a:br>
            <a:r>
              <a:rPr lang="en-US"/>
              <a:t>or click or tap icon below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Drag &amp; drop a</a:t>
            </a:r>
            <a:br>
              <a:rPr lang="en-US"/>
            </a:br>
            <a:r>
              <a:rPr lang="en-US"/>
              <a:t>screenshot here</a:t>
            </a:r>
            <a:br>
              <a:rPr lang="en-US"/>
            </a:br>
            <a:r>
              <a:rPr lang="en-US"/>
              <a:t>or click or tap icon</a:t>
            </a:r>
            <a:br>
              <a:rPr lang="en-US"/>
            </a:br>
            <a:r>
              <a:rPr lang="en-US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0955" y="3104745"/>
            <a:ext cx="6181081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Divider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290955" y="3680069"/>
            <a:ext cx="6181081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73518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1814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3058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642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4937760"/>
          </a:xfrm>
        </p:spPr>
        <p:txBody>
          <a:bodyPr/>
          <a:lstStyle>
            <a:lvl1pPr marL="288925" indent="-288925">
              <a:buClr>
                <a:schemeClr val="tx1"/>
              </a:buClr>
              <a:buSzPct val="80000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804863" indent="-168275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1082675" indent="-182563"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3980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theme" Target="../theme/theme1.xml"/><Relationship Id="rId3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4" name="Picture 5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07773B8-9BA9-711F-EB8B-F0AE5A2A58D1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27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920" r:id="rId1"/>
    <p:sldLayoutId id="2147484926" r:id="rId2"/>
    <p:sldLayoutId id="2147484928" r:id="rId3"/>
    <p:sldLayoutId id="2147484710" r:id="rId4"/>
    <p:sldLayoutId id="2147484240" r:id="rId5"/>
    <p:sldLayoutId id="2147484736" r:id="rId6"/>
    <p:sldLayoutId id="2147484474" r:id="rId7"/>
    <p:sldLayoutId id="2147484639" r:id="rId8"/>
    <p:sldLayoutId id="2147484603" r:id="rId9"/>
    <p:sldLayoutId id="2147484919" r:id="rId10"/>
    <p:sldLayoutId id="2147484751" r:id="rId11"/>
    <p:sldLayoutId id="2147484914" r:id="rId12"/>
    <p:sldLayoutId id="2147484835" r:id="rId13"/>
    <p:sldLayoutId id="2147484929" r:id="rId14"/>
    <p:sldLayoutId id="2147484836" r:id="rId15"/>
    <p:sldLayoutId id="2147484837" r:id="rId16"/>
    <p:sldLayoutId id="2147484838" r:id="rId17"/>
    <p:sldLayoutId id="2147484923" r:id="rId18"/>
    <p:sldLayoutId id="2147484925" r:id="rId19"/>
    <p:sldLayoutId id="2147484839" r:id="rId20"/>
    <p:sldLayoutId id="2147484922" r:id="rId21"/>
    <p:sldLayoutId id="2147484783" r:id="rId22"/>
    <p:sldLayoutId id="2147484784" r:id="rId23"/>
    <p:sldLayoutId id="2147484787" r:id="rId24"/>
    <p:sldLayoutId id="2147484249" r:id="rId25"/>
    <p:sldLayoutId id="2147484932" r:id="rId26"/>
    <p:sldLayoutId id="2147484927" r:id="rId27"/>
    <p:sldLayoutId id="2147484671" r:id="rId28"/>
    <p:sldLayoutId id="2147484585" r:id="rId29"/>
    <p:sldLayoutId id="2147484924" r:id="rId30"/>
    <p:sldLayoutId id="2147484299" r:id="rId31"/>
    <p:sldLayoutId id="2147484934" r:id="rId32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5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ustomXml" Target="../../customXml/item8.xml"/><Relationship Id="rId2" Type="http://schemas.openxmlformats.org/officeDocument/2006/relationships/customXml" Target="../../customXml/item5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ustomXml" Target="../../customXml/item14.xml"/><Relationship Id="rId2" Type="http://schemas.openxmlformats.org/officeDocument/2006/relationships/customXml" Target="../../customXml/item15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ustomXml" Target="../../customXml/item11.xml"/><Relationship Id="rId2" Type="http://schemas.openxmlformats.org/officeDocument/2006/relationships/customXml" Target="../../customXml/item7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D4D9CA-F34A-7824-0DAE-1C328DB20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5"/>
            <a:ext cx="7785402" cy="1416839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cs typeface="Segoe UI"/>
              </a:rPr>
              <a:t>Physical AI SDK:  AI Model and Systems Roadmap</a:t>
            </a:r>
            <a:br>
              <a:rPr lang="en-US" sz="1500" dirty="0"/>
            </a:br>
            <a:br>
              <a:rPr lang="en-US" sz="1500" dirty="0"/>
            </a:br>
            <a:br>
              <a:rPr lang="en-US" sz="1500" dirty="0"/>
            </a:br>
            <a:r>
              <a:rPr lang="en-US" sz="2400">
                <a:cs typeface="Segoe UI"/>
              </a:rPr>
              <a:t>Hari Krishna Vydana</a:t>
            </a:r>
            <a:br>
              <a:rPr lang="en-US" sz="1500" dirty="0">
                <a:cs typeface="Segoe UI"/>
              </a:rPr>
            </a:br>
            <a:r>
              <a:rPr lang="en-US" sz="1500">
                <a:cs typeface="Segoe UI"/>
              </a:rPr>
              <a:t>AECG/PAVS AI SW </a:t>
            </a:r>
            <a:br>
              <a:rPr lang="en-US" sz="1500" dirty="0"/>
            </a:br>
            <a:endParaRPr lang="en-US" sz="1500"/>
          </a:p>
        </p:txBody>
      </p:sp>
      <p:pic>
        <p:nvPicPr>
          <p:cNvPr id="15" name="Picture 14" descr="Blue blocks and networks technology background">
            <a:extLst>
              <a:ext uri="{FF2B5EF4-FFF2-40B4-BE49-F238E27FC236}">
                <a16:creationId xmlns:a16="http://schemas.microsoft.com/office/drawing/2014/main" id="{C3A46139-CA49-DC01-D4B9-E856AA8702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651" b="8683"/>
          <a:stretch>
            <a:fillRect/>
          </a:stretch>
        </p:blipFill>
        <p:spPr>
          <a:xfrm>
            <a:off x="20" y="10"/>
            <a:ext cx="12191980" cy="4571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760108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13F1B-04ED-BACE-E7E2-BDAD9188E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B7BB8-9433-BE5D-4678-745735DDD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63" y="787666"/>
            <a:ext cx="11018520" cy="861774"/>
          </a:xfrm>
        </p:spPr>
        <p:txBody>
          <a:bodyPr/>
          <a:lstStyle/>
          <a:p>
            <a:r>
              <a:rPr lang="en-US">
                <a:solidFill>
                  <a:srgbClr val="FFFFFF"/>
                </a:solidFill>
                <a:latin typeface="Arial"/>
                <a:cs typeface="Segoe UI"/>
              </a:rPr>
              <a:t>Model Lifecycle Overview</a:t>
            </a:r>
            <a:endParaRPr lang="en-US">
              <a:solidFill>
                <a:srgbClr val="FFFFFF"/>
              </a:solidFill>
              <a:latin typeface="Arial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ECEA2-5020-CA4F-D561-D882F685C0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6263" y="1674943"/>
            <a:ext cx="11018838" cy="4179947"/>
          </a:xfrm>
        </p:spPr>
        <p:txBody>
          <a:bodyPr/>
          <a:lstStyle/>
          <a:p>
            <a:r>
              <a:rPr lang="en-US"/>
              <a:t>AI Model Inference Frameworks Compatibility/Support by Physical AI SDK </a:t>
            </a:r>
          </a:p>
          <a:p>
            <a:pPr lvl="1"/>
            <a:r>
              <a:rPr lang="en-US" err="1"/>
              <a:t>vLLM</a:t>
            </a:r>
            <a:r>
              <a:rPr lang="en-US"/>
              <a:t> : Compatible version 0.11.x with </a:t>
            </a:r>
            <a:r>
              <a:rPr lang="en-US" err="1"/>
              <a:t>ROCm</a:t>
            </a:r>
            <a:r>
              <a:rPr lang="en-US"/>
              <a:t> 7.1.x, Triton API, OpenAI API, Eagle3 </a:t>
            </a:r>
          </a:p>
          <a:p>
            <a:pPr lvl="1"/>
            <a:r>
              <a:rPr lang="en-US"/>
              <a:t>ONNX-RT : Compatible version with </a:t>
            </a:r>
            <a:r>
              <a:rPr lang="en-US" err="1"/>
              <a:t>RyzenAI</a:t>
            </a:r>
            <a:r>
              <a:rPr lang="en-US"/>
              <a:t> 1.7/1.8 Releases </a:t>
            </a:r>
          </a:p>
          <a:p>
            <a:pPr lvl="1"/>
            <a:r>
              <a:rPr lang="en-US"/>
              <a:t>Llama.cpp : Compatible version with </a:t>
            </a:r>
            <a:r>
              <a:rPr lang="en-US" err="1"/>
              <a:t>ROCm</a:t>
            </a:r>
            <a:r>
              <a:rPr lang="en-US"/>
              <a:t> 7.1.x</a:t>
            </a:r>
          </a:p>
          <a:p>
            <a:pPr lvl="1"/>
            <a:r>
              <a:rPr lang="en-US"/>
              <a:t>Lemonade : Compatible version with </a:t>
            </a:r>
            <a:r>
              <a:rPr lang="en-US" err="1"/>
              <a:t>RyzenAI</a:t>
            </a:r>
            <a:r>
              <a:rPr lang="en-US"/>
              <a:t> 1.7/1.8 Releases, </a:t>
            </a:r>
            <a:r>
              <a:rPr lang="en-US" err="1"/>
              <a:t>ROCm</a:t>
            </a:r>
            <a:r>
              <a:rPr lang="en-US"/>
              <a:t> 7.1.x </a:t>
            </a:r>
          </a:p>
          <a:p>
            <a:r>
              <a:rPr lang="en-US"/>
              <a:t>AI Workload Inference Runtime and AMD SW Stacks Supported by Physical AI SDK </a:t>
            </a:r>
          </a:p>
          <a:p>
            <a:pPr lvl="1"/>
            <a:r>
              <a:rPr lang="en-US" err="1"/>
              <a:t>RyzenAI</a:t>
            </a:r>
            <a:r>
              <a:rPr lang="en-US"/>
              <a:t> (w/ </a:t>
            </a:r>
            <a:r>
              <a:rPr lang="en-US" err="1"/>
              <a:t>VitisAI</a:t>
            </a:r>
            <a:r>
              <a:rPr lang="en-US"/>
              <a:t> for NPU/CPU) : Releases 1.7/1.8, with Hybrid mode, custom kernels, for Linux (kernel 6.12vs6.14vs6.18) </a:t>
            </a:r>
          </a:p>
          <a:p>
            <a:pPr lvl="1"/>
            <a:r>
              <a:rPr lang="en-US" err="1"/>
              <a:t>ROCm</a:t>
            </a:r>
            <a:r>
              <a:rPr lang="en-US"/>
              <a:t> : (formal support of STX-Halo): Release 7.1.x, with Linux Kernel 6.18</a:t>
            </a:r>
          </a:p>
          <a:p>
            <a:pPr lvl="2"/>
            <a:r>
              <a:rPr lang="en-US"/>
              <a:t>NOTE: Linux LTS Kernel convergence/migration: 6.12</a:t>
            </a:r>
            <a:r>
              <a:rPr lang="en-US">
                <a:sym typeface="Wingdings" panose="05000000000000000000" pitchFamily="2" charset="2"/>
              </a:rPr>
              <a:t>6.18 </a:t>
            </a:r>
            <a:endParaRPr lang="en-US"/>
          </a:p>
          <a:p>
            <a:pPr lvl="1"/>
            <a:endParaRPr lang="en-US"/>
          </a:p>
          <a:p>
            <a:endParaRPr lang="en-US"/>
          </a:p>
        </p:txBody>
      </p:sp>
      <p:pic>
        <p:nvPicPr>
          <p:cNvPr id="4" name="Picture 3" descr="enab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" y="1307592"/>
            <a:ext cx="384048" cy="384048"/>
          </a:xfrm>
          <a:prstGeom prst="rect">
            <a:avLst/>
          </a:prstGeom>
        </p:spPr>
      </p:pic>
      <p:pic>
        <p:nvPicPr>
          <p:cNvPr id="5" name="Picture 4" descr="profi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307592"/>
            <a:ext cx="384048" cy="384048"/>
          </a:xfrm>
          <a:prstGeom prst="rect">
            <a:avLst/>
          </a:prstGeom>
        </p:spPr>
      </p:pic>
      <p:pic>
        <p:nvPicPr>
          <p:cNvPr id="6" name="Picture 5" descr="benchmar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3316" y="1307592"/>
            <a:ext cx="384048" cy="384048"/>
          </a:xfrm>
          <a:prstGeom prst="rect">
            <a:avLst/>
          </a:prstGeom>
        </p:spPr>
      </p:pic>
      <p:pic>
        <p:nvPicPr>
          <p:cNvPr id="7" name="Picture 6" descr="finetu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5156" y="1307592"/>
            <a:ext cx="384048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3169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13C56-5544-B68F-03FF-A35A4FBDE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0276C-CDF1-5BFC-62ED-2DC50F1D2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5" y="386487"/>
            <a:ext cx="11018520" cy="384721"/>
          </a:xfrm>
        </p:spPr>
        <p:txBody>
          <a:bodyPr/>
          <a:lstStyle/>
          <a:p>
            <a:r>
              <a:rPr lang="en-US" sz="2500"/>
              <a:t>Physical AI SDK – AI Models for Robotics Segment   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DEC0B0-D3EB-F971-09F9-27CCF190B3C9}"/>
              </a:ext>
            </a:extLst>
          </p:cNvPr>
          <p:cNvGraphicFramePr>
            <a:graphicFrameLocks noGrp="1"/>
          </p:cNvGraphicFramePr>
          <p:nvPr/>
        </p:nvGraphicFramePr>
        <p:xfrm>
          <a:off x="585215" y="1242661"/>
          <a:ext cx="10274851" cy="4626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34600">
                  <a:extLst>
                    <a:ext uri="{9D8B030D-6E8A-4147-A177-3AD203B41FA5}">
                      <a16:colId xmlns:a16="http://schemas.microsoft.com/office/drawing/2014/main" val="2970054981"/>
                    </a:ext>
                  </a:extLst>
                </a:gridCol>
                <a:gridCol w="1420675">
                  <a:extLst>
                    <a:ext uri="{9D8B030D-6E8A-4147-A177-3AD203B41FA5}">
                      <a16:colId xmlns:a16="http://schemas.microsoft.com/office/drawing/2014/main" val="1242559970"/>
                    </a:ext>
                  </a:extLst>
                </a:gridCol>
                <a:gridCol w="2324576">
                  <a:extLst>
                    <a:ext uri="{9D8B030D-6E8A-4147-A177-3AD203B41FA5}">
                      <a16:colId xmlns:a16="http://schemas.microsoft.com/office/drawing/2014/main" val="1385708731"/>
                    </a:ext>
                  </a:extLst>
                </a:gridCol>
                <a:gridCol w="2150549">
                  <a:extLst>
                    <a:ext uri="{9D8B030D-6E8A-4147-A177-3AD203B41FA5}">
                      <a16:colId xmlns:a16="http://schemas.microsoft.com/office/drawing/2014/main" val="1341712179"/>
                    </a:ext>
                  </a:extLst>
                </a:gridCol>
                <a:gridCol w="1444451">
                  <a:extLst>
                    <a:ext uri="{9D8B030D-6E8A-4147-A177-3AD203B41FA5}">
                      <a16:colId xmlns:a16="http://schemas.microsoft.com/office/drawing/2014/main" val="1894187650"/>
                    </a:ext>
                  </a:extLst>
                </a:gridCol>
              </a:tblGrid>
              <a:tr h="264135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Model Usage Category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Architecture 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KPIs (min goal) 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Segment Priority 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06211"/>
                  </a:ext>
                </a:extLst>
              </a:tr>
              <a:tr h="24383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Instance Segmentation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ViT</a:t>
                      </a:r>
                      <a:r>
                        <a:rPr lang="en-US" sz="100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err="1">
                          <a:solidFill>
                            <a:schemeClr val="tx1"/>
                          </a:solidFill>
                        </a:rPr>
                        <a:t>MobileSAM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240fps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18117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Object detection, Pose Estimation, Segmentation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YoloV12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240fps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64597"/>
                  </a:ext>
                </a:extLst>
              </a:tr>
              <a:tr h="24383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Vision 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ViT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CrossFormer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60fps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50041"/>
                  </a:ext>
                </a:extLst>
              </a:tr>
              <a:tr h="356521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3D Object Detection + Tracking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3D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CenterPoint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30fps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076843"/>
                  </a:ext>
                </a:extLst>
              </a:tr>
              <a:tr h="24383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Vision Navigation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ViT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ViNT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30fps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P1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812780"/>
                  </a:ext>
                </a:extLst>
              </a:tr>
              <a:tr h="24383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Vision Language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err="1"/>
                        <a:t>OpenVLA</a:t>
                      </a:r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TTFT:0.5s, 10Hz (Action)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145159"/>
                  </a:ext>
                </a:extLst>
              </a:tr>
              <a:tr h="24383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Vision Language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Pi-0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TTFT:0.5s, 10Hz (Action)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P0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868897"/>
                  </a:ext>
                </a:extLst>
              </a:tr>
              <a:tr h="356521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Automatic Speech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Insanely Fast Whisper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TTFT:0.1s, TPS:100tk/s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590782"/>
                  </a:ext>
                </a:extLst>
              </a:tr>
              <a:tr h="24383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Text to Speech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err="1">
                          <a:solidFill>
                            <a:schemeClr val="tx1"/>
                          </a:solidFill>
                        </a:rPr>
                        <a:t>Xtts</a:t>
                      </a: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TTFT:0.1s, TPS:100tk/s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625396"/>
                  </a:ext>
                </a:extLst>
              </a:tr>
              <a:tr h="24383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Multimodal LLM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LLaMA3.2-Vision 11B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TTFT:1s, TPS:25tk/s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200194"/>
                  </a:ext>
                </a:extLst>
              </a:tr>
              <a:tr h="24383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Vision Language Action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CogACT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TTFT:0.5s, 10Hz(Action)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28658"/>
                  </a:ext>
                </a:extLst>
              </a:tr>
              <a:tr h="337217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Object Pose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GDR-Net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480fps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P1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155147"/>
                  </a:ext>
                </a:extLst>
              </a:tr>
              <a:tr h="24383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LLM (DRL)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DeepSeek-R1 (Distilled, 7B)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TTFT:0.5s, TPS:50tk/s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P1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940804"/>
                  </a:ext>
                </a:extLst>
              </a:tr>
              <a:tr h="356521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VLM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Qwen3-VL , Owen3-Omni-30B-A3B-Instruct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TTFT: 0.3s, TPS:60tk/s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85237"/>
                  </a:ext>
                </a:extLst>
              </a:tr>
            </a:tbl>
          </a:graphicData>
        </a:graphic>
      </p:graphicFrame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93736657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F71D3-3489-08A0-B339-095E8B0C0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75806-7BB7-8A66-1284-E3967C593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846" y="375942"/>
            <a:ext cx="11018520" cy="384721"/>
          </a:xfrm>
        </p:spPr>
        <p:txBody>
          <a:bodyPr/>
          <a:lstStyle/>
          <a:p>
            <a:r>
              <a:rPr lang="en-US" sz="2500"/>
              <a:t>Physical AI SDK – AI Models for Industrial Segment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76A076-47E5-D048-5EEE-EE784F79D0BE}"/>
              </a:ext>
            </a:extLst>
          </p:cNvPr>
          <p:cNvGraphicFramePr>
            <a:graphicFrameLocks noGrp="1"/>
          </p:cNvGraphicFramePr>
          <p:nvPr/>
        </p:nvGraphicFramePr>
        <p:xfrm>
          <a:off x="798846" y="1287649"/>
          <a:ext cx="9532510" cy="4091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1083">
                  <a:extLst>
                    <a:ext uri="{9D8B030D-6E8A-4147-A177-3AD203B41FA5}">
                      <a16:colId xmlns:a16="http://schemas.microsoft.com/office/drawing/2014/main" val="2970054981"/>
                    </a:ext>
                  </a:extLst>
                </a:gridCol>
                <a:gridCol w="1431921">
                  <a:extLst>
                    <a:ext uri="{9D8B030D-6E8A-4147-A177-3AD203B41FA5}">
                      <a16:colId xmlns:a16="http://schemas.microsoft.com/office/drawing/2014/main" val="1242559970"/>
                    </a:ext>
                  </a:extLst>
                </a:gridCol>
                <a:gridCol w="1906502">
                  <a:extLst>
                    <a:ext uri="{9D8B030D-6E8A-4147-A177-3AD203B41FA5}">
                      <a16:colId xmlns:a16="http://schemas.microsoft.com/office/drawing/2014/main" val="1385708731"/>
                    </a:ext>
                  </a:extLst>
                </a:gridCol>
                <a:gridCol w="1906502">
                  <a:extLst>
                    <a:ext uri="{9D8B030D-6E8A-4147-A177-3AD203B41FA5}">
                      <a16:colId xmlns:a16="http://schemas.microsoft.com/office/drawing/2014/main" val="2357082409"/>
                    </a:ext>
                  </a:extLst>
                </a:gridCol>
                <a:gridCol w="1906502">
                  <a:extLst>
                    <a:ext uri="{9D8B030D-6E8A-4147-A177-3AD203B41FA5}">
                      <a16:colId xmlns:a16="http://schemas.microsoft.com/office/drawing/2014/main" val="1313722263"/>
                    </a:ext>
                  </a:extLst>
                </a:gridCol>
              </a:tblGrid>
              <a:tr h="498478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Model Usage Category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Architecture 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KPI (min goal) 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Segment Priority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06211"/>
                  </a:ext>
                </a:extLst>
              </a:tr>
              <a:tr h="292858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Instance Segmentation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ViT</a:t>
                      </a:r>
                      <a:r>
                        <a:rPr lang="en-US" sz="10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err="1">
                          <a:solidFill>
                            <a:schemeClr val="tx1"/>
                          </a:solidFill>
                        </a:rPr>
                        <a:t>MobileSAM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240fps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18117"/>
                  </a:ext>
                </a:extLst>
              </a:tr>
              <a:tr h="440266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Object detection, Pose Estimation, segment.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YoloV12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240fps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64597"/>
                  </a:ext>
                </a:extLst>
              </a:tr>
              <a:tr h="292858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Image Classification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MobileNetV3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240fps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P2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50041"/>
                  </a:ext>
                </a:extLst>
              </a:tr>
              <a:tr h="405013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Multi Object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err="1">
                          <a:solidFill>
                            <a:schemeClr val="tx1"/>
                          </a:solidFill>
                        </a:rPr>
                        <a:t>DeepSort</a:t>
                      </a: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240fps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076843"/>
                  </a:ext>
                </a:extLst>
              </a:tr>
              <a:tr h="292858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Image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EfficientNetV2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240fps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812780"/>
                  </a:ext>
                </a:extLst>
              </a:tr>
              <a:tr h="292858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Multimodal LLM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LLaMA3.2-Vision 11B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TTFT:1s, TPS:25tk/s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145159"/>
                  </a:ext>
                </a:extLst>
              </a:tr>
              <a:tr h="292858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Optical Character Recognition (OCR)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EasyOCR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120fps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P1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868897"/>
                  </a:ext>
                </a:extLst>
              </a:tr>
              <a:tr h="405013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Vision Language 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10fps (100msec)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P2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590782"/>
                  </a:ext>
                </a:extLst>
              </a:tr>
              <a:tr h="292858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Multimodal LLM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InternVideo2.5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30fps , 20tk/s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P2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625396"/>
                  </a:ext>
                </a:extLst>
              </a:tr>
              <a:tr h="292858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Anomaly Detection Localization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PaDiM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60fps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P1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200194"/>
                  </a:ext>
                </a:extLst>
              </a:tr>
              <a:tr h="292858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Stereo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CNN/RNN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RAFT Stereo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30fps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P1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2865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E4F3EAB-BF17-424E-89AA-F6534FFB7D2D}"/>
              </a:ext>
            </a:extLst>
          </p:cNvPr>
          <p:cNvSpPr txBox="1"/>
          <p:nvPr/>
        </p:nvSpPr>
        <p:spPr>
          <a:xfrm>
            <a:off x="585217" y="6576933"/>
            <a:ext cx="680313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000"/>
              <a:t>OOB: Out of the Box. 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3906879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E4716-0A8E-BF0E-37DB-E5F7B65F7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DEC139-E5BA-44F5-B58D-9BB21A566544}"/>
              </a:ext>
            </a:extLst>
          </p:cNvPr>
          <p:cNvGraphicFramePr>
            <a:graphicFrameLocks noGrp="1"/>
          </p:cNvGraphicFramePr>
          <p:nvPr/>
        </p:nvGraphicFramePr>
        <p:xfrm>
          <a:off x="585216" y="1189832"/>
          <a:ext cx="10715131" cy="48248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3894">
                  <a:extLst>
                    <a:ext uri="{9D8B030D-6E8A-4147-A177-3AD203B41FA5}">
                      <a16:colId xmlns:a16="http://schemas.microsoft.com/office/drawing/2014/main" val="2970054981"/>
                    </a:ext>
                  </a:extLst>
                </a:gridCol>
                <a:gridCol w="1446663">
                  <a:extLst>
                    <a:ext uri="{9D8B030D-6E8A-4147-A177-3AD203B41FA5}">
                      <a16:colId xmlns:a16="http://schemas.microsoft.com/office/drawing/2014/main" val="1242559970"/>
                    </a:ext>
                  </a:extLst>
                </a:gridCol>
                <a:gridCol w="2620370">
                  <a:extLst>
                    <a:ext uri="{9D8B030D-6E8A-4147-A177-3AD203B41FA5}">
                      <a16:colId xmlns:a16="http://schemas.microsoft.com/office/drawing/2014/main" val="1385708731"/>
                    </a:ext>
                  </a:extLst>
                </a:gridCol>
                <a:gridCol w="2047164">
                  <a:extLst>
                    <a:ext uri="{9D8B030D-6E8A-4147-A177-3AD203B41FA5}">
                      <a16:colId xmlns:a16="http://schemas.microsoft.com/office/drawing/2014/main" val="3734975186"/>
                    </a:ext>
                  </a:extLst>
                </a:gridCol>
                <a:gridCol w="1897040">
                  <a:extLst>
                    <a:ext uri="{9D8B030D-6E8A-4147-A177-3AD203B41FA5}">
                      <a16:colId xmlns:a16="http://schemas.microsoft.com/office/drawing/2014/main" val="2681513090"/>
                    </a:ext>
                  </a:extLst>
                </a:gridCol>
              </a:tblGrid>
              <a:tr h="80710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Model Usage Category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Architecture 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KPI (min goal) 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Segment Priority 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06211"/>
                  </a:ext>
                </a:extLst>
              </a:tr>
              <a:tr h="293492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Instance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ViT</a:t>
                      </a:r>
                      <a:r>
                        <a:rPr lang="en-US" sz="10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err="1">
                          <a:solidFill>
                            <a:schemeClr val="tx1"/>
                          </a:solidFill>
                        </a:rPr>
                        <a:t>MobileSAM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240fps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/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P0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18117"/>
                  </a:ext>
                </a:extLst>
              </a:tr>
              <a:tr h="450047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Image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3D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3D U-NET, 3D V-NET, 3D </a:t>
                      </a:r>
                      <a:r>
                        <a:rPr lang="en-US" sz="1000" err="1">
                          <a:solidFill>
                            <a:schemeClr val="tx1"/>
                          </a:solidFill>
                        </a:rPr>
                        <a:t>AlexNet</a:t>
                      </a: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, 3DPSP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240fps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/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P1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64597"/>
                  </a:ext>
                </a:extLst>
              </a:tr>
              <a:tr h="421895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Automatic Speech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Insanely Fast Whisper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baseline="0" noProof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Arial"/>
                          <a:cs typeface="Arial"/>
                        </a:rPr>
                        <a:t>TTFT:0.1s, TPS:100tk/s</a:t>
                      </a:r>
                      <a:endParaRPr lang="en-US"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/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50041"/>
                  </a:ext>
                </a:extLst>
              </a:tr>
              <a:tr h="403552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Text to Speech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err="1">
                          <a:solidFill>
                            <a:schemeClr val="tx1"/>
                          </a:solidFill>
                        </a:rPr>
                        <a:t>Xtts</a:t>
                      </a: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TTFT:0.1s, TPS:100tk/s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/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076843"/>
                  </a:ext>
                </a:extLst>
              </a:tr>
              <a:tr h="337335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Object detection, Pose Estimation, </a:t>
                      </a:r>
                      <a:r>
                        <a:rPr lang="en-US" sz="1000" err="1"/>
                        <a:t>Segmntt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YoloV12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240fps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/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P0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812780"/>
                  </a:ext>
                </a:extLst>
              </a:tr>
              <a:tr h="293492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Image Classification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MobileNetV3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240fps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/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P2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145159"/>
                  </a:ext>
                </a:extLst>
              </a:tr>
              <a:tr h="293492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Image Classification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EfficientNetV2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240fps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/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P1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043626"/>
                  </a:ext>
                </a:extLst>
              </a:tr>
              <a:tr h="421895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Classification and Retrieval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VLM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MedSigLIP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10fps (100msec)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/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P1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868897"/>
                  </a:ext>
                </a:extLst>
              </a:tr>
              <a:tr h="403552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LLM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LLM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DeepSeek-R1 (distill, 7B)) 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TTFT:0.5s, TPS:50tk/s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/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P1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590782"/>
                  </a:ext>
                </a:extLst>
              </a:tr>
              <a:tr h="403552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Medical LLM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LLM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Med-</a:t>
                      </a:r>
                      <a:r>
                        <a:rPr lang="en-US" sz="1000" err="1">
                          <a:solidFill>
                            <a:schemeClr val="tx1"/>
                          </a:solidFill>
                        </a:rPr>
                        <a:t>PaLM</a:t>
                      </a: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 &amp; 2 (30B) 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TTFT: 1s; TPS:10tk/s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/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P1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652077"/>
                  </a:ext>
                </a:extLst>
              </a:tr>
              <a:tr h="295431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VQA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VLM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Qwen3-VL-4B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TTFT:0.1s, TPS:60tk/s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/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62539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71C3C18-657E-83E5-9173-5E981DA119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5216" y="443413"/>
            <a:ext cx="110172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buClr>
                <a:schemeClr val="accent1"/>
              </a:buClr>
              <a:buSzPct val="60000"/>
            </a:pPr>
            <a:r>
              <a:rPr lang="en-US" sz="2400"/>
              <a:t>Physical AI SDK – AI Models for Healthcare Segment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1800540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A0A03-7155-4999-7654-D338288EF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63" y="787666"/>
            <a:ext cx="11018520" cy="430887"/>
          </a:xfrm>
        </p:spPr>
        <p:txBody>
          <a:bodyPr/>
          <a:lstStyle/>
          <a:p>
            <a:r>
              <a:rPr lang="en-US"/>
              <a:t>Physical AI SDK – Inference Frameworks and Runtime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249B0-09EE-56FD-31E7-0CCFC7F9B34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6263" y="1674943"/>
            <a:ext cx="11018838" cy="4179947"/>
          </a:xfrm>
        </p:spPr>
        <p:txBody>
          <a:bodyPr/>
          <a:lstStyle/>
          <a:p>
            <a:r>
              <a:rPr lang="en-US"/>
              <a:t>AI Model Inference Frameworks Compatibility/Support by Physical AI SDK </a:t>
            </a:r>
          </a:p>
          <a:p>
            <a:pPr lvl="1"/>
            <a:r>
              <a:rPr lang="en-US" err="1"/>
              <a:t>vLLM</a:t>
            </a:r>
            <a:r>
              <a:rPr lang="en-US"/>
              <a:t> : Compatible version 0.11.x with </a:t>
            </a:r>
            <a:r>
              <a:rPr lang="en-US" err="1"/>
              <a:t>ROCm</a:t>
            </a:r>
            <a:r>
              <a:rPr lang="en-US"/>
              <a:t> 7.1.x, Triton API, OpenAI API, Eagle3 </a:t>
            </a:r>
          </a:p>
          <a:p>
            <a:pPr lvl="1"/>
            <a:r>
              <a:rPr lang="en-US"/>
              <a:t>ONNX-RT : Compatible version with </a:t>
            </a:r>
            <a:r>
              <a:rPr lang="en-US" err="1"/>
              <a:t>RyzenAI</a:t>
            </a:r>
            <a:r>
              <a:rPr lang="en-US"/>
              <a:t> 1.7/1.8 Releases </a:t>
            </a:r>
          </a:p>
          <a:p>
            <a:pPr lvl="1"/>
            <a:r>
              <a:rPr lang="en-US"/>
              <a:t>Llama.cpp : Compatible version with </a:t>
            </a:r>
            <a:r>
              <a:rPr lang="en-US" err="1"/>
              <a:t>ROCm</a:t>
            </a:r>
            <a:r>
              <a:rPr lang="en-US"/>
              <a:t> 7.1.x</a:t>
            </a:r>
          </a:p>
          <a:p>
            <a:pPr lvl="1"/>
            <a:r>
              <a:rPr lang="en-US"/>
              <a:t>Lemonade : Compatible version with </a:t>
            </a:r>
            <a:r>
              <a:rPr lang="en-US" err="1"/>
              <a:t>RyzenAI</a:t>
            </a:r>
            <a:r>
              <a:rPr lang="en-US"/>
              <a:t> 1.7/1.8 Releases, </a:t>
            </a:r>
            <a:r>
              <a:rPr lang="en-US" err="1"/>
              <a:t>ROCm</a:t>
            </a:r>
            <a:r>
              <a:rPr lang="en-US"/>
              <a:t> 7.1.x </a:t>
            </a:r>
          </a:p>
          <a:p>
            <a:r>
              <a:rPr lang="en-US"/>
              <a:t>AI Workload Inference Runtime and AMD SW Stacks Supported by Physical AI SDK </a:t>
            </a:r>
          </a:p>
          <a:p>
            <a:pPr lvl="1"/>
            <a:r>
              <a:rPr lang="en-US" err="1"/>
              <a:t>RyzenAI</a:t>
            </a:r>
            <a:r>
              <a:rPr lang="en-US"/>
              <a:t> (w/ </a:t>
            </a:r>
            <a:r>
              <a:rPr lang="en-US" err="1"/>
              <a:t>VitisAI</a:t>
            </a:r>
            <a:r>
              <a:rPr lang="en-US"/>
              <a:t> for NPU/CPU) : Releases 1.7/1.8, with Hybrid mode, custom kernels, for Linux (kernel 6.12vs6.14vs6.18) </a:t>
            </a:r>
          </a:p>
          <a:p>
            <a:pPr lvl="1"/>
            <a:r>
              <a:rPr lang="en-US" err="1"/>
              <a:t>ROCm</a:t>
            </a:r>
            <a:r>
              <a:rPr lang="en-US"/>
              <a:t> : (formal support of STX-Halo): Release 7.1.x, with Linux Kernel 6.18</a:t>
            </a:r>
          </a:p>
          <a:p>
            <a:pPr lvl="2"/>
            <a:r>
              <a:rPr lang="en-US"/>
              <a:t>NOTE: Linux LTS Kernel convergence/migration: 6.12</a:t>
            </a:r>
            <a:r>
              <a:rPr lang="en-US">
                <a:sym typeface="Wingdings" panose="05000000000000000000" pitchFamily="2" charset="2"/>
              </a:rPr>
              <a:t>6.18 </a:t>
            </a:r>
            <a:endParaRPr lang="en-US"/>
          </a:p>
          <a:p>
            <a:pPr lvl="1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1361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D8E1B-021C-9F21-39BC-0CD6D5FA2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D3503-8714-224A-FBAA-D7FD7C3AE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74" y="237975"/>
            <a:ext cx="9423350" cy="738664"/>
          </a:xfrm>
        </p:spPr>
        <p:txBody>
          <a:bodyPr/>
          <a:lstStyle/>
          <a:p>
            <a:r>
              <a:rPr lang="en-US" sz="2400">
                <a:cs typeface="Segoe UI"/>
              </a:rPr>
              <a:t>VLM Performance Optimization Components (via AI Box Scale)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094E05-0620-1076-8556-70DEBFD23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5414"/>
              </p:ext>
            </p:extLst>
          </p:nvPr>
        </p:nvGraphicFramePr>
        <p:xfrm>
          <a:off x="184674" y="1097115"/>
          <a:ext cx="11865684" cy="4472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296">
                  <a:extLst>
                    <a:ext uri="{9D8B030D-6E8A-4147-A177-3AD203B41FA5}">
                      <a16:colId xmlns:a16="http://schemas.microsoft.com/office/drawing/2014/main" val="561875271"/>
                    </a:ext>
                  </a:extLst>
                </a:gridCol>
                <a:gridCol w="1725719">
                  <a:extLst>
                    <a:ext uri="{9D8B030D-6E8A-4147-A177-3AD203B41FA5}">
                      <a16:colId xmlns:a16="http://schemas.microsoft.com/office/drawing/2014/main" val="1039715365"/>
                    </a:ext>
                  </a:extLst>
                </a:gridCol>
                <a:gridCol w="6368528">
                  <a:extLst>
                    <a:ext uri="{9D8B030D-6E8A-4147-A177-3AD203B41FA5}">
                      <a16:colId xmlns:a16="http://schemas.microsoft.com/office/drawing/2014/main" val="2651860490"/>
                    </a:ext>
                  </a:extLst>
                </a:gridCol>
                <a:gridCol w="1284249">
                  <a:extLst>
                    <a:ext uri="{9D8B030D-6E8A-4147-A177-3AD203B41FA5}">
                      <a16:colId xmlns:a16="http://schemas.microsoft.com/office/drawing/2014/main" val="3461241216"/>
                    </a:ext>
                  </a:extLst>
                </a:gridCol>
                <a:gridCol w="965892">
                  <a:extLst>
                    <a:ext uri="{9D8B030D-6E8A-4147-A177-3AD203B41FA5}">
                      <a16:colId xmlns:a16="http://schemas.microsoft.com/office/drawing/2014/main" val="977575169"/>
                    </a:ext>
                  </a:extLst>
                </a:gridCol>
              </a:tblGrid>
              <a:tr h="563523">
                <a:tc>
                  <a:txBody>
                    <a:bodyPr/>
                    <a:lstStyle/>
                    <a:p>
                      <a:pPr lvl="0" algn="ctr">
                        <a:lnSpc>
                          <a:spcPts val="195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Optimization Target</a:t>
                      </a:r>
                    </a:p>
                  </a:txBody>
                  <a:tcPr>
                    <a:lnL w="17668">
                      <a:solidFill>
                        <a:srgbClr val="FFFFFF"/>
                      </a:solidFill>
                    </a:lnL>
                    <a:lnR w="17668">
                      <a:solidFill>
                        <a:srgbClr val="FFFFFF"/>
                      </a:solidFill>
                    </a:lnR>
                    <a:lnT w="17668">
                      <a:solidFill>
                        <a:srgbClr val="FFFFFF"/>
                      </a:solidFill>
                    </a:lnT>
                    <a:lnB w="53016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Mechanism</a:t>
                      </a:r>
                      <a:endParaRPr lang="en-US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Descriptions</a:t>
                      </a:r>
                      <a:endParaRPr lang="en-US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95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Uplift</a:t>
                      </a:r>
                    </a:p>
                  </a:txBody>
                  <a:tcPr>
                    <a:lnL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8">
                      <a:solidFill>
                        <a:srgbClr val="FFFFFF"/>
                      </a:solidFill>
                    </a:lnR>
                    <a:lnT w="17668">
                      <a:solidFill>
                        <a:srgbClr val="FFFFFF"/>
                      </a:solidFill>
                    </a:lnT>
                    <a:lnB w="53016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Remark</a:t>
                      </a:r>
                      <a:endParaRPr lang="en-US" b="1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302516"/>
                  </a:ext>
                </a:extLst>
              </a:tr>
              <a:tr h="1429207"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TTFT/TPS </a:t>
                      </a:r>
                    </a:p>
                  </a:txBody>
                  <a:tcPr>
                    <a:lnL w="17668">
                      <a:solidFill>
                        <a:srgbClr val="FFFFFF"/>
                      </a:solidFill>
                    </a:lnL>
                    <a:lnR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Triton Kernel Optimization </a:t>
                      </a:r>
                    </a:p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(via </a:t>
                      </a:r>
                      <a:r>
                        <a:rPr lang="en-US" sz="1200" err="1">
                          <a:effectLst/>
                          <a:latin typeface="Arial"/>
                        </a:rPr>
                        <a:t>vLLM</a:t>
                      </a:r>
                      <a:r>
                        <a:rPr lang="en-US" sz="1200">
                          <a:effectLst/>
                          <a:latin typeface="Arial"/>
                        </a:rPr>
                        <a:t>/</a:t>
                      </a:r>
                      <a:r>
                        <a:rPr lang="en-US" sz="1200" err="1">
                          <a:effectLst/>
                          <a:latin typeface="Arial"/>
                        </a:rPr>
                        <a:t>ROCm</a:t>
                      </a:r>
                      <a:r>
                        <a:rPr lang="en-US" sz="1200">
                          <a:effectLst/>
                          <a:latin typeface="Arial"/>
                        </a:rPr>
                        <a:t>) </a:t>
                      </a:r>
                    </a:p>
                  </a:txBody>
                  <a:tcPr>
                    <a:lnL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5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  <a:latin typeface="Arial"/>
                        </a:rPr>
                        <a:t>Per-shape GEMM kernel optimization </a:t>
                      </a:r>
                    </a:p>
                    <a:p>
                      <a:pPr marL="342900" lvl="0" indent="-342900">
                        <a:lnSpc>
                          <a:spcPts val="15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  <a:latin typeface="Arial"/>
                        </a:rPr>
                        <a:t>Split-K GEMM (tiling) </a:t>
                      </a:r>
                    </a:p>
                    <a:p>
                      <a:pPr marL="342900" lvl="0" indent="-342900">
                        <a:lnSpc>
                          <a:spcPts val="15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  <a:latin typeface="Arial"/>
                        </a:rPr>
                        <a:t>Small GEMM to leaner-based large GEMM in </a:t>
                      </a:r>
                      <a:r>
                        <a:rPr lang="en-US" sz="1200" err="1">
                          <a:effectLst/>
                          <a:latin typeface="Arial"/>
                        </a:rPr>
                        <a:t>MIOpen</a:t>
                      </a:r>
                      <a:r>
                        <a:rPr lang="en-US" sz="1200">
                          <a:effectLst/>
                          <a:latin typeface="Arial"/>
                        </a:rPr>
                        <a:t> (Conv3D) </a:t>
                      </a:r>
                    </a:p>
                    <a:p>
                      <a:pPr marL="342900" lvl="0" indent="-342900">
                        <a:lnSpc>
                          <a:spcPts val="15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  <a:latin typeface="Arial"/>
                        </a:rPr>
                        <a:t>Windowed Attention via Triton </a:t>
                      </a:r>
                    </a:p>
                    <a:p>
                      <a:pPr marL="342900" lvl="0" indent="-342900">
                        <a:lnSpc>
                          <a:spcPts val="15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  <a:latin typeface="Arial"/>
                        </a:rPr>
                        <a:t>M-</a:t>
                      </a:r>
                      <a:r>
                        <a:rPr lang="en-US" sz="1200" err="1">
                          <a:effectLst/>
                          <a:latin typeface="Arial"/>
                        </a:rPr>
                        <a:t>RoPE</a:t>
                      </a:r>
                      <a:r>
                        <a:rPr lang="en-US" sz="1200">
                          <a:effectLst/>
                          <a:latin typeface="Arial"/>
                        </a:rPr>
                        <a:t> enablement for </a:t>
                      </a:r>
                      <a:r>
                        <a:rPr lang="en-US" sz="1200" err="1">
                          <a:effectLst/>
                          <a:latin typeface="Arial"/>
                        </a:rPr>
                        <a:t>ViT</a:t>
                      </a:r>
                      <a:r>
                        <a:rPr lang="en-US" sz="1200">
                          <a:effectLst/>
                          <a:latin typeface="Arial"/>
                        </a:rPr>
                        <a:t> in Qwen-VL support (1D</a:t>
                      </a:r>
                      <a:r>
                        <a:rPr lang="en-US" sz="1200">
                          <a:effectLst/>
                          <a:latin typeface="Arial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200">
                          <a:effectLst/>
                          <a:latin typeface="Arial"/>
                        </a:rPr>
                        <a:t>3D embedding)   </a:t>
                      </a:r>
                    </a:p>
                    <a:p>
                      <a:pPr marL="342900" lvl="0" indent="-342900">
                        <a:lnSpc>
                          <a:spcPts val="15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err="1">
                          <a:effectLst/>
                          <a:latin typeface="Arial"/>
                        </a:rPr>
                        <a:t>ROCm</a:t>
                      </a:r>
                      <a:r>
                        <a:rPr lang="en-US" sz="1200">
                          <a:effectLst/>
                          <a:latin typeface="Arial"/>
                        </a:rPr>
                        <a:t> INT8 kernels on </a:t>
                      </a:r>
                      <a:r>
                        <a:rPr lang="en-US" sz="1200" err="1">
                          <a:effectLst/>
                          <a:latin typeface="Arial"/>
                        </a:rPr>
                        <a:t>iGPU</a:t>
                      </a:r>
                      <a:r>
                        <a:rPr lang="en-US" sz="1200">
                          <a:effectLst/>
                          <a:latin typeface="Arial"/>
                        </a:rPr>
                        <a:t> </a:t>
                      </a:r>
                    </a:p>
                  </a:txBody>
                  <a:tcPr>
                    <a:lnL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ts val="157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~50% overall </a:t>
                      </a:r>
                    </a:p>
                  </a:txBody>
                  <a:tcPr>
                    <a:lnL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Applicable to non-Qwen-VL LLMs </a:t>
                      </a:r>
                    </a:p>
                  </a:txBody>
                  <a:tcPr>
                    <a:lnL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8261577"/>
                  </a:ext>
                </a:extLst>
              </a:tr>
              <a:tr h="849873"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TPS</a:t>
                      </a:r>
                    </a:p>
                  </a:txBody>
                  <a:tcPr>
                    <a:lnL w="17668">
                      <a:solidFill>
                        <a:srgbClr val="FFFFFF"/>
                      </a:solidFill>
                    </a:lnL>
                    <a:lnR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AMD Speculative Decoding and Eagle Drafter in </a:t>
                      </a:r>
                      <a:r>
                        <a:rPr lang="en-US" sz="1200" err="1">
                          <a:effectLst/>
                          <a:latin typeface="Arial"/>
                        </a:rPr>
                        <a:t>vLLM</a:t>
                      </a:r>
                      <a:r>
                        <a:rPr lang="en-US" sz="1200">
                          <a:effectLst/>
                          <a:latin typeface="Arial"/>
                        </a:rPr>
                        <a:t> </a:t>
                      </a:r>
                    </a:p>
                  </a:txBody>
                  <a:tcPr>
                    <a:lnL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5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  <a:latin typeface="Arial"/>
                        </a:rPr>
                        <a:t>AMD (on AMD GPUs) trained Qwen2.5-VL </a:t>
                      </a:r>
                      <a:r>
                        <a:rPr lang="en-US" sz="1200" err="1">
                          <a:effectLst/>
                          <a:latin typeface="Arial"/>
                        </a:rPr>
                        <a:t>SpecD</a:t>
                      </a:r>
                      <a:r>
                        <a:rPr lang="en-US" sz="1200">
                          <a:effectLst/>
                          <a:latin typeface="Arial"/>
                        </a:rPr>
                        <a:t> Drafter (En and Ch) </a:t>
                      </a:r>
                    </a:p>
                    <a:p>
                      <a:pPr marL="342900" lvl="0" indent="-342900">
                        <a:lnSpc>
                          <a:spcPts val="15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  <a:latin typeface="Arial"/>
                        </a:rPr>
                        <a:t>Ported to </a:t>
                      </a:r>
                      <a:r>
                        <a:rPr lang="en-US" sz="1200" err="1">
                          <a:effectLst/>
                          <a:latin typeface="Arial"/>
                        </a:rPr>
                        <a:t>vLLM</a:t>
                      </a:r>
                      <a:r>
                        <a:rPr lang="en-US" sz="1200">
                          <a:effectLst/>
                          <a:latin typeface="Arial"/>
                        </a:rPr>
                        <a:t> Eagle 3 for size reduction </a:t>
                      </a:r>
                    </a:p>
                    <a:p>
                      <a:pPr marL="342900" lvl="0" indent="-342900">
                        <a:lnSpc>
                          <a:spcPts val="15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  <a:latin typeface="Arial"/>
                        </a:rPr>
                        <a:t>INT8 quantized drafter model (w8a8) </a:t>
                      </a:r>
                    </a:p>
                    <a:p>
                      <a:pPr marL="342900" lvl="0" indent="-342900">
                        <a:lnSpc>
                          <a:spcPts val="15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  <a:latin typeface="Arial"/>
                        </a:rPr>
                        <a:t>AMD finetuned drafter with specific automotive dataset (commercial) </a:t>
                      </a:r>
                    </a:p>
                  </a:txBody>
                  <a:tcPr>
                    <a:lnL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ts val="157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~2x speedup (En) </a:t>
                      </a:r>
                    </a:p>
                  </a:txBody>
                  <a:tcPr>
                    <a:lnL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Drafter </a:t>
                      </a:r>
                      <a:r>
                        <a:rPr lang="en-US" sz="1200" err="1">
                          <a:effectLst/>
                          <a:latin typeface="Arial"/>
                        </a:rPr>
                        <a:t>MLOps</a:t>
                      </a:r>
                      <a:r>
                        <a:rPr lang="en-US" sz="1200">
                          <a:effectLst/>
                          <a:latin typeface="Arial"/>
                        </a:rPr>
                        <a:t>  </a:t>
                      </a:r>
                    </a:p>
                  </a:txBody>
                  <a:tcPr>
                    <a:lnL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966525"/>
                  </a:ext>
                </a:extLst>
              </a:tr>
              <a:tr h="681318"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TTFT</a:t>
                      </a:r>
                    </a:p>
                  </a:txBody>
                  <a:tcPr>
                    <a:lnL w="17668">
                      <a:solidFill>
                        <a:srgbClr val="FFFFFF"/>
                      </a:solidFill>
                    </a:lnL>
                    <a:lnR w="17668">
                      <a:solidFill>
                        <a:srgbClr val="FFFFFF"/>
                      </a:solidFill>
                    </a:lnR>
                    <a:lnT w="53016">
                      <a:solidFill>
                        <a:srgbClr val="FFFFFF"/>
                      </a:solidFill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Visual Token Reduction (VTR)</a:t>
                      </a:r>
                    </a:p>
                  </a:txBody>
                  <a:tcPr>
                    <a:lnL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fontAlgn="base">
                        <a:lnSpc>
                          <a:spcPts val="15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  <a:latin typeface="Arial"/>
                        </a:rPr>
                        <a:t>Uses a "Token Reduce" </a:t>
                      </a:r>
                      <a:r>
                        <a:rPr lang="en-US" sz="1200" err="1">
                          <a:effectLst/>
                          <a:latin typeface="Arial"/>
                        </a:rPr>
                        <a:t>ViT</a:t>
                      </a:r>
                      <a:r>
                        <a:rPr lang="en-US" sz="1200">
                          <a:effectLst/>
                          <a:latin typeface="Arial"/>
                        </a:rPr>
                        <a:t> model from Qwen to reduce visual token count, importance sampling for image patch tokens </a:t>
                      </a:r>
                    </a:p>
                    <a:p>
                      <a:pPr marL="342900" lvl="0" indent="-342900" fontAlgn="base">
                        <a:lnSpc>
                          <a:spcPts val="15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err="1">
                          <a:effectLst/>
                          <a:latin typeface="Arial"/>
                        </a:rPr>
                        <a:t>vLLM</a:t>
                      </a:r>
                      <a:r>
                        <a:rPr lang="en-US" sz="1200">
                          <a:effectLst/>
                          <a:latin typeface="Arial"/>
                        </a:rPr>
                        <a:t> integration and </a:t>
                      </a:r>
                      <a:r>
                        <a:rPr lang="en-US" sz="1200" err="1">
                          <a:effectLst/>
                          <a:latin typeface="Arial"/>
                        </a:rPr>
                        <a:t>vLLM</a:t>
                      </a:r>
                      <a:r>
                        <a:rPr lang="en-US" sz="1200">
                          <a:effectLst/>
                          <a:latin typeface="Arial"/>
                        </a:rPr>
                        <a:t> compatible </a:t>
                      </a:r>
                    </a:p>
                  </a:txBody>
                  <a:tcPr>
                    <a:lnL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ts val="157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~700 </a:t>
                      </a:r>
                      <a:r>
                        <a:rPr lang="en-US" sz="1200" err="1">
                          <a:effectLst/>
                          <a:latin typeface="Arial"/>
                        </a:rPr>
                        <a:t>ms</a:t>
                      </a:r>
                      <a:r>
                        <a:rPr lang="en-US" sz="1200">
                          <a:effectLst/>
                          <a:latin typeface="Arial"/>
                        </a:rPr>
                        <a:t> (input specific)  </a:t>
                      </a:r>
                    </a:p>
                  </a:txBody>
                  <a:tcPr>
                    <a:lnL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8">
                      <a:solidFill>
                        <a:srgbClr val="FFFFFF"/>
                      </a:solidFill>
                    </a:lnR>
                    <a:lnT w="53016">
                      <a:solidFill>
                        <a:srgbClr val="FFFFFF"/>
                      </a:solidFill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(Qwen license) </a:t>
                      </a:r>
                    </a:p>
                  </a:txBody>
                  <a:tcPr>
                    <a:lnL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1238280"/>
                  </a:ext>
                </a:extLst>
              </a:tr>
              <a:tr h="859731">
                <a:tc>
                  <a:txBody>
                    <a:bodyPr/>
                    <a:lstStyle/>
                    <a:p>
                      <a:pPr lvl="0" algn="ctr">
                        <a:lnSpc>
                          <a:spcPts val="157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TTFT </a:t>
                      </a:r>
                    </a:p>
                  </a:txBody>
                  <a:tcPr>
                    <a:lnL w="17668">
                      <a:solidFill>
                        <a:srgbClr val="FFFFFF"/>
                      </a:solidFill>
                    </a:lnL>
                    <a:lnR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>
                      <a:solidFill>
                        <a:srgbClr val="FFFFFF"/>
                      </a:solidFill>
                    </a:lnT>
                    <a:lnB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err="1">
                          <a:effectLst/>
                          <a:latin typeface="Arial"/>
                        </a:rPr>
                        <a:t>Superframe</a:t>
                      </a:r>
                      <a:r>
                        <a:rPr lang="en-US" sz="1200">
                          <a:effectLst/>
                          <a:latin typeface="Arial"/>
                        </a:rPr>
                        <a:t>, video </a:t>
                      </a:r>
                      <a:r>
                        <a:rPr lang="en-US" sz="1200" err="1">
                          <a:effectLst/>
                          <a:latin typeface="Arial"/>
                        </a:rPr>
                        <a:t>preproc</a:t>
                      </a:r>
                      <a:r>
                        <a:rPr lang="en-US" sz="1200">
                          <a:effectLst/>
                          <a:latin typeface="Arial"/>
                        </a:rPr>
                        <a:t> and Image Chunking </a:t>
                      </a:r>
                    </a:p>
                  </a:txBody>
                  <a:tcPr>
                    <a:lnL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5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  <a:latin typeface="Arial"/>
                        </a:rPr>
                        <a:t>Stich multiple images into a high-res mosaiced “super-frame” as input to Qwen-VL </a:t>
                      </a:r>
                    </a:p>
                    <a:p>
                      <a:pPr marL="342900" lvl="0" indent="-342900">
                        <a:lnSpc>
                          <a:spcPts val="15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  <a:latin typeface="Arial"/>
                        </a:rPr>
                        <a:t>Pre-processing images into video clips as input to Qwen-VL (achieved KPI for Geely) </a:t>
                      </a:r>
                    </a:p>
                    <a:p>
                      <a:pPr marL="342900" lvl="0" indent="-342900">
                        <a:lnSpc>
                          <a:spcPts val="15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  <a:latin typeface="Arial"/>
                        </a:rPr>
                        <a:t>Sub-divide high-res image (e.g. 960x540) into 2x2 or 4x4 sub-images as sequence of input to Qwen-VL (prompt engineering) </a:t>
                      </a:r>
                    </a:p>
                  </a:txBody>
                  <a:tcPr>
                    <a:lnL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ts val="157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~20-30% </a:t>
                      </a:r>
                    </a:p>
                  </a:txBody>
                  <a:tcPr>
                    <a:lnL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>
                      <a:solidFill>
                        <a:srgbClr val="FFFFFF"/>
                      </a:solidFill>
                    </a:lnT>
                    <a:lnB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Innovations</a:t>
                      </a:r>
                    </a:p>
                  </a:txBody>
                  <a:tcPr>
                    <a:lnL w="17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0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6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675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22764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8491C-43D4-7296-707D-D71E987F5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0CCDA-48F3-8F17-E208-D22EB039D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Physical AI SDK – Tools &amp; Infrastructure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F7BDC-79C9-FFE0-0481-C84C74EA47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6581" y="1241042"/>
            <a:ext cx="11018838" cy="4836927"/>
          </a:xfrm>
        </p:spPr>
        <p:txBody>
          <a:bodyPr/>
          <a:lstStyle/>
          <a:p>
            <a:r>
              <a:rPr lang="en-US"/>
              <a:t>Performance Benchmarking and Profiling </a:t>
            </a:r>
          </a:p>
          <a:p>
            <a:pPr lvl="1"/>
            <a:r>
              <a:rPr lang="en-US"/>
              <a:t>Automated Model Benchmarking Framework</a:t>
            </a:r>
          </a:p>
          <a:p>
            <a:pPr lvl="1"/>
            <a:r>
              <a:rPr lang="en-US"/>
              <a:t>Selected Model </a:t>
            </a:r>
            <a:r>
              <a:rPr lang="en-US" err="1"/>
              <a:t>Profling</a:t>
            </a:r>
            <a:r>
              <a:rPr lang="en-US"/>
              <a:t> </a:t>
            </a:r>
            <a:r>
              <a:rPr lang="en-US" err="1"/>
              <a:t>Anaylsis</a:t>
            </a:r>
            <a:r>
              <a:rPr lang="en-US"/>
              <a:t> with OOB UX </a:t>
            </a:r>
          </a:p>
          <a:p>
            <a:r>
              <a:rPr lang="en-US"/>
              <a:t>Workload Analysis and Quantization </a:t>
            </a:r>
          </a:p>
          <a:p>
            <a:pPr lvl="1"/>
            <a:r>
              <a:rPr lang="en-US"/>
              <a:t>AI Workload Model Per Layer “Hot Spot” Analysis via AI Analyzer </a:t>
            </a:r>
          </a:p>
          <a:p>
            <a:pPr lvl="1"/>
            <a:r>
              <a:rPr lang="en-US"/>
              <a:t>AWQ Quantization with OOB UX </a:t>
            </a:r>
          </a:p>
          <a:p>
            <a:r>
              <a:rPr lang="en-US"/>
              <a:t>Installation and Deployment </a:t>
            </a:r>
          </a:p>
          <a:p>
            <a:pPr lvl="1"/>
            <a:r>
              <a:rPr lang="en-US"/>
              <a:t>Single installation for both </a:t>
            </a:r>
            <a:r>
              <a:rPr lang="en-US" err="1"/>
              <a:t>ROCm</a:t>
            </a:r>
            <a:r>
              <a:rPr lang="en-US"/>
              <a:t> and </a:t>
            </a:r>
            <a:r>
              <a:rPr lang="en-US" err="1"/>
              <a:t>RyzenAI</a:t>
            </a:r>
            <a:r>
              <a:rPr lang="en-US"/>
              <a:t> SW  and toolchain </a:t>
            </a:r>
          </a:p>
          <a:p>
            <a:pPr lvl="1"/>
            <a:r>
              <a:rPr lang="en-US"/>
              <a:t>Docker container support for combined runtime env. </a:t>
            </a:r>
          </a:p>
          <a:p>
            <a:pPr lvl="1"/>
            <a:r>
              <a:rPr lang="en-US"/>
              <a:t>Pre-build, fully validated Docker images for easy custom eval </a:t>
            </a:r>
          </a:p>
          <a:p>
            <a:r>
              <a:rPr lang="en-US"/>
              <a:t>Model Deployment </a:t>
            </a:r>
          </a:p>
          <a:p>
            <a:pPr lvl="1"/>
            <a:r>
              <a:rPr lang="en-US"/>
              <a:t>Hosting supported AI Model (including pre-quantized version, drafters)  and datasets artifacts on AMD PAVS Harbor </a:t>
            </a:r>
          </a:p>
          <a:p>
            <a:r>
              <a:rPr lang="en-US"/>
              <a:t>Model Training for Speculative Decoding </a:t>
            </a:r>
          </a:p>
          <a:p>
            <a:pPr lvl="1"/>
            <a:r>
              <a:rPr lang="en-US"/>
              <a:t>Hosting of Physical AI SDK supported VLMs/VLAs targeted drafter model training/re-training (PAVS+AIG) </a:t>
            </a:r>
          </a:p>
          <a:p>
            <a:pPr lvl="1"/>
            <a:r>
              <a:rPr lang="en-US"/>
              <a:t>Trained draft model evaluation support (accuracy and speedup) </a:t>
            </a:r>
          </a:p>
        </p:txBody>
      </p:sp>
    </p:spTree>
    <p:extLst>
      <p:ext uri="{BB962C8B-B14F-4D97-AF65-F5344CB8AC3E}">
        <p14:creationId xmlns:p14="http://schemas.microsoft.com/office/powerpoint/2010/main" val="12036685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16F7C-BE1F-B056-9EB4-C638DCF90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0DE02-54F0-1876-5CC4-BA7CB999E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074" y="714619"/>
            <a:ext cx="11018520" cy="430887"/>
          </a:xfrm>
        </p:spPr>
        <p:txBody>
          <a:bodyPr/>
          <a:lstStyle/>
          <a:p>
            <a:r>
              <a:rPr lang="en-US"/>
              <a:t>Physical AI SDK – Pipeline Frameworks and Sample Apps (OOB)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874C5-6DDB-00FE-4FB0-D77D82E16B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6581" y="1565761"/>
            <a:ext cx="11018838" cy="4384663"/>
          </a:xfrm>
        </p:spPr>
        <p:txBody>
          <a:bodyPr/>
          <a:lstStyle/>
          <a:p>
            <a:r>
              <a:rPr lang="en-US" err="1"/>
              <a:t>Gstreamer</a:t>
            </a:r>
            <a:r>
              <a:rPr lang="en-US"/>
              <a:t> Framework for AI Media Analytics Pipelines (w/ ISV) </a:t>
            </a:r>
          </a:p>
          <a:p>
            <a:pPr lvl="1"/>
            <a:r>
              <a:rPr lang="en-US" err="1"/>
              <a:t>GstHIP</a:t>
            </a:r>
            <a:endParaRPr lang="en-US"/>
          </a:p>
          <a:p>
            <a:pPr lvl="1"/>
            <a:r>
              <a:rPr lang="en-US" err="1"/>
              <a:t>Gst</a:t>
            </a:r>
            <a:r>
              <a:rPr lang="en-US"/>
              <a:t>-ONNX-RT </a:t>
            </a:r>
          </a:p>
          <a:p>
            <a:pPr lvl="1"/>
            <a:r>
              <a:rPr lang="en-US"/>
              <a:t>(opt.) VVAS (Leverage from AECG prior project) </a:t>
            </a:r>
          </a:p>
          <a:p>
            <a:r>
              <a:rPr lang="en-US"/>
              <a:t>ROS2 and Integration for AI Workloads </a:t>
            </a:r>
          </a:p>
          <a:p>
            <a:pPr lvl="1"/>
            <a:r>
              <a:rPr lang="en-US"/>
              <a:t>Covered by PAVS Robotics SDK </a:t>
            </a:r>
          </a:p>
          <a:p>
            <a:r>
              <a:rPr lang="en-US"/>
              <a:t>(opt.) CVML SDK (AMD G&amp;E) </a:t>
            </a:r>
          </a:p>
          <a:p>
            <a:pPr lvl="1"/>
            <a:r>
              <a:rPr lang="en-US"/>
              <a:t>Working with ATG </a:t>
            </a:r>
          </a:p>
          <a:p>
            <a:r>
              <a:rPr lang="en-US"/>
              <a:t>Sample Applications with OOB UX (w/ ISV-MCW, PSAS) </a:t>
            </a:r>
          </a:p>
          <a:p>
            <a:pPr lvl="1"/>
            <a:r>
              <a:rPr lang="en-US"/>
              <a:t>Concurrent Obj. detection with Realtime feed (2-4 concurrent video streams each 30fps@HD) </a:t>
            </a:r>
          </a:p>
          <a:p>
            <a:pPr lvl="1"/>
            <a:r>
              <a:rPr lang="en-US"/>
              <a:t>Concurrent </a:t>
            </a:r>
            <a:r>
              <a:rPr lang="en-US" err="1"/>
              <a:t>ChatBot</a:t>
            </a:r>
            <a:r>
              <a:rPr lang="en-US"/>
              <a:t> UX </a:t>
            </a:r>
          </a:p>
          <a:p>
            <a:pPr lvl="1"/>
            <a:r>
              <a:rPr lang="en-US"/>
              <a:t>Performance Benchmark with OOB for key AI Models </a:t>
            </a:r>
          </a:p>
          <a:p>
            <a:pPr lvl="1"/>
            <a:r>
              <a:rPr lang="en-US"/>
              <a:t>Robotics Simulation </a:t>
            </a:r>
          </a:p>
        </p:txBody>
      </p:sp>
    </p:spTree>
    <p:extLst>
      <p:ext uri="{BB962C8B-B14F-4D97-AF65-F5344CB8AC3E}">
        <p14:creationId xmlns:p14="http://schemas.microsoft.com/office/powerpoint/2010/main" val="16111613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255F-A0FA-1590-A645-E9E8CD64B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rrow: Right 12">
            <a:extLst>
              <a:ext uri="{FF2B5EF4-FFF2-40B4-BE49-F238E27FC236}">
                <a16:creationId xmlns:a16="http://schemas.microsoft.com/office/drawing/2014/main" id="{F5EF2832-C594-5936-3D3E-7330664F3ED4}"/>
              </a:ext>
            </a:extLst>
          </p:cNvPr>
          <p:cNvSpPr/>
          <p:nvPr/>
        </p:nvSpPr>
        <p:spPr bwMode="auto">
          <a:xfrm>
            <a:off x="2819185" y="4529803"/>
            <a:ext cx="2990913" cy="360738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E94721D-11B6-D755-3BC5-6D753E2FC128}"/>
              </a:ext>
            </a:extLst>
          </p:cNvPr>
          <p:cNvSpPr/>
          <p:nvPr/>
        </p:nvSpPr>
        <p:spPr bwMode="auto">
          <a:xfrm>
            <a:off x="5839649" y="3730935"/>
            <a:ext cx="2296758" cy="2708748"/>
          </a:xfrm>
          <a:prstGeom prst="roundRect">
            <a:avLst/>
          </a:prstGeom>
          <a:solidFill>
            <a:srgbClr val="C0000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7747526-1FCA-9151-4DFE-C28C36A44277}"/>
              </a:ext>
            </a:extLst>
          </p:cNvPr>
          <p:cNvSpPr/>
          <p:nvPr/>
        </p:nvSpPr>
        <p:spPr bwMode="auto">
          <a:xfrm>
            <a:off x="3465883" y="3851408"/>
            <a:ext cx="1690138" cy="2631748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39CF0C-A8B5-27B6-449F-89F5B7D0E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795" y="332068"/>
            <a:ext cx="11049867" cy="369332"/>
          </a:xfrm>
        </p:spPr>
        <p:txBody>
          <a:bodyPr/>
          <a:lstStyle/>
          <a:p>
            <a:r>
              <a:rPr lang="en-US" sz="2400"/>
              <a:t>AI Inference Runtime Mapping – Heterogenous (In car voice asst. usage)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299D5-D051-2098-78BE-4C385ADF5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836" y="5463874"/>
            <a:ext cx="10517707" cy="507840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67E4ED-41F6-0C8F-9184-CF95C50BCCAE}"/>
              </a:ext>
            </a:extLst>
          </p:cNvPr>
          <p:cNvSpPr/>
          <p:nvPr/>
        </p:nvSpPr>
        <p:spPr bwMode="auto">
          <a:xfrm>
            <a:off x="1810694" y="4003048"/>
            <a:ext cx="998342" cy="952435"/>
          </a:xfrm>
          <a:prstGeom prst="rect">
            <a:avLst/>
          </a:prstGeom>
          <a:solidFill>
            <a:srgbClr val="ED1C24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Input 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Preproc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 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src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: images,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audi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o/video) 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BF2A3E-BF16-A6A4-59C5-377712BB9AD4}"/>
              </a:ext>
            </a:extLst>
          </p:cNvPr>
          <p:cNvCxnSpPr>
            <a:cxnSpLocks/>
          </p:cNvCxnSpPr>
          <p:nvPr/>
        </p:nvCxnSpPr>
        <p:spPr>
          <a:xfrm>
            <a:off x="1260185" y="4139404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A22336A-4521-BB87-D9F3-402E11362B49}"/>
              </a:ext>
            </a:extLst>
          </p:cNvPr>
          <p:cNvCxnSpPr>
            <a:cxnSpLocks/>
          </p:cNvCxnSpPr>
          <p:nvPr/>
        </p:nvCxnSpPr>
        <p:spPr>
          <a:xfrm>
            <a:off x="1260185" y="4353122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E67A49-F2FE-42C3-4096-D8C03C41E5D2}"/>
              </a:ext>
            </a:extLst>
          </p:cNvPr>
          <p:cNvCxnSpPr>
            <a:cxnSpLocks/>
          </p:cNvCxnSpPr>
          <p:nvPr/>
        </p:nvCxnSpPr>
        <p:spPr>
          <a:xfrm>
            <a:off x="1260185" y="4570453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BFA5C5D-8D8F-BCEC-D23F-F535CA5CE00A}"/>
              </a:ext>
            </a:extLst>
          </p:cNvPr>
          <p:cNvSpPr txBox="1"/>
          <p:nvPr/>
        </p:nvSpPr>
        <p:spPr>
          <a:xfrm>
            <a:off x="1793553" y="5158597"/>
            <a:ext cx="104861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iGPU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/VCN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9894593-F958-A318-69CC-1393FEA3D3B8}"/>
              </a:ext>
            </a:extLst>
          </p:cNvPr>
          <p:cNvSpPr/>
          <p:nvPr/>
        </p:nvSpPr>
        <p:spPr bwMode="auto">
          <a:xfrm>
            <a:off x="2837345" y="4155585"/>
            <a:ext cx="628538" cy="206664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7C0ACB0-578B-E1F7-87B6-8A60E5A2377B}"/>
              </a:ext>
            </a:extLst>
          </p:cNvPr>
          <p:cNvSpPr/>
          <p:nvPr/>
        </p:nvSpPr>
        <p:spPr bwMode="auto">
          <a:xfrm>
            <a:off x="5156021" y="4262061"/>
            <a:ext cx="654079" cy="285227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E266DF35-56DB-A02A-4D32-3C9AEB2753C1}"/>
              </a:ext>
            </a:extLst>
          </p:cNvPr>
          <p:cNvSpPr/>
          <p:nvPr/>
        </p:nvSpPr>
        <p:spPr bwMode="auto">
          <a:xfrm>
            <a:off x="8152014" y="4241468"/>
            <a:ext cx="563830" cy="19238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D1C808-191F-C0BE-D73A-07A3F2E7A14B}"/>
              </a:ext>
            </a:extLst>
          </p:cNvPr>
          <p:cNvSpPr txBox="1"/>
          <p:nvPr/>
        </p:nvSpPr>
        <p:spPr>
          <a:xfrm>
            <a:off x="6357527" y="6560651"/>
            <a:ext cx="132087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iGPU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Workload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54CF72-51F9-C587-E3D3-9C19965FF025}"/>
              </a:ext>
            </a:extLst>
          </p:cNvPr>
          <p:cNvSpPr/>
          <p:nvPr/>
        </p:nvSpPr>
        <p:spPr bwMode="auto">
          <a:xfrm>
            <a:off x="3561140" y="4124121"/>
            <a:ext cx="1481802" cy="457200"/>
          </a:xfrm>
          <a:prstGeom prst="rect">
            <a:avLst/>
          </a:prstGeom>
          <a:solidFill>
            <a:srgbClr val="0070C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ASR (Whisper)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EA644C-959F-B61A-0D5D-1F6E7B5FB521}"/>
              </a:ext>
            </a:extLst>
          </p:cNvPr>
          <p:cNvSpPr txBox="1"/>
          <p:nvPr/>
        </p:nvSpPr>
        <p:spPr>
          <a:xfrm>
            <a:off x="3884087" y="3935258"/>
            <a:ext cx="6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2BB50F-2E4F-8B45-703D-50C545849806}"/>
              </a:ext>
            </a:extLst>
          </p:cNvPr>
          <p:cNvCxnSpPr>
            <a:cxnSpLocks/>
          </p:cNvCxnSpPr>
          <p:nvPr/>
        </p:nvCxnSpPr>
        <p:spPr>
          <a:xfrm>
            <a:off x="4069445" y="4611750"/>
            <a:ext cx="0" cy="431807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F941AC7-145F-FC3E-BBC9-73866933A76A}"/>
              </a:ext>
            </a:extLst>
          </p:cNvPr>
          <p:cNvCxnSpPr>
            <a:cxnSpLocks/>
          </p:cNvCxnSpPr>
          <p:nvPr/>
        </p:nvCxnSpPr>
        <p:spPr>
          <a:xfrm flipV="1">
            <a:off x="4601646" y="4571360"/>
            <a:ext cx="0" cy="492175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02BBE8F-3762-20CA-1188-280612918369}"/>
              </a:ext>
            </a:extLst>
          </p:cNvPr>
          <p:cNvSpPr/>
          <p:nvPr/>
        </p:nvSpPr>
        <p:spPr bwMode="auto">
          <a:xfrm>
            <a:off x="3627880" y="5063535"/>
            <a:ext cx="1306195" cy="27937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ONNX-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RunTime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FAC7F36-6FF6-71E2-E7C0-7A7982044511}"/>
              </a:ext>
            </a:extLst>
          </p:cNvPr>
          <p:cNvSpPr/>
          <p:nvPr/>
        </p:nvSpPr>
        <p:spPr bwMode="auto">
          <a:xfrm>
            <a:off x="3649104" y="5471988"/>
            <a:ext cx="1284971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VitisAI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EP/ CPU EP 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904504F-70F0-9A4F-577E-4D2CEF38CF99}"/>
              </a:ext>
            </a:extLst>
          </p:cNvPr>
          <p:cNvSpPr/>
          <p:nvPr/>
        </p:nvSpPr>
        <p:spPr bwMode="auto">
          <a:xfrm>
            <a:off x="4410576" y="5945794"/>
            <a:ext cx="595306" cy="22849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CPU 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3712D2A-0474-642D-6279-D544FA86EC42}"/>
              </a:ext>
            </a:extLst>
          </p:cNvPr>
          <p:cNvSpPr/>
          <p:nvPr/>
        </p:nvSpPr>
        <p:spPr bwMode="auto">
          <a:xfrm>
            <a:off x="3649104" y="5918773"/>
            <a:ext cx="681318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NPU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BE96B00-5AD7-2FAD-9D13-2656C1AB9B24}"/>
              </a:ext>
            </a:extLst>
          </p:cNvPr>
          <p:cNvSpPr/>
          <p:nvPr/>
        </p:nvSpPr>
        <p:spPr bwMode="auto">
          <a:xfrm>
            <a:off x="6083448" y="3926085"/>
            <a:ext cx="1824767" cy="761470"/>
          </a:xfrm>
          <a:prstGeom prst="rect">
            <a:avLst/>
          </a:prstGeom>
          <a:solidFill>
            <a:srgbClr val="C0000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VLM – Qwem2-VL </a:t>
            </a:r>
            <a:endParaRPr lang="en-US" sz="8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(Encoder + Decoder)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7FB03E4-FB0E-6B03-1C5E-F6FCEC1290C9}"/>
              </a:ext>
            </a:extLst>
          </p:cNvPr>
          <p:cNvSpPr txBox="1"/>
          <p:nvPr/>
        </p:nvSpPr>
        <p:spPr>
          <a:xfrm>
            <a:off x="6521476" y="3941246"/>
            <a:ext cx="6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A9E3BDE-6E9B-F705-E699-673538ABE644}"/>
              </a:ext>
            </a:extLst>
          </p:cNvPr>
          <p:cNvCxnSpPr>
            <a:cxnSpLocks/>
          </p:cNvCxnSpPr>
          <p:nvPr/>
        </p:nvCxnSpPr>
        <p:spPr>
          <a:xfrm>
            <a:off x="6638595" y="4647754"/>
            <a:ext cx="0" cy="431807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9CB7387-5CB5-25B2-3D80-F969FFB728FC}"/>
              </a:ext>
            </a:extLst>
          </p:cNvPr>
          <p:cNvCxnSpPr>
            <a:cxnSpLocks/>
          </p:cNvCxnSpPr>
          <p:nvPr/>
        </p:nvCxnSpPr>
        <p:spPr>
          <a:xfrm flipV="1">
            <a:off x="7414036" y="4643169"/>
            <a:ext cx="0" cy="380661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5FB6A2C-E003-C0D3-C608-4BFBA2AB3EC7}"/>
              </a:ext>
            </a:extLst>
          </p:cNvPr>
          <p:cNvSpPr/>
          <p:nvPr/>
        </p:nvSpPr>
        <p:spPr bwMode="auto">
          <a:xfrm>
            <a:off x="6298719" y="5063491"/>
            <a:ext cx="1609561" cy="27937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vLLM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 (w/ 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SpecD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) 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E311E83-FBDA-9107-D6FB-02B844FB2E3E}"/>
              </a:ext>
            </a:extLst>
          </p:cNvPr>
          <p:cNvSpPr/>
          <p:nvPr/>
        </p:nvSpPr>
        <p:spPr bwMode="auto">
          <a:xfrm>
            <a:off x="6286493" y="5477976"/>
            <a:ext cx="1609561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ROC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m/HIP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F4B2508-89B5-8604-D8DA-F0FE64336611}"/>
              </a:ext>
            </a:extLst>
          </p:cNvPr>
          <p:cNvSpPr/>
          <p:nvPr/>
        </p:nvSpPr>
        <p:spPr bwMode="auto">
          <a:xfrm>
            <a:off x="6265269" y="5846028"/>
            <a:ext cx="1588337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iGPU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39D922-B056-3B59-DDFA-15FB7A087791}"/>
              </a:ext>
            </a:extLst>
          </p:cNvPr>
          <p:cNvSpPr txBox="1"/>
          <p:nvPr/>
        </p:nvSpPr>
        <p:spPr>
          <a:xfrm>
            <a:off x="3523931" y="6573372"/>
            <a:ext cx="159178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NPU/CPU 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Workload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1EC64D-DE96-8C86-D80B-3AE12170FD9D}"/>
              </a:ext>
            </a:extLst>
          </p:cNvPr>
          <p:cNvSpPr txBox="1"/>
          <p:nvPr/>
        </p:nvSpPr>
        <p:spPr>
          <a:xfrm>
            <a:off x="3854940" y="6239780"/>
            <a:ext cx="94256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RyzenAI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 Stack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B5DB7A-201E-E84C-4A0C-B6758445AAB8}"/>
              </a:ext>
            </a:extLst>
          </p:cNvPr>
          <p:cNvSpPr txBox="1"/>
          <p:nvPr/>
        </p:nvSpPr>
        <p:spPr>
          <a:xfrm>
            <a:off x="6547662" y="6228682"/>
            <a:ext cx="106599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ROCm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/HIP Stack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9B31188-7A79-649C-15B2-A0D4DD73C514}"/>
              </a:ext>
            </a:extLst>
          </p:cNvPr>
          <p:cNvSpPr txBox="1"/>
          <p:nvPr/>
        </p:nvSpPr>
        <p:spPr>
          <a:xfrm>
            <a:off x="8903721" y="6605290"/>
            <a:ext cx="155820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NPU/CPU Workload Target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0F5736-AC35-48B1-03B1-FE764F0FC2B3}"/>
              </a:ext>
            </a:extLst>
          </p:cNvPr>
          <p:cNvSpPr txBox="1"/>
          <p:nvPr/>
        </p:nvSpPr>
        <p:spPr>
          <a:xfrm>
            <a:off x="8283410" y="3326398"/>
            <a:ext cx="56945" cy="1168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F3E22E9D-513B-2EE7-BF61-9F148DE81710}"/>
              </a:ext>
            </a:extLst>
          </p:cNvPr>
          <p:cNvSpPr/>
          <p:nvPr/>
        </p:nvSpPr>
        <p:spPr bwMode="auto">
          <a:xfrm>
            <a:off x="8772790" y="3918812"/>
            <a:ext cx="1689136" cy="2520871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EA1DAF1-36D8-F135-E421-0798073EEF31}"/>
              </a:ext>
            </a:extLst>
          </p:cNvPr>
          <p:cNvSpPr/>
          <p:nvPr/>
        </p:nvSpPr>
        <p:spPr bwMode="auto">
          <a:xfrm>
            <a:off x="8986235" y="4113866"/>
            <a:ext cx="1185037" cy="421354"/>
          </a:xfrm>
          <a:prstGeom prst="rect">
            <a:avLst/>
          </a:prstGeom>
          <a:solidFill>
            <a:srgbClr val="0070C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Model (Text-to-Speech)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65125D8-A481-6D52-CA56-21BE4A766742}"/>
              </a:ext>
            </a:extLst>
          </p:cNvPr>
          <p:cNvSpPr txBox="1"/>
          <p:nvPr/>
        </p:nvSpPr>
        <p:spPr>
          <a:xfrm>
            <a:off x="9190993" y="3935258"/>
            <a:ext cx="45719" cy="1418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20C28DE-588F-F2A6-429F-DF4492B20706}"/>
              </a:ext>
            </a:extLst>
          </p:cNvPr>
          <p:cNvCxnSpPr>
            <a:cxnSpLocks/>
          </p:cNvCxnSpPr>
          <p:nvPr/>
        </p:nvCxnSpPr>
        <p:spPr>
          <a:xfrm>
            <a:off x="9376351" y="4611750"/>
            <a:ext cx="0" cy="397952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59C8440-0431-E3F0-FEEA-3BC062BC7BA1}"/>
              </a:ext>
            </a:extLst>
          </p:cNvPr>
          <p:cNvCxnSpPr>
            <a:cxnSpLocks/>
          </p:cNvCxnSpPr>
          <p:nvPr/>
        </p:nvCxnSpPr>
        <p:spPr>
          <a:xfrm flipV="1">
            <a:off x="9908552" y="4611750"/>
            <a:ext cx="0" cy="451785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C13AF169-34BE-1E07-A3FB-0FF5A3F75057}"/>
              </a:ext>
            </a:extLst>
          </p:cNvPr>
          <p:cNvSpPr/>
          <p:nvPr/>
        </p:nvSpPr>
        <p:spPr bwMode="auto">
          <a:xfrm>
            <a:off x="8934787" y="5063535"/>
            <a:ext cx="1439898" cy="25746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ONNX-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RunTime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C95ADB57-FC38-902C-21CF-22E79B57EA07}"/>
              </a:ext>
            </a:extLst>
          </p:cNvPr>
          <p:cNvSpPr/>
          <p:nvPr/>
        </p:nvSpPr>
        <p:spPr bwMode="auto">
          <a:xfrm>
            <a:off x="8956011" y="5471988"/>
            <a:ext cx="1439898" cy="22691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VitisAI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EP / CPU EP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C1172DE6-E0B7-493B-3958-3CF8804A68EE}"/>
              </a:ext>
            </a:extLst>
          </p:cNvPr>
          <p:cNvSpPr/>
          <p:nvPr/>
        </p:nvSpPr>
        <p:spPr bwMode="auto">
          <a:xfrm>
            <a:off x="9753399" y="5883737"/>
            <a:ext cx="621286" cy="22691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CPU 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66F1D4E1-EBA9-20D7-2C25-9AF3D89BDD4D}"/>
              </a:ext>
            </a:extLst>
          </p:cNvPr>
          <p:cNvSpPr/>
          <p:nvPr/>
        </p:nvSpPr>
        <p:spPr bwMode="auto">
          <a:xfrm>
            <a:off x="8986235" y="5872328"/>
            <a:ext cx="609500" cy="22691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NPU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02247CF-7E3D-8471-DF4D-C5B2FACBF1E1}"/>
              </a:ext>
            </a:extLst>
          </p:cNvPr>
          <p:cNvSpPr txBox="1"/>
          <p:nvPr/>
        </p:nvSpPr>
        <p:spPr>
          <a:xfrm>
            <a:off x="9290985" y="6181789"/>
            <a:ext cx="84321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RyzenAI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 Stack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F43A7E-9E39-D37F-A9CF-148C908E2557}"/>
              </a:ext>
            </a:extLst>
          </p:cNvPr>
          <p:cNvCxnSpPr>
            <a:cxnSpLocks/>
          </p:cNvCxnSpPr>
          <p:nvPr/>
        </p:nvCxnSpPr>
        <p:spPr>
          <a:xfrm>
            <a:off x="7571328" y="2370077"/>
            <a:ext cx="237997" cy="10946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79163E-39C8-9B44-6BE5-E616AAA45B0D}"/>
              </a:ext>
            </a:extLst>
          </p:cNvPr>
          <p:cNvCxnSpPr>
            <a:cxnSpLocks/>
          </p:cNvCxnSpPr>
          <p:nvPr/>
        </p:nvCxnSpPr>
        <p:spPr>
          <a:xfrm>
            <a:off x="4934075" y="2090209"/>
            <a:ext cx="430924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4F85FE8-88B6-8DCA-C292-D0CA70FBFBDA}"/>
              </a:ext>
            </a:extLst>
          </p:cNvPr>
          <p:cNvCxnSpPr>
            <a:cxnSpLocks/>
          </p:cNvCxnSpPr>
          <p:nvPr/>
        </p:nvCxnSpPr>
        <p:spPr>
          <a:xfrm>
            <a:off x="3762212" y="2112781"/>
            <a:ext cx="3704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9DE159-6E92-7324-4F50-D34EDA8ABC94}"/>
              </a:ext>
            </a:extLst>
          </p:cNvPr>
          <p:cNvCxnSpPr>
            <a:cxnSpLocks/>
          </p:cNvCxnSpPr>
          <p:nvPr/>
        </p:nvCxnSpPr>
        <p:spPr>
          <a:xfrm>
            <a:off x="3762212" y="1780639"/>
            <a:ext cx="3704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9207462-DF37-B310-B70C-F5057AB15D05}"/>
              </a:ext>
            </a:extLst>
          </p:cNvPr>
          <p:cNvSpPr txBox="1"/>
          <p:nvPr/>
        </p:nvSpPr>
        <p:spPr>
          <a:xfrm>
            <a:off x="4048619" y="1187577"/>
            <a:ext cx="1219204" cy="185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Model: 0.5 GB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BA5C52-164A-3413-101A-4B7713C5E8B0}"/>
              </a:ext>
            </a:extLst>
          </p:cNvPr>
          <p:cNvSpPr txBox="1"/>
          <p:nvPr/>
        </p:nvSpPr>
        <p:spPr>
          <a:xfrm>
            <a:off x="5286127" y="1210953"/>
            <a:ext cx="1219204" cy="185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Model: </a:t>
            </a:r>
            <a:r>
              <a:rPr lang="en-US" sz="1200">
                <a:solidFill>
                  <a:srgbClr val="FFFFFF"/>
                </a:solidFill>
                <a:latin typeface="Arial" panose="020B0604020202020204"/>
              </a:rPr>
              <a:t>5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4EBDB2-5FB0-14F8-53AE-616F09932BBA}"/>
              </a:ext>
            </a:extLst>
          </p:cNvPr>
          <p:cNvSpPr/>
          <p:nvPr/>
        </p:nvSpPr>
        <p:spPr bwMode="auto">
          <a:xfrm>
            <a:off x="1851609" y="2656827"/>
            <a:ext cx="1069562" cy="565717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ASR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E93EBC-A5AA-77A7-2A4C-80F9CD9A277B}"/>
              </a:ext>
            </a:extLst>
          </p:cNvPr>
          <p:cNvSpPr/>
          <p:nvPr/>
        </p:nvSpPr>
        <p:spPr bwMode="auto">
          <a:xfrm>
            <a:off x="7846308" y="1156049"/>
            <a:ext cx="1117416" cy="728717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Function Call,  Message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A61A64-6F4F-8E01-D97B-07A62731C06D}"/>
              </a:ext>
            </a:extLst>
          </p:cNvPr>
          <p:cNvSpPr txBox="1"/>
          <p:nvPr/>
        </p:nvSpPr>
        <p:spPr>
          <a:xfrm>
            <a:off x="2278138" y="3289275"/>
            <a:ext cx="1219204" cy="185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Model: 1.5 GB</a:t>
            </a:r>
          </a:p>
        </p:txBody>
      </p:sp>
      <p:pic>
        <p:nvPicPr>
          <p:cNvPr id="37" name="Picture 2" descr="In-Cabin AI is Making Driving Safer ...">
            <a:extLst>
              <a:ext uri="{FF2B5EF4-FFF2-40B4-BE49-F238E27FC236}">
                <a16:creationId xmlns:a16="http://schemas.microsoft.com/office/drawing/2014/main" id="{FDCA3296-371B-6DFC-B753-339078B71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390" y="1258490"/>
            <a:ext cx="1174526" cy="65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Cameras with Front and Rear Views.">
            <a:extLst>
              <a:ext uri="{FF2B5EF4-FFF2-40B4-BE49-F238E27FC236}">
                <a16:creationId xmlns:a16="http://schemas.microsoft.com/office/drawing/2014/main" id="{4F6EDEFF-2D9D-843E-9A7E-7288AC988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625" y="1535593"/>
            <a:ext cx="1050304" cy="63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DF8FCD39-F71C-D838-1AC3-FC7B48017861}"/>
              </a:ext>
            </a:extLst>
          </p:cNvPr>
          <p:cNvSpPr/>
          <p:nvPr/>
        </p:nvSpPr>
        <p:spPr bwMode="auto">
          <a:xfrm>
            <a:off x="7800987" y="2112781"/>
            <a:ext cx="1126186" cy="516152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TTS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DEC1E2-FA48-002A-F349-4AA23B8D6EFE}"/>
              </a:ext>
            </a:extLst>
          </p:cNvPr>
          <p:cNvSpPr txBox="1"/>
          <p:nvPr/>
        </p:nvSpPr>
        <p:spPr>
          <a:xfrm>
            <a:off x="7851366" y="2704430"/>
            <a:ext cx="1219204" cy="185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Model: 0.5 GB</a:t>
            </a:r>
          </a:p>
        </p:txBody>
      </p:sp>
      <p:pic>
        <p:nvPicPr>
          <p:cNvPr id="43" name="Picture 12" descr="1,327,300+ Driver Stock Photos, Pictures &amp; Royalty-Free ...">
            <a:extLst>
              <a:ext uri="{FF2B5EF4-FFF2-40B4-BE49-F238E27FC236}">
                <a16:creationId xmlns:a16="http://schemas.microsoft.com/office/drawing/2014/main" id="{D0D47713-FA6C-8529-7FA9-5523CF95C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9627" y="1254965"/>
            <a:ext cx="1934363" cy="141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77C5D26-E5C7-DE60-5E9E-3752DD227DA0}"/>
              </a:ext>
            </a:extLst>
          </p:cNvPr>
          <p:cNvCxnSpPr>
            <a:cxnSpLocks/>
          </p:cNvCxnSpPr>
          <p:nvPr/>
        </p:nvCxnSpPr>
        <p:spPr>
          <a:xfrm>
            <a:off x="8924894" y="1612228"/>
            <a:ext cx="38367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15F934D-CC91-E03B-321E-DE8029BD44A6}"/>
              </a:ext>
            </a:extLst>
          </p:cNvPr>
          <p:cNvSpPr txBox="1"/>
          <p:nvPr/>
        </p:nvSpPr>
        <p:spPr>
          <a:xfrm>
            <a:off x="685110" y="2545455"/>
            <a:ext cx="146682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Speech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CABA108-6244-0B7F-4C76-2A5D8993A4F1}"/>
              </a:ext>
            </a:extLst>
          </p:cNvPr>
          <p:cNvCxnSpPr>
            <a:cxnSpLocks/>
          </p:cNvCxnSpPr>
          <p:nvPr/>
        </p:nvCxnSpPr>
        <p:spPr>
          <a:xfrm>
            <a:off x="8920479" y="2370077"/>
            <a:ext cx="38367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D235922-7340-7898-83EC-7DF9E85539AA}"/>
              </a:ext>
            </a:extLst>
          </p:cNvPr>
          <p:cNvCxnSpPr>
            <a:cxnSpLocks/>
          </p:cNvCxnSpPr>
          <p:nvPr/>
        </p:nvCxnSpPr>
        <p:spPr>
          <a:xfrm>
            <a:off x="3807777" y="2950150"/>
            <a:ext cx="2713699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9828686-FB30-350B-1DF6-31DE081B2102}"/>
              </a:ext>
            </a:extLst>
          </p:cNvPr>
          <p:cNvCxnSpPr>
            <a:cxnSpLocks/>
          </p:cNvCxnSpPr>
          <p:nvPr/>
        </p:nvCxnSpPr>
        <p:spPr>
          <a:xfrm>
            <a:off x="7571328" y="1737263"/>
            <a:ext cx="22485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21A28795-18C6-0B79-8D43-4C07222C074D}"/>
              </a:ext>
            </a:extLst>
          </p:cNvPr>
          <p:cNvCxnSpPr>
            <a:cxnSpLocks/>
            <a:endCxn id="32" idx="1"/>
          </p:cNvCxnSpPr>
          <p:nvPr/>
        </p:nvCxnSpPr>
        <p:spPr>
          <a:xfrm rot="10800000">
            <a:off x="1851609" y="2939686"/>
            <a:ext cx="8610316" cy="285224"/>
          </a:xfrm>
          <a:prstGeom prst="bentConnector3">
            <a:avLst>
              <a:gd name="adj1" fmla="val 103415"/>
            </a:avLst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23585536-69D7-63C8-7119-DB5A1531B418}"/>
              </a:ext>
            </a:extLst>
          </p:cNvPr>
          <p:cNvSpPr/>
          <p:nvPr/>
        </p:nvSpPr>
        <p:spPr bwMode="auto">
          <a:xfrm>
            <a:off x="3038543" y="2644004"/>
            <a:ext cx="776118" cy="565717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B1258F7-8145-9B96-5139-0F086B0211E2}"/>
              </a:ext>
            </a:extLst>
          </p:cNvPr>
          <p:cNvSpPr/>
          <p:nvPr/>
        </p:nvSpPr>
        <p:spPr bwMode="auto">
          <a:xfrm>
            <a:off x="4155198" y="1466570"/>
            <a:ext cx="850684" cy="1072123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CLIP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(Visual Encoder)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1338391-0622-3228-6D71-826EFA8D1379}"/>
              </a:ext>
            </a:extLst>
          </p:cNvPr>
          <p:cNvSpPr/>
          <p:nvPr/>
        </p:nvSpPr>
        <p:spPr bwMode="auto">
          <a:xfrm>
            <a:off x="5379445" y="1427928"/>
            <a:ext cx="885824" cy="1078542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LLM</a:t>
            </a:r>
          </a:p>
        </p:txBody>
      </p:sp>
      <p:pic>
        <p:nvPicPr>
          <p:cNvPr id="70" name="Picture 2" descr="387,700+ Microphone Stock Photos, Pictures &amp; Royalty-Free ...">
            <a:extLst>
              <a:ext uri="{FF2B5EF4-FFF2-40B4-BE49-F238E27FC236}">
                <a16:creationId xmlns:a16="http://schemas.microsoft.com/office/drawing/2014/main" id="{1FDBC19D-FF07-1B3F-D4DF-7321859AF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675" y="2757570"/>
            <a:ext cx="574816" cy="531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55978D2D-6AFB-85D6-784E-D14043A6475B}"/>
              </a:ext>
            </a:extLst>
          </p:cNvPr>
          <p:cNvSpPr/>
          <p:nvPr/>
        </p:nvSpPr>
        <p:spPr bwMode="auto">
          <a:xfrm>
            <a:off x="3963916" y="1057324"/>
            <a:ext cx="2419607" cy="1780874"/>
          </a:xfrm>
          <a:prstGeom prst="rect">
            <a:avLst/>
          </a:prstGeom>
          <a:noFill/>
          <a:ln>
            <a:solidFill>
              <a:srgbClr val="00B0F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00B0F0"/>
                </a:solidFill>
                <a:ea typeface="Segoe UI" pitchFamily="34" charset="0"/>
                <a:cs typeface="Segoe UI" pitchFamily="34" charset="0"/>
              </a:rPr>
              <a:t>VLM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C1F97C2-7276-AFD9-079C-FB66A24D95CB}"/>
              </a:ext>
            </a:extLst>
          </p:cNvPr>
          <p:cNvSpPr txBox="1"/>
          <p:nvPr/>
        </p:nvSpPr>
        <p:spPr>
          <a:xfrm>
            <a:off x="894462" y="1302126"/>
            <a:ext cx="14668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2000">
                <a:solidFill>
                  <a:srgbClr val="00B0F0"/>
                </a:solidFill>
                <a:latin typeface="Arial" panose="020B0604020202020204"/>
              </a:rPr>
              <a:t>Images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2000">
                <a:solidFill>
                  <a:srgbClr val="00B0F0"/>
                </a:solidFill>
                <a:latin typeface="Arial" panose="020B0604020202020204"/>
              </a:rPr>
              <a:t>videos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B966D6-C8A4-F318-BC7A-EE9A1089F13B}"/>
              </a:ext>
            </a:extLst>
          </p:cNvPr>
          <p:cNvSpPr/>
          <p:nvPr/>
        </p:nvSpPr>
        <p:spPr bwMode="auto">
          <a:xfrm>
            <a:off x="6609935" y="1073663"/>
            <a:ext cx="965672" cy="2001425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/>
              </a:rPr>
              <a:t>AI Agent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597A0BE-61D4-7EAA-15D2-2C77E640AC61}"/>
              </a:ext>
            </a:extLst>
          </p:cNvPr>
          <p:cNvCxnSpPr>
            <a:cxnSpLocks/>
          </p:cNvCxnSpPr>
          <p:nvPr/>
        </p:nvCxnSpPr>
        <p:spPr>
          <a:xfrm>
            <a:off x="6182935" y="1978290"/>
            <a:ext cx="430924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31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46" grpId="0"/>
      <p:bldP spid="68" grpId="0" animBg="1"/>
      <p:bldP spid="69" grpId="0" animBg="1"/>
      <p:bldP spid="81" grpId="0" animBg="1"/>
      <p:bldP spid="8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2306C-3A72-4F61-FA8F-D8C58F8A7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90300C6D-5C42-6C54-F1E2-97954F1DFBB7}"/>
              </a:ext>
            </a:extLst>
          </p:cNvPr>
          <p:cNvSpPr/>
          <p:nvPr/>
        </p:nvSpPr>
        <p:spPr bwMode="auto">
          <a:xfrm>
            <a:off x="6103502" y="2432953"/>
            <a:ext cx="1953472" cy="2939189"/>
          </a:xfrm>
          <a:prstGeom prst="roundRect">
            <a:avLst/>
          </a:prstGeom>
          <a:solidFill>
            <a:srgbClr val="C0000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5689E7FE-F8D0-A9EB-3897-B9A9FA0836B7}"/>
              </a:ext>
            </a:extLst>
          </p:cNvPr>
          <p:cNvSpPr/>
          <p:nvPr/>
        </p:nvSpPr>
        <p:spPr bwMode="auto">
          <a:xfrm>
            <a:off x="5833517" y="2608349"/>
            <a:ext cx="1953472" cy="293918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BA9DA916-6C14-8142-E640-63A3121ED3D4}"/>
              </a:ext>
            </a:extLst>
          </p:cNvPr>
          <p:cNvSpPr/>
          <p:nvPr/>
        </p:nvSpPr>
        <p:spPr bwMode="auto">
          <a:xfrm>
            <a:off x="3360172" y="2449016"/>
            <a:ext cx="1953472" cy="2939189"/>
          </a:xfrm>
          <a:prstGeom prst="roundRect">
            <a:avLst/>
          </a:prstGeom>
          <a:solidFill>
            <a:srgbClr val="0070C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3E1476F-C2F4-778C-456E-981EF9895376}"/>
              </a:ext>
            </a:extLst>
          </p:cNvPr>
          <p:cNvSpPr/>
          <p:nvPr/>
        </p:nvSpPr>
        <p:spPr bwMode="auto">
          <a:xfrm>
            <a:off x="3196128" y="2602361"/>
            <a:ext cx="1953472" cy="2939189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68ACB7-11BE-BB34-977A-143131718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580" y="569421"/>
            <a:ext cx="11049867" cy="861774"/>
          </a:xfrm>
        </p:spPr>
        <p:txBody>
          <a:bodyPr/>
          <a:lstStyle/>
          <a:p>
            <a:r>
              <a:rPr lang="en-US"/>
              <a:t>Agentic/Robotics (Ex. </a:t>
            </a:r>
            <a:r>
              <a:rPr lang="en-US" err="1"/>
              <a:t>CogACT</a:t>
            </a:r>
            <a:r>
              <a:rPr lang="en-US"/>
              <a:t>) Usage Mapping to Inference Pipeline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FB41A-B312-C4F7-35D5-60C6E11FC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836" y="5463874"/>
            <a:ext cx="10517707" cy="507840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A383EC-53A4-6476-7746-7B66BD8328F9}"/>
              </a:ext>
            </a:extLst>
          </p:cNvPr>
          <p:cNvSpPr/>
          <p:nvPr/>
        </p:nvSpPr>
        <p:spPr bwMode="auto">
          <a:xfrm>
            <a:off x="1540939" y="2686598"/>
            <a:ext cx="998342" cy="735651"/>
          </a:xfrm>
          <a:prstGeom prst="rect">
            <a:avLst/>
          </a:prstGeom>
          <a:solidFill>
            <a:srgbClr val="ED1C24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Input 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Preproc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 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src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: images,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audi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o/video) 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24BFFA-D923-8689-2B2C-929DEDE5F5AF}"/>
              </a:ext>
            </a:extLst>
          </p:cNvPr>
          <p:cNvCxnSpPr>
            <a:cxnSpLocks/>
          </p:cNvCxnSpPr>
          <p:nvPr/>
        </p:nvCxnSpPr>
        <p:spPr>
          <a:xfrm>
            <a:off x="990430" y="2822954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07046A-62A2-05E6-7EDF-0775F2F2D1FD}"/>
              </a:ext>
            </a:extLst>
          </p:cNvPr>
          <p:cNvCxnSpPr>
            <a:cxnSpLocks/>
          </p:cNvCxnSpPr>
          <p:nvPr/>
        </p:nvCxnSpPr>
        <p:spPr>
          <a:xfrm>
            <a:off x="990430" y="3036672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3E7F38-8729-0A63-73DC-8544EB73E080}"/>
              </a:ext>
            </a:extLst>
          </p:cNvPr>
          <p:cNvCxnSpPr>
            <a:cxnSpLocks/>
          </p:cNvCxnSpPr>
          <p:nvPr/>
        </p:nvCxnSpPr>
        <p:spPr>
          <a:xfrm>
            <a:off x="990430" y="3254003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076DF24-4FE0-0BF1-E3FE-F9DA48E281C9}"/>
              </a:ext>
            </a:extLst>
          </p:cNvPr>
          <p:cNvSpPr txBox="1"/>
          <p:nvPr/>
        </p:nvSpPr>
        <p:spPr>
          <a:xfrm>
            <a:off x="1540939" y="2138199"/>
            <a:ext cx="104861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iGPU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/VCN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3640100-CA4D-9312-8E3F-505BB40B0AA0}"/>
              </a:ext>
            </a:extLst>
          </p:cNvPr>
          <p:cNvSpPr/>
          <p:nvPr/>
        </p:nvSpPr>
        <p:spPr bwMode="auto">
          <a:xfrm>
            <a:off x="2567590" y="2839135"/>
            <a:ext cx="628538" cy="206664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3FA1E9F3-4B35-6D9C-835E-49963A210BBC}"/>
              </a:ext>
            </a:extLst>
          </p:cNvPr>
          <p:cNvSpPr/>
          <p:nvPr/>
        </p:nvSpPr>
        <p:spPr bwMode="auto">
          <a:xfrm>
            <a:off x="4886266" y="2934110"/>
            <a:ext cx="843692" cy="223831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ECD0E19-A054-86D2-261C-38E3C5D83110}"/>
              </a:ext>
            </a:extLst>
          </p:cNvPr>
          <p:cNvSpPr/>
          <p:nvPr/>
        </p:nvSpPr>
        <p:spPr bwMode="auto">
          <a:xfrm>
            <a:off x="7517968" y="2925018"/>
            <a:ext cx="1058879" cy="246222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826062-5251-1E66-1AEB-67D4973114B6}"/>
              </a:ext>
            </a:extLst>
          </p:cNvPr>
          <p:cNvSpPr txBox="1"/>
          <p:nvPr/>
        </p:nvSpPr>
        <p:spPr>
          <a:xfrm>
            <a:off x="6437434" y="1949780"/>
            <a:ext cx="128560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iGPU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Workload Target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Or NPU/CPU Target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47CF1C-F7FE-0F23-4D5D-10384A0C2E99}"/>
              </a:ext>
            </a:extLst>
          </p:cNvPr>
          <p:cNvSpPr/>
          <p:nvPr/>
        </p:nvSpPr>
        <p:spPr bwMode="auto">
          <a:xfrm>
            <a:off x="3358125" y="2808265"/>
            <a:ext cx="1481802" cy="457200"/>
          </a:xfrm>
          <a:prstGeom prst="rect">
            <a:avLst/>
          </a:prstGeom>
          <a:solidFill>
            <a:srgbClr val="0070C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Model (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)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(Encoder) 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D53ABC-AB6F-D1EC-F31E-333A2CC62029}"/>
              </a:ext>
            </a:extLst>
          </p:cNvPr>
          <p:cNvSpPr txBox="1"/>
          <p:nvPr/>
        </p:nvSpPr>
        <p:spPr>
          <a:xfrm>
            <a:off x="3614332" y="2618808"/>
            <a:ext cx="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7FF01D9-B164-F751-528E-F2F97745E456}"/>
              </a:ext>
            </a:extLst>
          </p:cNvPr>
          <p:cNvCxnSpPr>
            <a:cxnSpLocks/>
          </p:cNvCxnSpPr>
          <p:nvPr/>
        </p:nvCxnSpPr>
        <p:spPr>
          <a:xfrm>
            <a:off x="3799690" y="3295300"/>
            <a:ext cx="0" cy="431807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0582FF5-7809-6A9C-7FB4-4D1FD076703D}"/>
              </a:ext>
            </a:extLst>
          </p:cNvPr>
          <p:cNvCxnSpPr>
            <a:cxnSpLocks/>
          </p:cNvCxnSpPr>
          <p:nvPr/>
        </p:nvCxnSpPr>
        <p:spPr>
          <a:xfrm flipV="1">
            <a:off x="4331891" y="3254910"/>
            <a:ext cx="0" cy="492175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D832A37-9AB6-5AE5-7387-60A877BB8611}"/>
              </a:ext>
            </a:extLst>
          </p:cNvPr>
          <p:cNvSpPr/>
          <p:nvPr/>
        </p:nvSpPr>
        <p:spPr bwMode="auto">
          <a:xfrm>
            <a:off x="3358125" y="3747085"/>
            <a:ext cx="1609561" cy="27937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ONNX-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RunTime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87F4B50-C54A-6E48-6E68-3293EA33F9C1}"/>
              </a:ext>
            </a:extLst>
          </p:cNvPr>
          <p:cNvSpPr/>
          <p:nvPr/>
        </p:nvSpPr>
        <p:spPr bwMode="auto">
          <a:xfrm>
            <a:off x="3379349" y="4155538"/>
            <a:ext cx="1609561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VitisAI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EP / CPU EP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6F78C78-E2DB-3268-AB1E-BE795F549416}"/>
              </a:ext>
            </a:extLst>
          </p:cNvPr>
          <p:cNvSpPr/>
          <p:nvPr/>
        </p:nvSpPr>
        <p:spPr bwMode="auto">
          <a:xfrm>
            <a:off x="4232519" y="4602323"/>
            <a:ext cx="694492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CPU 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CD840D9-9D50-9B9F-42E2-B4E7499B7EC0}"/>
              </a:ext>
            </a:extLst>
          </p:cNvPr>
          <p:cNvSpPr/>
          <p:nvPr/>
        </p:nvSpPr>
        <p:spPr bwMode="auto">
          <a:xfrm>
            <a:off x="3379349" y="4602323"/>
            <a:ext cx="681318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NPU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838689A-6FF3-13A5-9995-1E4938371331}"/>
              </a:ext>
            </a:extLst>
          </p:cNvPr>
          <p:cNvSpPr/>
          <p:nvPr/>
        </p:nvSpPr>
        <p:spPr bwMode="auto">
          <a:xfrm>
            <a:off x="5995514" y="2814253"/>
            <a:ext cx="1481802" cy="457200"/>
          </a:xfrm>
          <a:prstGeom prst="rect">
            <a:avLst/>
          </a:prstGeom>
          <a:solidFill>
            <a:srgbClr val="C0000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Model  (LLM)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(Decoder, e.g.: Llama)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077982-A73A-674E-737A-0EA78D52A9DE}"/>
              </a:ext>
            </a:extLst>
          </p:cNvPr>
          <p:cNvSpPr txBox="1"/>
          <p:nvPr/>
        </p:nvSpPr>
        <p:spPr>
          <a:xfrm>
            <a:off x="6251721" y="2624796"/>
            <a:ext cx="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F96D8B9-9C94-FC88-6801-3B89A6F27C0E}"/>
              </a:ext>
            </a:extLst>
          </p:cNvPr>
          <p:cNvCxnSpPr>
            <a:cxnSpLocks/>
          </p:cNvCxnSpPr>
          <p:nvPr/>
        </p:nvCxnSpPr>
        <p:spPr>
          <a:xfrm>
            <a:off x="6368840" y="3331304"/>
            <a:ext cx="0" cy="431807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A2CBE79-69C8-373D-6429-EDD75D60C170}"/>
              </a:ext>
            </a:extLst>
          </p:cNvPr>
          <p:cNvCxnSpPr>
            <a:cxnSpLocks/>
          </p:cNvCxnSpPr>
          <p:nvPr/>
        </p:nvCxnSpPr>
        <p:spPr>
          <a:xfrm flipV="1">
            <a:off x="7144281" y="3326719"/>
            <a:ext cx="0" cy="380661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BD510968-DC59-9976-BD5D-110857DEDF78}"/>
              </a:ext>
            </a:extLst>
          </p:cNvPr>
          <p:cNvSpPr/>
          <p:nvPr/>
        </p:nvSpPr>
        <p:spPr bwMode="auto">
          <a:xfrm>
            <a:off x="6028964" y="3747041"/>
            <a:ext cx="1609561" cy="27937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vLLM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, Llama.cpp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CACA404-7729-84E2-2AFA-EC9772E5A43C}"/>
              </a:ext>
            </a:extLst>
          </p:cNvPr>
          <p:cNvSpPr/>
          <p:nvPr/>
        </p:nvSpPr>
        <p:spPr bwMode="auto">
          <a:xfrm>
            <a:off x="6016738" y="4161526"/>
            <a:ext cx="1609561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ROC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m/HIP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C0D9727D-078B-33B3-2449-EEA7188279B6}"/>
              </a:ext>
            </a:extLst>
          </p:cNvPr>
          <p:cNvSpPr/>
          <p:nvPr/>
        </p:nvSpPr>
        <p:spPr bwMode="auto">
          <a:xfrm>
            <a:off x="6016738" y="4591950"/>
            <a:ext cx="1588337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iGPU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D94EB93-B63F-20CA-77E3-E891F1011561}"/>
              </a:ext>
            </a:extLst>
          </p:cNvPr>
          <p:cNvSpPr txBox="1"/>
          <p:nvPr/>
        </p:nvSpPr>
        <p:spPr>
          <a:xfrm>
            <a:off x="3536000" y="2029861"/>
            <a:ext cx="159178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NPU/CPU 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Workload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85166F-D969-5281-6AD7-61FAE8598D2D}"/>
              </a:ext>
            </a:extLst>
          </p:cNvPr>
          <p:cNvSpPr txBox="1"/>
          <p:nvPr/>
        </p:nvSpPr>
        <p:spPr>
          <a:xfrm>
            <a:off x="3604421" y="5157764"/>
            <a:ext cx="94256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RyzenAI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 Stack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709301-B72B-5225-B129-232426E8BD30}"/>
              </a:ext>
            </a:extLst>
          </p:cNvPr>
          <p:cNvSpPr txBox="1"/>
          <p:nvPr/>
        </p:nvSpPr>
        <p:spPr>
          <a:xfrm>
            <a:off x="6235576" y="5166705"/>
            <a:ext cx="106599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ROCm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/HIP Stack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ECE0E81-C8AD-D37D-692F-F1A8698DE1B4}"/>
              </a:ext>
            </a:extLst>
          </p:cNvPr>
          <p:cNvSpPr txBox="1"/>
          <p:nvPr/>
        </p:nvSpPr>
        <p:spPr>
          <a:xfrm>
            <a:off x="9163595" y="1988762"/>
            <a:ext cx="104861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NPU/CPU Workload Target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3BDB1F-1F39-B6F9-C4B2-AC3278214E96}"/>
              </a:ext>
            </a:extLst>
          </p:cNvPr>
          <p:cNvSpPr txBox="1"/>
          <p:nvPr/>
        </p:nvSpPr>
        <p:spPr>
          <a:xfrm>
            <a:off x="8013655" y="2009948"/>
            <a:ext cx="56945" cy="1168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08A87644-AD9C-3C9E-F4C4-680F6E0B3FE8}"/>
              </a:ext>
            </a:extLst>
          </p:cNvPr>
          <p:cNvSpPr/>
          <p:nvPr/>
        </p:nvSpPr>
        <p:spPr bwMode="auto">
          <a:xfrm>
            <a:off x="8503034" y="2602362"/>
            <a:ext cx="1747557" cy="2708748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8369639-025A-F802-6DD6-32D1B268206C}"/>
              </a:ext>
            </a:extLst>
          </p:cNvPr>
          <p:cNvSpPr/>
          <p:nvPr/>
        </p:nvSpPr>
        <p:spPr bwMode="auto">
          <a:xfrm>
            <a:off x="8665031" y="2808265"/>
            <a:ext cx="1325606" cy="421354"/>
          </a:xfrm>
          <a:prstGeom prst="rect">
            <a:avLst/>
          </a:prstGeom>
          <a:solidFill>
            <a:srgbClr val="0070C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Mode( (Action)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66BBC91-AAD2-E1B3-56FF-56C399AACD6F}"/>
              </a:ext>
            </a:extLst>
          </p:cNvPr>
          <p:cNvSpPr txBox="1"/>
          <p:nvPr/>
        </p:nvSpPr>
        <p:spPr>
          <a:xfrm>
            <a:off x="8921238" y="2618808"/>
            <a:ext cx="45719" cy="1418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35620EC-D88D-51D5-784E-9962840EED9A}"/>
              </a:ext>
            </a:extLst>
          </p:cNvPr>
          <p:cNvCxnSpPr>
            <a:cxnSpLocks/>
          </p:cNvCxnSpPr>
          <p:nvPr/>
        </p:nvCxnSpPr>
        <p:spPr>
          <a:xfrm>
            <a:off x="9106596" y="3295300"/>
            <a:ext cx="0" cy="397952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ADD397C-AAED-A60D-152C-588BE64BAE3B}"/>
              </a:ext>
            </a:extLst>
          </p:cNvPr>
          <p:cNvCxnSpPr>
            <a:cxnSpLocks/>
          </p:cNvCxnSpPr>
          <p:nvPr/>
        </p:nvCxnSpPr>
        <p:spPr>
          <a:xfrm flipV="1">
            <a:off x="9638797" y="3295300"/>
            <a:ext cx="0" cy="451785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F26A4F55-9CFF-24E1-6AE9-46F991FBF384}"/>
              </a:ext>
            </a:extLst>
          </p:cNvPr>
          <p:cNvSpPr/>
          <p:nvPr/>
        </p:nvSpPr>
        <p:spPr bwMode="auto">
          <a:xfrm>
            <a:off x="8665032" y="3747085"/>
            <a:ext cx="1439898" cy="25746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ONNX-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RunTime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D91E30E4-9BED-176F-11A4-0DA1D7E733FD}"/>
              </a:ext>
            </a:extLst>
          </p:cNvPr>
          <p:cNvSpPr/>
          <p:nvPr/>
        </p:nvSpPr>
        <p:spPr bwMode="auto">
          <a:xfrm>
            <a:off x="8686256" y="4155538"/>
            <a:ext cx="1439898" cy="22691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VitisAI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EP / CPU EP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C29EC4E-7DA3-C53B-99D9-F5B30B872B8B}"/>
              </a:ext>
            </a:extLst>
          </p:cNvPr>
          <p:cNvSpPr/>
          <p:nvPr/>
        </p:nvSpPr>
        <p:spPr bwMode="auto">
          <a:xfrm>
            <a:off x="9483644" y="4567287"/>
            <a:ext cx="621286" cy="22691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CPU 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3AA2814B-FC1E-C3EE-0A42-564180696BF7}"/>
              </a:ext>
            </a:extLst>
          </p:cNvPr>
          <p:cNvSpPr/>
          <p:nvPr/>
        </p:nvSpPr>
        <p:spPr bwMode="auto">
          <a:xfrm>
            <a:off x="8716480" y="4555878"/>
            <a:ext cx="609500" cy="22691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NPU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E31A772-6BB4-6220-D938-563257AB9EF9}"/>
              </a:ext>
            </a:extLst>
          </p:cNvPr>
          <p:cNvSpPr txBox="1"/>
          <p:nvPr/>
        </p:nvSpPr>
        <p:spPr>
          <a:xfrm>
            <a:off x="9006858" y="5014635"/>
            <a:ext cx="84321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RyzenAI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 Stack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239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6B64F-0CAD-8E23-D7C4-A041C8FAF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D1CADA-B460-68D4-4F6E-47319683BAA0}"/>
              </a:ext>
            </a:extLst>
          </p:cNvPr>
          <p:cNvSpPr/>
          <p:nvPr/>
        </p:nvSpPr>
        <p:spPr bwMode="auto">
          <a:xfrm>
            <a:off x="609599" y="1221858"/>
            <a:ext cx="8936079" cy="1546369"/>
          </a:xfrm>
          <a:prstGeom prst="roundRect">
            <a:avLst/>
          </a:prstGeom>
          <a:noFill/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EF599C4-0D3E-03E5-8D65-F56E5BAFD621}"/>
              </a:ext>
            </a:extLst>
          </p:cNvPr>
          <p:cNvSpPr/>
          <p:nvPr/>
        </p:nvSpPr>
        <p:spPr bwMode="auto">
          <a:xfrm>
            <a:off x="3600450" y="3426572"/>
            <a:ext cx="2878646" cy="1397446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accent2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C5C99F4-B0E9-2996-D14B-FB8E349B797A}"/>
              </a:ext>
            </a:extLst>
          </p:cNvPr>
          <p:cNvSpPr/>
          <p:nvPr/>
        </p:nvSpPr>
        <p:spPr bwMode="auto">
          <a:xfrm>
            <a:off x="1161064" y="3451672"/>
            <a:ext cx="1966453" cy="1445902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accent2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52B30-280C-91FE-71DD-A76A29AE3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212" y="441976"/>
            <a:ext cx="11536097" cy="430887"/>
          </a:xfrm>
        </p:spPr>
        <p:txBody>
          <a:bodyPr/>
          <a:lstStyle/>
          <a:p>
            <a:r>
              <a:rPr lang="en-US"/>
              <a:t>APU Hybrid Execution for Encoder-Decoder-Diffusion Models  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C9FA7E1-E83E-7B85-D490-4B84AA231D5E}"/>
              </a:ext>
            </a:extLst>
          </p:cNvPr>
          <p:cNvSpPr/>
          <p:nvPr/>
        </p:nvSpPr>
        <p:spPr bwMode="auto">
          <a:xfrm>
            <a:off x="2786297" y="2036479"/>
            <a:ext cx="557268" cy="457876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D01EE1-49BD-EF06-7141-91A0F4F6A31E}"/>
              </a:ext>
            </a:extLst>
          </p:cNvPr>
          <p:cNvSpPr txBox="1"/>
          <p:nvPr/>
        </p:nvSpPr>
        <p:spPr>
          <a:xfrm>
            <a:off x="4392920" y="4670130"/>
            <a:ext cx="132087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iGPU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Workload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647CDC-1C7D-E31B-256D-24224113EC88}"/>
              </a:ext>
            </a:extLst>
          </p:cNvPr>
          <p:cNvSpPr/>
          <p:nvPr/>
        </p:nvSpPr>
        <p:spPr bwMode="auto">
          <a:xfrm>
            <a:off x="1437013" y="1979948"/>
            <a:ext cx="1352710" cy="602805"/>
          </a:xfrm>
          <a:prstGeom prst="rect">
            <a:avLst/>
          </a:prstGeom>
          <a:solidFill>
            <a:srgbClr val="0070C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Encoder-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Prefiller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(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, 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size_small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)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(Compute Intensive)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C1B870-FCC8-33C2-5D29-798501BE4B39}"/>
              </a:ext>
            </a:extLst>
          </p:cNvPr>
          <p:cNvSpPr txBox="1"/>
          <p:nvPr/>
        </p:nvSpPr>
        <p:spPr>
          <a:xfrm>
            <a:off x="1351429" y="1905303"/>
            <a:ext cx="6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B2407D0-A3B7-3829-0976-07E07B55DFFF}"/>
              </a:ext>
            </a:extLst>
          </p:cNvPr>
          <p:cNvCxnSpPr>
            <a:cxnSpLocks/>
          </p:cNvCxnSpPr>
          <p:nvPr/>
        </p:nvCxnSpPr>
        <p:spPr>
          <a:xfrm>
            <a:off x="1757773" y="2623143"/>
            <a:ext cx="0" cy="699004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89FD90D-3023-78B9-1D1D-54710AC07357}"/>
              </a:ext>
            </a:extLst>
          </p:cNvPr>
          <p:cNvCxnSpPr>
            <a:cxnSpLocks/>
          </p:cNvCxnSpPr>
          <p:nvPr/>
        </p:nvCxnSpPr>
        <p:spPr>
          <a:xfrm flipV="1">
            <a:off x="2646322" y="2598116"/>
            <a:ext cx="0" cy="492175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8F768EB-4E36-07C1-75FD-F6FE50738429}"/>
              </a:ext>
            </a:extLst>
          </p:cNvPr>
          <p:cNvSpPr/>
          <p:nvPr/>
        </p:nvSpPr>
        <p:spPr bwMode="auto">
          <a:xfrm>
            <a:off x="1320922" y="3569281"/>
            <a:ext cx="1609561" cy="37551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VitisAI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EP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4F948BF-DE6C-F598-C3DB-1418DF1F6428}"/>
              </a:ext>
            </a:extLst>
          </p:cNvPr>
          <p:cNvSpPr/>
          <p:nvPr/>
        </p:nvSpPr>
        <p:spPr bwMode="auto">
          <a:xfrm>
            <a:off x="1320922" y="4122232"/>
            <a:ext cx="1588337" cy="37551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NPU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171F037-09A6-DE17-1B46-186C7367CAA6}"/>
              </a:ext>
            </a:extLst>
          </p:cNvPr>
          <p:cNvSpPr/>
          <p:nvPr/>
        </p:nvSpPr>
        <p:spPr bwMode="auto">
          <a:xfrm>
            <a:off x="3337858" y="1935421"/>
            <a:ext cx="3118359" cy="664524"/>
          </a:xfrm>
          <a:prstGeom prst="rect">
            <a:avLst/>
          </a:prstGeom>
          <a:solidFill>
            <a:srgbClr val="C0000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Decoder-Token Gen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(LLM, 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size_large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 Memory Intensive)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E92AC6D-30B0-5B11-8387-10FED18E88E8}"/>
              </a:ext>
            </a:extLst>
          </p:cNvPr>
          <p:cNvSpPr txBox="1"/>
          <p:nvPr/>
        </p:nvSpPr>
        <p:spPr>
          <a:xfrm>
            <a:off x="4088293" y="1953288"/>
            <a:ext cx="6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80147F7-57EE-B4F9-80EB-A26888CDF0E9}"/>
              </a:ext>
            </a:extLst>
          </p:cNvPr>
          <p:cNvCxnSpPr>
            <a:cxnSpLocks/>
          </p:cNvCxnSpPr>
          <p:nvPr/>
        </p:nvCxnSpPr>
        <p:spPr>
          <a:xfrm>
            <a:off x="5081703" y="2611246"/>
            <a:ext cx="0" cy="889336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38CAEEB-E36A-06FD-FE82-CF8DA4F085CD}"/>
              </a:ext>
            </a:extLst>
          </p:cNvPr>
          <p:cNvCxnSpPr>
            <a:cxnSpLocks/>
          </p:cNvCxnSpPr>
          <p:nvPr/>
        </p:nvCxnSpPr>
        <p:spPr>
          <a:xfrm flipV="1">
            <a:off x="4284127" y="2611246"/>
            <a:ext cx="0" cy="444660"/>
          </a:xfrm>
          <a:prstGeom prst="straightConnector1">
            <a:avLst/>
          </a:prstGeom>
          <a:ln w="7620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9012AB6-B986-A895-679A-A9B936C592D5}"/>
              </a:ext>
            </a:extLst>
          </p:cNvPr>
          <p:cNvSpPr/>
          <p:nvPr/>
        </p:nvSpPr>
        <p:spPr bwMode="auto">
          <a:xfrm>
            <a:off x="4088293" y="3570871"/>
            <a:ext cx="1917870" cy="344384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ROC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m EP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4E8441A-C335-DFA0-8C55-8082AEE36FAF}"/>
              </a:ext>
            </a:extLst>
          </p:cNvPr>
          <p:cNvSpPr/>
          <p:nvPr/>
        </p:nvSpPr>
        <p:spPr bwMode="auto">
          <a:xfrm>
            <a:off x="4088293" y="4067382"/>
            <a:ext cx="1917871" cy="4506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iGPU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75B953-5FA6-5423-B4FA-9E833E530D1E}"/>
              </a:ext>
            </a:extLst>
          </p:cNvPr>
          <p:cNvSpPr txBox="1"/>
          <p:nvPr/>
        </p:nvSpPr>
        <p:spPr>
          <a:xfrm>
            <a:off x="1317477" y="4681600"/>
            <a:ext cx="159178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NPU/CPU 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Workload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1BF0B4-640C-7EFD-25A1-0305D431194D}"/>
              </a:ext>
            </a:extLst>
          </p:cNvPr>
          <p:cNvSpPr txBox="1"/>
          <p:nvPr/>
        </p:nvSpPr>
        <p:spPr>
          <a:xfrm>
            <a:off x="3483320" y="1461128"/>
            <a:ext cx="43627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400" b="1">
                <a:solidFill>
                  <a:srgbClr val="FFFFFF"/>
                </a:solidFill>
                <a:latin typeface="Arial" panose="020B0604020202020204"/>
              </a:rPr>
              <a:t>Multi-Modal VLA (Vision </a:t>
            </a:r>
            <a:r>
              <a:rPr lang="en-US" sz="1400" b="1" err="1">
                <a:solidFill>
                  <a:srgbClr val="FFFFFF"/>
                </a:solidFill>
                <a:latin typeface="Arial" panose="020B0604020202020204"/>
              </a:rPr>
              <a:t>Languange</a:t>
            </a:r>
            <a:r>
              <a:rPr lang="en-US" sz="1400" b="1">
                <a:solidFill>
                  <a:srgbClr val="FFFFFF"/>
                </a:solidFill>
                <a:latin typeface="Arial" panose="020B0604020202020204"/>
              </a:rPr>
              <a:t> Action) Model  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6AA7E6-E34A-6B0A-0D96-B952F9BCB376}"/>
              </a:ext>
            </a:extLst>
          </p:cNvPr>
          <p:cNvSpPr/>
          <p:nvPr/>
        </p:nvSpPr>
        <p:spPr bwMode="auto">
          <a:xfrm>
            <a:off x="7013097" y="1979249"/>
            <a:ext cx="1810591" cy="602805"/>
          </a:xfrm>
          <a:prstGeom prst="rect">
            <a:avLst/>
          </a:prstGeom>
          <a:solidFill>
            <a:srgbClr val="0070C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Diffusion-Action Gen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(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(Compute Intensive)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96E81FE-EB49-749A-F3F7-92D823EADDE8}"/>
              </a:ext>
            </a:extLst>
          </p:cNvPr>
          <p:cNvSpPr/>
          <p:nvPr/>
        </p:nvSpPr>
        <p:spPr bwMode="auto">
          <a:xfrm>
            <a:off x="6455830" y="2059191"/>
            <a:ext cx="557268" cy="457876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A3F59A5-2E14-1CD9-4796-FDD0E46916FD}"/>
              </a:ext>
            </a:extLst>
          </p:cNvPr>
          <p:cNvSpPr/>
          <p:nvPr/>
        </p:nvSpPr>
        <p:spPr bwMode="auto">
          <a:xfrm>
            <a:off x="2299874" y="3044116"/>
            <a:ext cx="5555527" cy="27937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Unified Memory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4F0E0FC-496D-D4F3-11DA-630CEE50A29A}"/>
              </a:ext>
            </a:extLst>
          </p:cNvPr>
          <p:cNvCxnSpPr>
            <a:cxnSpLocks/>
          </p:cNvCxnSpPr>
          <p:nvPr/>
        </p:nvCxnSpPr>
        <p:spPr>
          <a:xfrm flipV="1">
            <a:off x="7572852" y="2582054"/>
            <a:ext cx="0" cy="460722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D7EDC9-C92B-C7EA-AE8D-40C16A2E566C}"/>
              </a:ext>
            </a:extLst>
          </p:cNvPr>
          <p:cNvSpPr/>
          <p:nvPr/>
        </p:nvSpPr>
        <p:spPr bwMode="auto">
          <a:xfrm>
            <a:off x="7169816" y="3426572"/>
            <a:ext cx="1966453" cy="1457372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accent2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A4EF801-DE77-FD2D-D24F-6902F8689DA1}"/>
              </a:ext>
            </a:extLst>
          </p:cNvPr>
          <p:cNvSpPr/>
          <p:nvPr/>
        </p:nvSpPr>
        <p:spPr bwMode="auto">
          <a:xfrm>
            <a:off x="7247564" y="3617737"/>
            <a:ext cx="1609561" cy="37551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VitisAI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EP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AA4E4BF-BF53-A26B-9CCC-515FA15B2374}"/>
              </a:ext>
            </a:extLst>
          </p:cNvPr>
          <p:cNvSpPr/>
          <p:nvPr/>
        </p:nvSpPr>
        <p:spPr bwMode="auto">
          <a:xfrm>
            <a:off x="7247564" y="4170688"/>
            <a:ext cx="1588337" cy="37551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NPU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B331A0-ADEA-FA93-DBDC-AF498EEF39DA}"/>
              </a:ext>
            </a:extLst>
          </p:cNvPr>
          <p:cNvSpPr txBox="1"/>
          <p:nvPr/>
        </p:nvSpPr>
        <p:spPr>
          <a:xfrm>
            <a:off x="7244119" y="4730056"/>
            <a:ext cx="159178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NPU/CPU 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Workload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9E8FC8-4064-6E7B-B477-148004C4A4B0}"/>
              </a:ext>
            </a:extLst>
          </p:cNvPr>
          <p:cNvCxnSpPr>
            <a:cxnSpLocks/>
          </p:cNvCxnSpPr>
          <p:nvPr/>
        </p:nvCxnSpPr>
        <p:spPr>
          <a:xfrm>
            <a:off x="8301348" y="2623143"/>
            <a:ext cx="0" cy="754973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7D41F5A-901C-C543-6839-F090A6360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06" y="4952203"/>
            <a:ext cx="4011414" cy="1789874"/>
          </a:xfrm>
          <a:prstGeom prst="rect">
            <a:avLst/>
          </a:prstGeom>
        </p:spPr>
      </p:pic>
      <p:pic>
        <p:nvPicPr>
          <p:cNvPr id="22" name="Picture 21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1CFA2F09-7C91-3D11-7C99-F63B1E1A5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246" y="4968317"/>
            <a:ext cx="6838196" cy="178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47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EBB3-32E5-1FEA-7254-8EDC53C15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55" y="332720"/>
            <a:ext cx="11049867" cy="369332"/>
          </a:xfrm>
        </p:spPr>
        <p:txBody>
          <a:bodyPr/>
          <a:lstStyle/>
          <a:p>
            <a:r>
              <a:rPr lang="en-US" sz="2400"/>
              <a:t>Industrial Application Usage Pipeline (Ex. Veo Follow-Cam)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5DB7D2-218D-4DE7-6F6D-9B4E0ED001DA}"/>
              </a:ext>
            </a:extLst>
          </p:cNvPr>
          <p:cNvSpPr/>
          <p:nvPr/>
        </p:nvSpPr>
        <p:spPr bwMode="auto">
          <a:xfrm>
            <a:off x="1172584" y="1432152"/>
            <a:ext cx="882503" cy="446567"/>
          </a:xfrm>
          <a:prstGeom prst="rect">
            <a:avLst/>
          </a:prstGeom>
          <a:solidFill>
            <a:srgbClr val="ED1C24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Pano-Proj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. (CV algo.)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E9E922-5D00-8908-3F07-86AC36E34855}"/>
              </a:ext>
            </a:extLst>
          </p:cNvPr>
          <p:cNvSpPr/>
          <p:nvPr/>
        </p:nvSpPr>
        <p:spPr bwMode="auto">
          <a:xfrm>
            <a:off x="2591948" y="1435711"/>
            <a:ext cx="1481802" cy="457200"/>
          </a:xfrm>
          <a:prstGeom prst="rect">
            <a:avLst/>
          </a:prstGeom>
          <a:solidFill>
            <a:srgbClr val="0070C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Player-ball (models) 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085E8A-21A1-5B23-629F-0C11E206D6D1}"/>
              </a:ext>
            </a:extLst>
          </p:cNvPr>
          <p:cNvSpPr/>
          <p:nvPr/>
        </p:nvSpPr>
        <p:spPr bwMode="auto">
          <a:xfrm>
            <a:off x="4632738" y="1442535"/>
            <a:ext cx="1481802" cy="446567"/>
          </a:xfrm>
          <a:prstGeom prst="rect">
            <a:avLst/>
          </a:prstGeom>
          <a:solidFill>
            <a:srgbClr val="0070C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Follow-cam (model)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D214F9-A308-9234-6603-808AAD07F7F4}"/>
              </a:ext>
            </a:extLst>
          </p:cNvPr>
          <p:cNvSpPr/>
          <p:nvPr/>
        </p:nvSpPr>
        <p:spPr bwMode="auto">
          <a:xfrm>
            <a:off x="6659880" y="1423002"/>
            <a:ext cx="807848" cy="466100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View-port (CV alg.)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248DA-9964-5CA7-13FE-06388CE7FBA3}"/>
              </a:ext>
            </a:extLst>
          </p:cNvPr>
          <p:cNvSpPr/>
          <p:nvPr/>
        </p:nvSpPr>
        <p:spPr bwMode="auto">
          <a:xfrm>
            <a:off x="8013068" y="1456951"/>
            <a:ext cx="1334796" cy="860617"/>
          </a:xfrm>
          <a:prstGeom prst="rect">
            <a:avLst/>
          </a:prstGeom>
          <a:solidFill>
            <a:srgbClr val="ED1C24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Follow-cam Stich (CV shader algo.)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2F78EE-3AA2-C6A8-9782-43EC28A88693}"/>
              </a:ext>
            </a:extLst>
          </p:cNvPr>
          <p:cNvSpPr/>
          <p:nvPr/>
        </p:nvSpPr>
        <p:spPr bwMode="auto">
          <a:xfrm>
            <a:off x="9911596" y="1466718"/>
            <a:ext cx="984037" cy="446567"/>
          </a:xfrm>
          <a:prstGeom prst="rect">
            <a:avLst/>
          </a:prstGeom>
          <a:solidFill>
            <a:srgbClr val="ED1C24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Video Encode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9E6715-5566-5325-5B04-AAB5CBE1F2DF}"/>
              </a:ext>
            </a:extLst>
          </p:cNvPr>
          <p:cNvCxnSpPr>
            <a:cxnSpLocks/>
          </p:cNvCxnSpPr>
          <p:nvPr/>
        </p:nvCxnSpPr>
        <p:spPr>
          <a:xfrm>
            <a:off x="622074" y="1514110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9BFB7B-D4DB-E3E1-801D-350689CAF8B4}"/>
              </a:ext>
            </a:extLst>
          </p:cNvPr>
          <p:cNvCxnSpPr>
            <a:cxnSpLocks/>
          </p:cNvCxnSpPr>
          <p:nvPr/>
        </p:nvCxnSpPr>
        <p:spPr>
          <a:xfrm>
            <a:off x="622074" y="1690002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C4B098B-E738-EB06-55AB-A30C52F9D26D}"/>
              </a:ext>
            </a:extLst>
          </p:cNvPr>
          <p:cNvCxnSpPr>
            <a:cxnSpLocks/>
          </p:cNvCxnSpPr>
          <p:nvPr/>
        </p:nvCxnSpPr>
        <p:spPr>
          <a:xfrm>
            <a:off x="622074" y="1853182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D23CAE-1F20-0838-2675-2A3EE4CAA351}"/>
              </a:ext>
            </a:extLst>
          </p:cNvPr>
          <p:cNvSpPr txBox="1"/>
          <p:nvPr/>
        </p:nvSpPr>
        <p:spPr>
          <a:xfrm flipH="1">
            <a:off x="551694" y="1164339"/>
            <a:ext cx="55051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3x 7.5fps (NV12)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63EFC3-64D4-1693-67FF-B71730C52699}"/>
              </a:ext>
            </a:extLst>
          </p:cNvPr>
          <p:cNvSpPr txBox="1"/>
          <p:nvPr/>
        </p:nvSpPr>
        <p:spPr>
          <a:xfrm>
            <a:off x="1159580" y="1022511"/>
            <a:ext cx="92974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iGPU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Gst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Plugin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876EFD2-9B1C-4379-7285-1D8F39B97554}"/>
              </a:ext>
            </a:extLst>
          </p:cNvPr>
          <p:cNvSpPr/>
          <p:nvPr/>
        </p:nvSpPr>
        <p:spPr bwMode="auto">
          <a:xfrm>
            <a:off x="2102325" y="1568507"/>
            <a:ext cx="498102" cy="206664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2E4D62-7E20-15A1-511D-36C761048708}"/>
              </a:ext>
            </a:extLst>
          </p:cNvPr>
          <p:cNvSpPr txBox="1"/>
          <p:nvPr/>
        </p:nvSpPr>
        <p:spPr>
          <a:xfrm flipH="1">
            <a:off x="2136475" y="1258897"/>
            <a:ext cx="55051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imgs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@7.5fps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D9B332-7E7D-1295-99F9-8175A07C20A7}"/>
              </a:ext>
            </a:extLst>
          </p:cNvPr>
          <p:cNvSpPr txBox="1"/>
          <p:nvPr/>
        </p:nvSpPr>
        <p:spPr>
          <a:xfrm>
            <a:off x="2848155" y="1246254"/>
            <a:ext cx="120065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NPU/CPU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Gst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Plugin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AA90250-A714-190B-1B34-1252276FB4C3}"/>
              </a:ext>
            </a:extLst>
          </p:cNvPr>
          <p:cNvSpPr/>
          <p:nvPr/>
        </p:nvSpPr>
        <p:spPr bwMode="auto">
          <a:xfrm>
            <a:off x="4108966" y="1617511"/>
            <a:ext cx="523771" cy="167214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4EEB1C1-283D-AF8F-B2A1-7017012BCCA1}"/>
              </a:ext>
            </a:extLst>
          </p:cNvPr>
          <p:cNvSpPr/>
          <p:nvPr/>
        </p:nvSpPr>
        <p:spPr bwMode="auto">
          <a:xfrm>
            <a:off x="6136109" y="1617511"/>
            <a:ext cx="523771" cy="167214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2AAA697-15D6-BF19-6EAB-263B279F1032}"/>
              </a:ext>
            </a:extLst>
          </p:cNvPr>
          <p:cNvSpPr/>
          <p:nvPr/>
        </p:nvSpPr>
        <p:spPr bwMode="auto">
          <a:xfrm>
            <a:off x="7489297" y="1542772"/>
            <a:ext cx="523771" cy="167214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13CB3907-B1B2-2977-E069-856D98730FD7}"/>
              </a:ext>
            </a:extLst>
          </p:cNvPr>
          <p:cNvSpPr/>
          <p:nvPr/>
        </p:nvSpPr>
        <p:spPr bwMode="auto">
          <a:xfrm>
            <a:off x="9381726" y="1637941"/>
            <a:ext cx="523771" cy="167214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B51F94-65DB-53F0-FF0E-77F1B8B40280}"/>
              </a:ext>
            </a:extLst>
          </p:cNvPr>
          <p:cNvSpPr txBox="1"/>
          <p:nvPr/>
        </p:nvSpPr>
        <p:spPr>
          <a:xfrm>
            <a:off x="4947154" y="1225193"/>
            <a:ext cx="120065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NPU/CPU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Gst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Plugin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BB273B-90D7-D46E-10A0-DE8F335F3886}"/>
              </a:ext>
            </a:extLst>
          </p:cNvPr>
          <p:cNvSpPr txBox="1"/>
          <p:nvPr/>
        </p:nvSpPr>
        <p:spPr>
          <a:xfrm>
            <a:off x="8215595" y="1111333"/>
            <a:ext cx="92974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iGPU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Gst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Plugin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5B1621-6038-A186-7B4D-3F3D4352C80E}"/>
              </a:ext>
            </a:extLst>
          </p:cNvPr>
          <p:cNvSpPr txBox="1"/>
          <p:nvPr/>
        </p:nvSpPr>
        <p:spPr>
          <a:xfrm>
            <a:off x="6630814" y="1074265"/>
            <a:ext cx="900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Gst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filter Plugin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BEF8AE-0D1D-4375-FB9D-7768C07B3ACD}"/>
              </a:ext>
            </a:extLst>
          </p:cNvPr>
          <p:cNvSpPr txBox="1"/>
          <p:nvPr/>
        </p:nvSpPr>
        <p:spPr>
          <a:xfrm>
            <a:off x="9963774" y="1202317"/>
            <a:ext cx="92974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iGPU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Gst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Plugin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BF8587-06DD-AD8E-0439-846B6E3D04A0}"/>
              </a:ext>
            </a:extLst>
          </p:cNvPr>
          <p:cNvCxnSpPr>
            <a:cxnSpLocks/>
          </p:cNvCxnSpPr>
          <p:nvPr/>
        </p:nvCxnSpPr>
        <p:spPr>
          <a:xfrm>
            <a:off x="10893516" y="1580933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22F5D55-3CBD-765A-B4F2-F09D8C055421}"/>
              </a:ext>
            </a:extLst>
          </p:cNvPr>
          <p:cNvCxnSpPr>
            <a:cxnSpLocks/>
          </p:cNvCxnSpPr>
          <p:nvPr/>
        </p:nvCxnSpPr>
        <p:spPr>
          <a:xfrm>
            <a:off x="10893517" y="1852559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6D1490E-422B-9255-EB67-8943F949C816}"/>
              </a:ext>
            </a:extLst>
          </p:cNvPr>
          <p:cNvSpPr txBox="1"/>
          <p:nvPr/>
        </p:nvSpPr>
        <p:spPr>
          <a:xfrm flipH="1">
            <a:off x="10961047" y="1650775"/>
            <a:ext cx="5505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4K@30fps 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058865CA-913B-3E1D-DAD3-772FC7B6D612}"/>
              </a:ext>
            </a:extLst>
          </p:cNvPr>
          <p:cNvSpPr/>
          <p:nvPr/>
        </p:nvSpPr>
        <p:spPr bwMode="auto">
          <a:xfrm>
            <a:off x="7479650" y="2039581"/>
            <a:ext cx="514152" cy="230057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EEC743-2DEF-641B-CCD2-7BC83FF0E3F0}"/>
              </a:ext>
            </a:extLst>
          </p:cNvPr>
          <p:cNvSpPr txBox="1"/>
          <p:nvPr/>
        </p:nvSpPr>
        <p:spPr>
          <a:xfrm flipH="1">
            <a:off x="7414294" y="2291887"/>
            <a:ext cx="58739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2/3(?)x30fps (NV12) 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F6D50AD-F402-23A6-ACAF-6987ACB84C2A}"/>
              </a:ext>
            </a:extLst>
          </p:cNvPr>
          <p:cNvSpPr/>
          <p:nvPr/>
        </p:nvSpPr>
        <p:spPr bwMode="auto">
          <a:xfrm>
            <a:off x="2429950" y="1229807"/>
            <a:ext cx="3832883" cy="935603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F77CFC3-5EB4-E94E-39BB-47DE686C6B9D}"/>
              </a:ext>
            </a:extLst>
          </p:cNvPr>
          <p:cNvSpPr/>
          <p:nvPr/>
        </p:nvSpPr>
        <p:spPr bwMode="auto">
          <a:xfrm>
            <a:off x="2613172" y="2146527"/>
            <a:ext cx="1609561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Playerball_detec_hrglass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C43647E-6D5A-9655-6358-206739764B60}"/>
              </a:ext>
            </a:extLst>
          </p:cNvPr>
          <p:cNvSpPr/>
          <p:nvPr/>
        </p:nvSpPr>
        <p:spPr bwMode="auto">
          <a:xfrm>
            <a:off x="2579440" y="2246634"/>
            <a:ext cx="1609561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Playerball_detec_hrglass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BA751D6-ADAD-9F99-346E-0D9B4CD51395}"/>
              </a:ext>
            </a:extLst>
          </p:cNvPr>
          <p:cNvCxnSpPr>
            <a:cxnSpLocks/>
          </p:cNvCxnSpPr>
          <p:nvPr/>
        </p:nvCxnSpPr>
        <p:spPr>
          <a:xfrm>
            <a:off x="3141780" y="1892911"/>
            <a:ext cx="0" cy="272499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9BFC7B2-033C-F2E8-3BB3-BA4819558335}"/>
              </a:ext>
            </a:extLst>
          </p:cNvPr>
          <p:cNvSpPr txBox="1"/>
          <p:nvPr/>
        </p:nvSpPr>
        <p:spPr>
          <a:xfrm flipH="1">
            <a:off x="3221846" y="1952278"/>
            <a:ext cx="9305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1/4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frm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7.5fps 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FBD29D9-4DB4-51C3-C33F-E3CC6687CBE5}"/>
              </a:ext>
            </a:extLst>
          </p:cNvPr>
          <p:cNvSpPr/>
          <p:nvPr/>
        </p:nvSpPr>
        <p:spPr bwMode="auto">
          <a:xfrm>
            <a:off x="5102163" y="2407492"/>
            <a:ext cx="1431629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3d_unet_transf_encoder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8FDC05E-5986-F2C0-180B-545C1A8077C8}"/>
              </a:ext>
            </a:extLst>
          </p:cNvPr>
          <p:cNvCxnSpPr>
            <a:cxnSpLocks/>
          </p:cNvCxnSpPr>
          <p:nvPr/>
        </p:nvCxnSpPr>
        <p:spPr>
          <a:xfrm>
            <a:off x="4947154" y="1913285"/>
            <a:ext cx="0" cy="367802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C48342B-8E88-6BB6-C9BE-E273A31A0CC0}"/>
              </a:ext>
            </a:extLst>
          </p:cNvPr>
          <p:cNvSpPr txBox="1"/>
          <p:nvPr/>
        </p:nvSpPr>
        <p:spPr>
          <a:xfrm flipH="1">
            <a:off x="5322641" y="2010038"/>
            <a:ext cx="114529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1/128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frame (1/512</a:t>
            </a: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 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74F0FF6-5E41-B9E4-AA27-C76278D39894}"/>
              </a:ext>
            </a:extLst>
          </p:cNvPr>
          <p:cNvSpPr/>
          <p:nvPr/>
        </p:nvSpPr>
        <p:spPr bwMode="auto">
          <a:xfrm>
            <a:off x="4676390" y="2281087"/>
            <a:ext cx="1091471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3d_unet 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EEA08348-8ED9-2913-EA11-1DCBB24C1E1C}"/>
              </a:ext>
            </a:extLst>
          </p:cNvPr>
          <p:cNvSpPr/>
          <p:nvPr/>
        </p:nvSpPr>
        <p:spPr bwMode="auto">
          <a:xfrm>
            <a:off x="4887605" y="3294187"/>
            <a:ext cx="1876169" cy="2857363"/>
          </a:xfrm>
          <a:prstGeom prst="roundRect">
            <a:avLst/>
          </a:prstGeom>
          <a:solidFill>
            <a:srgbClr val="0070C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3E111708-CC31-1363-FC8D-886EE2ED44F4}"/>
              </a:ext>
            </a:extLst>
          </p:cNvPr>
          <p:cNvSpPr/>
          <p:nvPr/>
        </p:nvSpPr>
        <p:spPr bwMode="auto">
          <a:xfrm>
            <a:off x="4627081" y="3473287"/>
            <a:ext cx="1953472" cy="2785844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84FEF8F9-BE4D-8B7A-FFEA-56673C325E3E}"/>
              </a:ext>
            </a:extLst>
          </p:cNvPr>
          <p:cNvSpPr/>
          <p:nvPr/>
        </p:nvSpPr>
        <p:spPr bwMode="auto">
          <a:xfrm>
            <a:off x="2436732" y="3369732"/>
            <a:ext cx="1953472" cy="2880017"/>
          </a:xfrm>
          <a:prstGeom prst="roundRect">
            <a:avLst/>
          </a:prstGeom>
          <a:solidFill>
            <a:srgbClr val="0070C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1A63D09B-6100-2168-05CB-4B5EB4938E44}"/>
              </a:ext>
            </a:extLst>
          </p:cNvPr>
          <p:cNvSpPr/>
          <p:nvPr/>
        </p:nvSpPr>
        <p:spPr bwMode="auto">
          <a:xfrm>
            <a:off x="2232993" y="3537718"/>
            <a:ext cx="1953472" cy="2769541"/>
          </a:xfrm>
          <a:prstGeom prst="roundRect">
            <a:avLst/>
          </a:prstGeom>
          <a:solidFill>
            <a:srgbClr val="002060"/>
          </a:solidFill>
          <a:ln w="38100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4C3B8DC2-BAA4-FC79-D97E-C5D76428A107}"/>
              </a:ext>
            </a:extLst>
          </p:cNvPr>
          <p:cNvSpPr/>
          <p:nvPr/>
        </p:nvSpPr>
        <p:spPr bwMode="auto">
          <a:xfrm>
            <a:off x="793013" y="3665075"/>
            <a:ext cx="998342" cy="735651"/>
          </a:xfrm>
          <a:prstGeom prst="rect">
            <a:avLst/>
          </a:prstGeom>
          <a:solidFill>
            <a:srgbClr val="ED1C24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Input 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Preproc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 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src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: images,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audi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o/video) 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C646F6F5-402D-0143-0372-C6E3053709FA}"/>
              </a:ext>
            </a:extLst>
          </p:cNvPr>
          <p:cNvSpPr/>
          <p:nvPr/>
        </p:nvSpPr>
        <p:spPr bwMode="auto">
          <a:xfrm>
            <a:off x="2328215" y="3668635"/>
            <a:ext cx="1481802" cy="457200"/>
          </a:xfrm>
          <a:prstGeom prst="rect">
            <a:avLst/>
          </a:prstGeom>
          <a:solidFill>
            <a:srgbClr val="0070C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Model 1 (CNN)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(ex: Obj. Detection, Tracker) 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B97725D5-C1CD-84C7-8BF4-715DC0758C4A}"/>
              </a:ext>
            </a:extLst>
          </p:cNvPr>
          <p:cNvCxnSpPr>
            <a:cxnSpLocks/>
          </p:cNvCxnSpPr>
          <p:nvPr/>
        </p:nvCxnSpPr>
        <p:spPr>
          <a:xfrm>
            <a:off x="242504" y="3801431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5AB7A34-C7BF-990A-05A6-E76D1C291080}"/>
              </a:ext>
            </a:extLst>
          </p:cNvPr>
          <p:cNvCxnSpPr>
            <a:cxnSpLocks/>
          </p:cNvCxnSpPr>
          <p:nvPr/>
        </p:nvCxnSpPr>
        <p:spPr>
          <a:xfrm>
            <a:off x="242504" y="4015149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1DDB0E7E-F674-6FE7-C286-99C884367D16}"/>
              </a:ext>
            </a:extLst>
          </p:cNvPr>
          <p:cNvCxnSpPr>
            <a:cxnSpLocks/>
          </p:cNvCxnSpPr>
          <p:nvPr/>
        </p:nvCxnSpPr>
        <p:spPr>
          <a:xfrm>
            <a:off x="242504" y="4232480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67769B60-0C7D-975A-E3AF-2E0A975A0461}"/>
              </a:ext>
            </a:extLst>
          </p:cNvPr>
          <p:cNvSpPr txBox="1"/>
          <p:nvPr/>
        </p:nvSpPr>
        <p:spPr>
          <a:xfrm>
            <a:off x="793013" y="3014395"/>
            <a:ext cx="104861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iGPU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/VCN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9" name="Arrow: Right 128">
            <a:extLst>
              <a:ext uri="{FF2B5EF4-FFF2-40B4-BE49-F238E27FC236}">
                <a16:creationId xmlns:a16="http://schemas.microsoft.com/office/drawing/2014/main" id="{DCE8F48D-87BD-19FD-EB42-A6BC0EEA63D9}"/>
              </a:ext>
            </a:extLst>
          </p:cNvPr>
          <p:cNvSpPr/>
          <p:nvPr/>
        </p:nvSpPr>
        <p:spPr bwMode="auto">
          <a:xfrm>
            <a:off x="1838592" y="3801431"/>
            <a:ext cx="498102" cy="206664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ACF5439-A87E-6DCE-4639-E7444316D33A}"/>
              </a:ext>
            </a:extLst>
          </p:cNvPr>
          <p:cNvSpPr txBox="1"/>
          <p:nvPr/>
        </p:nvSpPr>
        <p:spPr>
          <a:xfrm>
            <a:off x="2584422" y="3479178"/>
            <a:ext cx="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9064F7CC-14DE-D880-0EB9-D9556055EAD9}"/>
              </a:ext>
            </a:extLst>
          </p:cNvPr>
          <p:cNvSpPr/>
          <p:nvPr/>
        </p:nvSpPr>
        <p:spPr bwMode="auto">
          <a:xfrm>
            <a:off x="3887320" y="3850435"/>
            <a:ext cx="901758" cy="191708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2" name="Arrow: Right 131">
            <a:extLst>
              <a:ext uri="{FF2B5EF4-FFF2-40B4-BE49-F238E27FC236}">
                <a16:creationId xmlns:a16="http://schemas.microsoft.com/office/drawing/2014/main" id="{6E0036D0-3BD2-0587-1F21-F04D555F23B7}"/>
              </a:ext>
            </a:extLst>
          </p:cNvPr>
          <p:cNvSpPr/>
          <p:nvPr/>
        </p:nvSpPr>
        <p:spPr bwMode="auto">
          <a:xfrm>
            <a:off x="6270880" y="3822899"/>
            <a:ext cx="1288512" cy="223831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7511233-A81C-64EB-46A1-D167ED301C89}"/>
              </a:ext>
            </a:extLst>
          </p:cNvPr>
          <p:cNvSpPr txBox="1"/>
          <p:nvPr/>
        </p:nvSpPr>
        <p:spPr>
          <a:xfrm>
            <a:off x="2485493" y="3034301"/>
            <a:ext cx="159178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NPU/CPU 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Workload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CE87D579-98F1-947C-8C93-9BCE2345E10D}"/>
              </a:ext>
            </a:extLst>
          </p:cNvPr>
          <p:cNvCxnSpPr>
            <a:cxnSpLocks/>
          </p:cNvCxnSpPr>
          <p:nvPr/>
        </p:nvCxnSpPr>
        <p:spPr>
          <a:xfrm>
            <a:off x="2776603" y="4166225"/>
            <a:ext cx="0" cy="431807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E70955AB-AD23-B393-A770-9D9D84E0A0B3}"/>
              </a:ext>
            </a:extLst>
          </p:cNvPr>
          <p:cNvCxnSpPr>
            <a:cxnSpLocks/>
          </p:cNvCxnSpPr>
          <p:nvPr/>
        </p:nvCxnSpPr>
        <p:spPr>
          <a:xfrm flipV="1">
            <a:off x="3500159" y="4158084"/>
            <a:ext cx="0" cy="448091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E9AD74FD-9D10-21A8-B1DC-56BD2098031F}"/>
              </a:ext>
            </a:extLst>
          </p:cNvPr>
          <p:cNvSpPr/>
          <p:nvPr/>
        </p:nvSpPr>
        <p:spPr bwMode="auto">
          <a:xfrm>
            <a:off x="2328215" y="4607455"/>
            <a:ext cx="1609561" cy="27937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ONNX-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RunTime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ABC459C6-8C71-606A-10F8-2B1598E8C92D}"/>
              </a:ext>
            </a:extLst>
          </p:cNvPr>
          <p:cNvSpPr/>
          <p:nvPr/>
        </p:nvSpPr>
        <p:spPr bwMode="auto">
          <a:xfrm>
            <a:off x="2349439" y="5015908"/>
            <a:ext cx="1609561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VitisAI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EP / CPU EP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55F478AE-2BE7-C803-E4A5-3484FF57701C}"/>
              </a:ext>
            </a:extLst>
          </p:cNvPr>
          <p:cNvSpPr/>
          <p:nvPr/>
        </p:nvSpPr>
        <p:spPr bwMode="auto">
          <a:xfrm>
            <a:off x="3202609" y="5462693"/>
            <a:ext cx="694492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CPU 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725E3FCE-23D9-F33C-441C-2BFBBF5440CD}"/>
              </a:ext>
            </a:extLst>
          </p:cNvPr>
          <p:cNvSpPr/>
          <p:nvPr/>
        </p:nvSpPr>
        <p:spPr bwMode="auto">
          <a:xfrm>
            <a:off x="2349439" y="5462693"/>
            <a:ext cx="681318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NPU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9DE389D-9383-46F2-A909-EA7C8CD2C32F}"/>
              </a:ext>
            </a:extLst>
          </p:cNvPr>
          <p:cNvSpPr/>
          <p:nvPr/>
        </p:nvSpPr>
        <p:spPr bwMode="auto">
          <a:xfrm>
            <a:off x="4789078" y="3679190"/>
            <a:ext cx="1481802" cy="457200"/>
          </a:xfrm>
          <a:prstGeom prst="rect">
            <a:avLst/>
          </a:prstGeom>
          <a:solidFill>
            <a:srgbClr val="0070C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Model 2 (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)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(ex: 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DE:TR) 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D347A6F-B0CB-A64C-8395-12E78D8E50B0}"/>
              </a:ext>
            </a:extLst>
          </p:cNvPr>
          <p:cNvSpPr txBox="1"/>
          <p:nvPr/>
        </p:nvSpPr>
        <p:spPr>
          <a:xfrm>
            <a:off x="5045285" y="3489733"/>
            <a:ext cx="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C9FBB66B-60AA-7FC9-DA5A-B937350F676A}"/>
              </a:ext>
            </a:extLst>
          </p:cNvPr>
          <p:cNvCxnSpPr>
            <a:cxnSpLocks/>
          </p:cNvCxnSpPr>
          <p:nvPr/>
        </p:nvCxnSpPr>
        <p:spPr>
          <a:xfrm>
            <a:off x="5230643" y="4166225"/>
            <a:ext cx="0" cy="431807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4BF305FA-0D3A-26F9-31F9-7BCCF6ABB05D}"/>
              </a:ext>
            </a:extLst>
          </p:cNvPr>
          <p:cNvCxnSpPr>
            <a:cxnSpLocks/>
          </p:cNvCxnSpPr>
          <p:nvPr/>
        </p:nvCxnSpPr>
        <p:spPr>
          <a:xfrm flipV="1">
            <a:off x="5762844" y="4125835"/>
            <a:ext cx="0" cy="492175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6C877BC-C495-5173-7731-7555A126349E}"/>
              </a:ext>
            </a:extLst>
          </p:cNvPr>
          <p:cNvSpPr/>
          <p:nvPr/>
        </p:nvSpPr>
        <p:spPr bwMode="auto">
          <a:xfrm>
            <a:off x="4789078" y="4618010"/>
            <a:ext cx="1609561" cy="27937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ONNX-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RunTime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04C534D8-9145-B8C5-20DC-26134A639FD7}"/>
              </a:ext>
            </a:extLst>
          </p:cNvPr>
          <p:cNvSpPr/>
          <p:nvPr/>
        </p:nvSpPr>
        <p:spPr bwMode="auto">
          <a:xfrm>
            <a:off x="4810302" y="5026463"/>
            <a:ext cx="1609561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VitisAI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EP / CPU EP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40085EA5-EBB7-80BB-859B-A30CD33EE6BC}"/>
              </a:ext>
            </a:extLst>
          </p:cNvPr>
          <p:cNvSpPr/>
          <p:nvPr/>
        </p:nvSpPr>
        <p:spPr bwMode="auto">
          <a:xfrm>
            <a:off x="5663472" y="5473248"/>
            <a:ext cx="694492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CPU 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303DB017-EFC7-456E-475F-6DF1477003FA}"/>
              </a:ext>
            </a:extLst>
          </p:cNvPr>
          <p:cNvSpPr/>
          <p:nvPr/>
        </p:nvSpPr>
        <p:spPr bwMode="auto">
          <a:xfrm>
            <a:off x="4810302" y="5473248"/>
            <a:ext cx="681318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NPU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DA5F118-D634-3401-12C7-B9C1EB1B67D3}"/>
              </a:ext>
            </a:extLst>
          </p:cNvPr>
          <p:cNvSpPr txBox="1"/>
          <p:nvPr/>
        </p:nvSpPr>
        <p:spPr>
          <a:xfrm>
            <a:off x="4971970" y="2957357"/>
            <a:ext cx="159178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NPU/CPU 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Workload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31048EE-086D-4A97-3CA8-CD2599D96955}"/>
              </a:ext>
            </a:extLst>
          </p:cNvPr>
          <p:cNvSpPr/>
          <p:nvPr/>
        </p:nvSpPr>
        <p:spPr bwMode="auto">
          <a:xfrm>
            <a:off x="7559392" y="3649083"/>
            <a:ext cx="1179773" cy="844604"/>
          </a:xfrm>
          <a:prstGeom prst="rect">
            <a:avLst/>
          </a:prstGeom>
          <a:solidFill>
            <a:srgbClr val="ED1C24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Post Proc  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(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dst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: overlay, data sink)  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C57B87D-03B4-668E-7901-9D064B332AB3}"/>
              </a:ext>
            </a:extLst>
          </p:cNvPr>
          <p:cNvSpPr txBox="1"/>
          <p:nvPr/>
        </p:nvSpPr>
        <p:spPr>
          <a:xfrm>
            <a:off x="2440707" y="6012146"/>
            <a:ext cx="94256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RyzenAI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 Stack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E17018E-7211-4E32-E0E2-BE5683F1C3D5}"/>
              </a:ext>
            </a:extLst>
          </p:cNvPr>
          <p:cNvSpPr txBox="1"/>
          <p:nvPr/>
        </p:nvSpPr>
        <p:spPr>
          <a:xfrm>
            <a:off x="5035374" y="6028689"/>
            <a:ext cx="94256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RyzenAI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 Stack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4758BC13-6FA8-20C2-6095-0B3CAB5B00D3}"/>
              </a:ext>
            </a:extLst>
          </p:cNvPr>
          <p:cNvCxnSpPr>
            <a:cxnSpLocks/>
          </p:cNvCxnSpPr>
          <p:nvPr/>
        </p:nvCxnSpPr>
        <p:spPr>
          <a:xfrm>
            <a:off x="8739165" y="3823560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CE20D884-5266-51B2-373A-0647CC40336C}"/>
              </a:ext>
            </a:extLst>
          </p:cNvPr>
          <p:cNvCxnSpPr>
            <a:cxnSpLocks/>
          </p:cNvCxnSpPr>
          <p:nvPr/>
        </p:nvCxnSpPr>
        <p:spPr>
          <a:xfrm>
            <a:off x="8739165" y="4037278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3EC3141B-C372-082C-1698-C2BA21E451AB}"/>
              </a:ext>
            </a:extLst>
          </p:cNvPr>
          <p:cNvCxnSpPr>
            <a:cxnSpLocks/>
          </p:cNvCxnSpPr>
          <p:nvPr/>
        </p:nvCxnSpPr>
        <p:spPr>
          <a:xfrm>
            <a:off x="8739165" y="4254609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88A31CA7-6370-E23C-47CE-141CD8E436F3}"/>
              </a:ext>
            </a:extLst>
          </p:cNvPr>
          <p:cNvSpPr txBox="1"/>
          <p:nvPr/>
        </p:nvSpPr>
        <p:spPr>
          <a:xfrm>
            <a:off x="7624970" y="3188707"/>
            <a:ext cx="104861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iGPU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/VCN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32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2E84-4753-50F7-426A-8FABC3ABE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wrap="square" anchor="ctr">
            <a:normAutofit/>
          </a:bodyPr>
          <a:lstStyle/>
          <a:p>
            <a:r>
              <a:rPr lang="en-US"/>
              <a:t>BACKUP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A576FDE-F4FE-A6D0-86C8-292B9E84C0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186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D012E-E367-5CBD-88C5-6D5D7A7BE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67E7F13-02DC-CC49-A022-A532437D0930}"/>
              </a:ext>
            </a:extLst>
          </p:cNvPr>
          <p:cNvSpPr/>
          <p:nvPr/>
        </p:nvSpPr>
        <p:spPr bwMode="auto">
          <a:xfrm>
            <a:off x="8016933" y="1804713"/>
            <a:ext cx="1953472" cy="2939189"/>
          </a:xfrm>
          <a:prstGeom prst="roundRect">
            <a:avLst/>
          </a:prstGeom>
          <a:solidFill>
            <a:srgbClr val="C0000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0DE7E3A-8298-B1BA-27A8-3C9E8E0FBFDD}"/>
              </a:ext>
            </a:extLst>
          </p:cNvPr>
          <p:cNvSpPr/>
          <p:nvPr/>
        </p:nvSpPr>
        <p:spPr bwMode="auto">
          <a:xfrm>
            <a:off x="7746948" y="1980109"/>
            <a:ext cx="1953472" cy="2939189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51FCFDD8-BEA9-ABB4-73AF-26E42B89516E}"/>
              </a:ext>
            </a:extLst>
          </p:cNvPr>
          <p:cNvSpPr/>
          <p:nvPr/>
        </p:nvSpPr>
        <p:spPr bwMode="auto">
          <a:xfrm>
            <a:off x="5174128" y="1778779"/>
            <a:ext cx="1953472" cy="2939189"/>
          </a:xfrm>
          <a:prstGeom prst="roundRect">
            <a:avLst/>
          </a:prstGeom>
          <a:solidFill>
            <a:srgbClr val="0070C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5EF5561-CC76-1529-F50C-4EB0C536B813}"/>
              </a:ext>
            </a:extLst>
          </p:cNvPr>
          <p:cNvSpPr/>
          <p:nvPr/>
        </p:nvSpPr>
        <p:spPr bwMode="auto">
          <a:xfrm>
            <a:off x="5010084" y="1932124"/>
            <a:ext cx="1953472" cy="2939189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1A46935-0DEA-93F2-2413-2F24725BF046}"/>
              </a:ext>
            </a:extLst>
          </p:cNvPr>
          <p:cNvSpPr/>
          <p:nvPr/>
        </p:nvSpPr>
        <p:spPr bwMode="auto">
          <a:xfrm>
            <a:off x="2754913" y="1801433"/>
            <a:ext cx="1953472" cy="2939189"/>
          </a:xfrm>
          <a:prstGeom prst="roundRect">
            <a:avLst/>
          </a:prstGeom>
          <a:solidFill>
            <a:srgbClr val="0070C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A37BAC6-3759-6DF4-C190-5010E24C5194}"/>
              </a:ext>
            </a:extLst>
          </p:cNvPr>
          <p:cNvSpPr/>
          <p:nvPr/>
        </p:nvSpPr>
        <p:spPr bwMode="auto">
          <a:xfrm>
            <a:off x="2615996" y="1996556"/>
            <a:ext cx="1953472" cy="2939189"/>
          </a:xfrm>
          <a:prstGeom prst="roundRect">
            <a:avLst/>
          </a:prstGeom>
          <a:solidFill>
            <a:srgbClr val="002060"/>
          </a:solidFill>
          <a:ln w="38100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94EA1-D10A-5224-02C0-16D77040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8" y="387397"/>
            <a:ext cx="11049867" cy="562649"/>
          </a:xfrm>
        </p:spPr>
        <p:txBody>
          <a:bodyPr/>
          <a:lstStyle/>
          <a:p>
            <a:r>
              <a:rPr lang="en-US"/>
              <a:t>Embedded AI SW Stack Inference Runtime Flow - Generic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CC5CE-E3E3-66F7-D6B2-9221CE8CC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433" y="5380877"/>
            <a:ext cx="10517707" cy="1089726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r>
              <a:rPr lang="en-US" err="1">
                <a:highlight>
                  <a:srgbClr val="FF0000"/>
                </a:highlight>
              </a:rPr>
              <a:t>iGPU</a:t>
            </a:r>
            <a:r>
              <a:rPr lang="en-US">
                <a:highlight>
                  <a:srgbClr val="FF0000"/>
                </a:highlight>
              </a:rPr>
              <a:t> </a:t>
            </a:r>
            <a:r>
              <a:rPr lang="en-US"/>
              <a:t>– </a:t>
            </a:r>
            <a:r>
              <a:rPr lang="en-US" err="1"/>
              <a:t>ROCm</a:t>
            </a:r>
            <a:r>
              <a:rPr lang="en-US"/>
              <a:t>/HIP SW Stack </a:t>
            </a:r>
          </a:p>
          <a:p>
            <a:r>
              <a:rPr lang="en-US">
                <a:highlight>
                  <a:srgbClr val="0000FF"/>
                </a:highlight>
              </a:rPr>
              <a:t>NPU/CPU </a:t>
            </a:r>
            <a:r>
              <a:rPr lang="en-US"/>
              <a:t>– </a:t>
            </a:r>
            <a:r>
              <a:rPr lang="en-US" err="1"/>
              <a:t>RyzenAI</a:t>
            </a:r>
            <a:r>
              <a:rPr lang="en-US"/>
              <a:t> SW Stack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63266A-A47B-1BB8-E076-D4CF0D963EE6}"/>
              </a:ext>
            </a:extLst>
          </p:cNvPr>
          <p:cNvSpPr/>
          <p:nvPr/>
        </p:nvSpPr>
        <p:spPr bwMode="auto">
          <a:xfrm>
            <a:off x="1176016" y="2123913"/>
            <a:ext cx="998342" cy="735651"/>
          </a:xfrm>
          <a:prstGeom prst="rect">
            <a:avLst/>
          </a:prstGeom>
          <a:solidFill>
            <a:srgbClr val="ED1C24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Input 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Preproc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 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src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: images,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audi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o/video) 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B76EB-AFA9-99A6-4AE6-91D54981EC62}"/>
              </a:ext>
            </a:extLst>
          </p:cNvPr>
          <p:cNvSpPr/>
          <p:nvPr/>
        </p:nvSpPr>
        <p:spPr bwMode="auto">
          <a:xfrm>
            <a:off x="2711218" y="2127473"/>
            <a:ext cx="1481802" cy="457200"/>
          </a:xfrm>
          <a:prstGeom prst="rect">
            <a:avLst/>
          </a:prstGeom>
          <a:solidFill>
            <a:srgbClr val="0070C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Model 1 (CNN)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(ex: Obj. Detection)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977E549-EEB8-38C4-9A99-5DD3D7903707}"/>
              </a:ext>
            </a:extLst>
          </p:cNvPr>
          <p:cNvCxnSpPr>
            <a:cxnSpLocks/>
          </p:cNvCxnSpPr>
          <p:nvPr/>
        </p:nvCxnSpPr>
        <p:spPr>
          <a:xfrm>
            <a:off x="625507" y="2260269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C19BAFE-A1B9-6A2F-0739-C02150A57657}"/>
              </a:ext>
            </a:extLst>
          </p:cNvPr>
          <p:cNvCxnSpPr>
            <a:cxnSpLocks/>
          </p:cNvCxnSpPr>
          <p:nvPr/>
        </p:nvCxnSpPr>
        <p:spPr>
          <a:xfrm>
            <a:off x="625507" y="2473987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32526F-C913-F8BA-DE42-0EE7C790A9AA}"/>
              </a:ext>
            </a:extLst>
          </p:cNvPr>
          <p:cNvCxnSpPr>
            <a:cxnSpLocks/>
          </p:cNvCxnSpPr>
          <p:nvPr/>
        </p:nvCxnSpPr>
        <p:spPr>
          <a:xfrm>
            <a:off x="625507" y="2691318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E4CC8B9-B373-EBF4-4D67-85E8D5D2936F}"/>
              </a:ext>
            </a:extLst>
          </p:cNvPr>
          <p:cNvSpPr txBox="1"/>
          <p:nvPr/>
        </p:nvSpPr>
        <p:spPr>
          <a:xfrm>
            <a:off x="1176016" y="1473233"/>
            <a:ext cx="104861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iGPU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/VCN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1879134-15F3-07E3-EA35-433FF3612A27}"/>
              </a:ext>
            </a:extLst>
          </p:cNvPr>
          <p:cNvSpPr/>
          <p:nvPr/>
        </p:nvSpPr>
        <p:spPr bwMode="auto">
          <a:xfrm>
            <a:off x="2221595" y="2260269"/>
            <a:ext cx="498102" cy="206664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7898F9-B3AB-2104-CF51-24926E9B42E5}"/>
              </a:ext>
            </a:extLst>
          </p:cNvPr>
          <p:cNvSpPr txBox="1"/>
          <p:nvPr/>
        </p:nvSpPr>
        <p:spPr>
          <a:xfrm>
            <a:off x="2967425" y="1938016"/>
            <a:ext cx="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2D010FE-FE43-9C0A-783D-E76FCFE5B798}"/>
              </a:ext>
            </a:extLst>
          </p:cNvPr>
          <p:cNvSpPr/>
          <p:nvPr/>
        </p:nvSpPr>
        <p:spPr bwMode="auto">
          <a:xfrm>
            <a:off x="4063117" y="2309273"/>
            <a:ext cx="1108964" cy="191708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D5AFC61B-E8F5-E96B-7C88-B43173A21DB4}"/>
              </a:ext>
            </a:extLst>
          </p:cNvPr>
          <p:cNvSpPr/>
          <p:nvPr/>
        </p:nvSpPr>
        <p:spPr bwMode="auto">
          <a:xfrm>
            <a:off x="6653883" y="2281737"/>
            <a:ext cx="1288512" cy="223831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158AAB7F-6C00-3FEE-4B3B-D871EE9CE3A2}"/>
              </a:ext>
            </a:extLst>
          </p:cNvPr>
          <p:cNvSpPr/>
          <p:nvPr/>
        </p:nvSpPr>
        <p:spPr bwMode="auto">
          <a:xfrm>
            <a:off x="9437087" y="2295776"/>
            <a:ext cx="903293" cy="246222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C636C8-3506-0D7A-CFB8-307F6D44C88B}"/>
              </a:ext>
            </a:extLst>
          </p:cNvPr>
          <p:cNvSpPr txBox="1"/>
          <p:nvPr/>
        </p:nvSpPr>
        <p:spPr>
          <a:xfrm>
            <a:off x="2868496" y="1493139"/>
            <a:ext cx="159178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NPU/CPU 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Workload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73E66-C275-9568-5B25-97FB88C0F354}"/>
              </a:ext>
            </a:extLst>
          </p:cNvPr>
          <p:cNvSpPr txBox="1"/>
          <p:nvPr/>
        </p:nvSpPr>
        <p:spPr>
          <a:xfrm>
            <a:off x="8333232" y="1448731"/>
            <a:ext cx="132087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iGPU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Workload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32ADE5F-FF0B-3543-9819-B0491D3B5A31}"/>
              </a:ext>
            </a:extLst>
          </p:cNvPr>
          <p:cNvCxnSpPr>
            <a:cxnSpLocks/>
          </p:cNvCxnSpPr>
          <p:nvPr/>
        </p:nvCxnSpPr>
        <p:spPr>
          <a:xfrm>
            <a:off x="3159606" y="2625063"/>
            <a:ext cx="0" cy="431807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18451A2-79A1-61B1-88C6-2582ADC9BA5E}"/>
              </a:ext>
            </a:extLst>
          </p:cNvPr>
          <p:cNvCxnSpPr>
            <a:cxnSpLocks/>
          </p:cNvCxnSpPr>
          <p:nvPr/>
        </p:nvCxnSpPr>
        <p:spPr>
          <a:xfrm flipV="1">
            <a:off x="3883162" y="2616922"/>
            <a:ext cx="0" cy="448091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1C5DEC8-E1C6-AF92-9977-186923078726}"/>
              </a:ext>
            </a:extLst>
          </p:cNvPr>
          <p:cNvSpPr/>
          <p:nvPr/>
        </p:nvSpPr>
        <p:spPr bwMode="auto">
          <a:xfrm>
            <a:off x="2711218" y="3066293"/>
            <a:ext cx="1609561" cy="27937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ONNX-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RunTime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61150E7-EDEB-90E3-4E8C-85B1F39CAEF1}"/>
              </a:ext>
            </a:extLst>
          </p:cNvPr>
          <p:cNvSpPr/>
          <p:nvPr/>
        </p:nvSpPr>
        <p:spPr bwMode="auto">
          <a:xfrm>
            <a:off x="2732442" y="3474746"/>
            <a:ext cx="1609561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VitisAI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EP / CPU EP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6375CB0-70F6-E9EB-F04E-961BE2316D36}"/>
              </a:ext>
            </a:extLst>
          </p:cNvPr>
          <p:cNvSpPr/>
          <p:nvPr/>
        </p:nvSpPr>
        <p:spPr bwMode="auto">
          <a:xfrm>
            <a:off x="3585612" y="3921531"/>
            <a:ext cx="694492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CPU 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FE70F1F-1C69-28B8-8553-27734CAB0B03}"/>
              </a:ext>
            </a:extLst>
          </p:cNvPr>
          <p:cNvSpPr/>
          <p:nvPr/>
        </p:nvSpPr>
        <p:spPr bwMode="auto">
          <a:xfrm>
            <a:off x="2732442" y="3921531"/>
            <a:ext cx="681318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NPU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E57933-526C-3FC8-7AAC-E15670E0DB85}"/>
              </a:ext>
            </a:extLst>
          </p:cNvPr>
          <p:cNvSpPr/>
          <p:nvPr/>
        </p:nvSpPr>
        <p:spPr bwMode="auto">
          <a:xfrm>
            <a:off x="5172081" y="2138028"/>
            <a:ext cx="1481802" cy="457200"/>
          </a:xfrm>
          <a:prstGeom prst="rect">
            <a:avLst/>
          </a:prstGeom>
          <a:solidFill>
            <a:srgbClr val="0070C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Model 2 (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) 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(ex: image encoding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)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26DF85-D502-7EBA-4296-8785C84A35D1}"/>
              </a:ext>
            </a:extLst>
          </p:cNvPr>
          <p:cNvSpPr txBox="1"/>
          <p:nvPr/>
        </p:nvSpPr>
        <p:spPr>
          <a:xfrm>
            <a:off x="5428288" y="1948571"/>
            <a:ext cx="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1DCFEF8-18F1-83F8-8EA2-DBA6DEA2A01E}"/>
              </a:ext>
            </a:extLst>
          </p:cNvPr>
          <p:cNvCxnSpPr>
            <a:cxnSpLocks/>
          </p:cNvCxnSpPr>
          <p:nvPr/>
        </p:nvCxnSpPr>
        <p:spPr>
          <a:xfrm>
            <a:off x="5613646" y="2625063"/>
            <a:ext cx="0" cy="431807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59B4515-2CBE-50EB-230D-51BDB3B1C83E}"/>
              </a:ext>
            </a:extLst>
          </p:cNvPr>
          <p:cNvCxnSpPr>
            <a:cxnSpLocks/>
          </p:cNvCxnSpPr>
          <p:nvPr/>
        </p:nvCxnSpPr>
        <p:spPr>
          <a:xfrm flipV="1">
            <a:off x="6145847" y="2584673"/>
            <a:ext cx="0" cy="492175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86B639F-7AB0-3C3D-BF7F-C8F7DB979091}"/>
              </a:ext>
            </a:extLst>
          </p:cNvPr>
          <p:cNvSpPr/>
          <p:nvPr/>
        </p:nvSpPr>
        <p:spPr bwMode="auto">
          <a:xfrm>
            <a:off x="5172081" y="3076848"/>
            <a:ext cx="1609561" cy="27937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ONNX-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RunTime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FD117EE-642F-5D35-6197-39A3B67D04DC}"/>
              </a:ext>
            </a:extLst>
          </p:cNvPr>
          <p:cNvSpPr/>
          <p:nvPr/>
        </p:nvSpPr>
        <p:spPr bwMode="auto">
          <a:xfrm>
            <a:off x="5193305" y="3485301"/>
            <a:ext cx="1609561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VitisAI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EP / CPU EP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C208332-D143-CF63-565F-56DD068CBC9B}"/>
              </a:ext>
            </a:extLst>
          </p:cNvPr>
          <p:cNvSpPr/>
          <p:nvPr/>
        </p:nvSpPr>
        <p:spPr bwMode="auto">
          <a:xfrm>
            <a:off x="6046475" y="3932086"/>
            <a:ext cx="694492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CPU 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26A2F6B-F239-EE48-F60D-A7D0C9F6AF8E}"/>
              </a:ext>
            </a:extLst>
          </p:cNvPr>
          <p:cNvSpPr/>
          <p:nvPr/>
        </p:nvSpPr>
        <p:spPr bwMode="auto">
          <a:xfrm>
            <a:off x="5193305" y="3932086"/>
            <a:ext cx="681318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NPU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F50AD86-1B2E-793D-64DC-3594133D6F2C}"/>
              </a:ext>
            </a:extLst>
          </p:cNvPr>
          <p:cNvSpPr/>
          <p:nvPr/>
        </p:nvSpPr>
        <p:spPr bwMode="auto">
          <a:xfrm>
            <a:off x="7908945" y="2186013"/>
            <a:ext cx="1481802" cy="457200"/>
          </a:xfrm>
          <a:prstGeom prst="rect">
            <a:avLst/>
          </a:prstGeom>
          <a:solidFill>
            <a:srgbClr val="C0000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Model 3 (LLM)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(ex: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ChatBot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)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B09164-0D0B-A224-F138-07FA9988BF0C}"/>
              </a:ext>
            </a:extLst>
          </p:cNvPr>
          <p:cNvSpPr txBox="1"/>
          <p:nvPr/>
        </p:nvSpPr>
        <p:spPr>
          <a:xfrm>
            <a:off x="8165152" y="1996556"/>
            <a:ext cx="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49C8359-1FA6-D09A-3683-072D87877B3C}"/>
              </a:ext>
            </a:extLst>
          </p:cNvPr>
          <p:cNvCxnSpPr>
            <a:cxnSpLocks/>
          </p:cNvCxnSpPr>
          <p:nvPr/>
        </p:nvCxnSpPr>
        <p:spPr>
          <a:xfrm>
            <a:off x="8282271" y="2703064"/>
            <a:ext cx="0" cy="431807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6C61F55-DDA8-70D3-7F84-65082AEEAA06}"/>
              </a:ext>
            </a:extLst>
          </p:cNvPr>
          <p:cNvCxnSpPr>
            <a:cxnSpLocks/>
          </p:cNvCxnSpPr>
          <p:nvPr/>
        </p:nvCxnSpPr>
        <p:spPr>
          <a:xfrm flipV="1">
            <a:off x="9057712" y="2698479"/>
            <a:ext cx="0" cy="380661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D945EE69-5F3A-99AA-6365-311734CF69AB}"/>
              </a:ext>
            </a:extLst>
          </p:cNvPr>
          <p:cNvSpPr/>
          <p:nvPr/>
        </p:nvSpPr>
        <p:spPr bwMode="auto">
          <a:xfrm>
            <a:off x="7942395" y="3118801"/>
            <a:ext cx="1609561" cy="27937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vLLM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, Llama.cpp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BB114AA-90BF-C716-B45A-CF777F2B5F20}"/>
              </a:ext>
            </a:extLst>
          </p:cNvPr>
          <p:cNvSpPr/>
          <p:nvPr/>
        </p:nvSpPr>
        <p:spPr bwMode="auto">
          <a:xfrm>
            <a:off x="7930169" y="3533286"/>
            <a:ext cx="1609561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ROC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m/HIP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3EB7017-3C48-93ED-FD29-35C9BD05038C}"/>
              </a:ext>
            </a:extLst>
          </p:cNvPr>
          <p:cNvSpPr/>
          <p:nvPr/>
        </p:nvSpPr>
        <p:spPr bwMode="auto">
          <a:xfrm>
            <a:off x="7930169" y="3963710"/>
            <a:ext cx="1588337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iGPU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AAD83E-7E25-C4E9-A4BE-4E882793BA87}"/>
              </a:ext>
            </a:extLst>
          </p:cNvPr>
          <p:cNvSpPr txBox="1"/>
          <p:nvPr/>
        </p:nvSpPr>
        <p:spPr>
          <a:xfrm>
            <a:off x="5354973" y="1416195"/>
            <a:ext cx="159178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NPU/CPU 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Workload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82A5D74-A82D-05F2-A3EB-35BC6F3B8322}"/>
              </a:ext>
            </a:extLst>
          </p:cNvPr>
          <p:cNvSpPr/>
          <p:nvPr/>
        </p:nvSpPr>
        <p:spPr bwMode="auto">
          <a:xfrm>
            <a:off x="10386719" y="2014960"/>
            <a:ext cx="1179773" cy="844604"/>
          </a:xfrm>
          <a:prstGeom prst="rect">
            <a:avLst/>
          </a:prstGeom>
          <a:solidFill>
            <a:srgbClr val="ED1C24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Post Proc  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(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dst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: overlay, data sink)  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D8B072-7B4C-8F3B-EEB2-97ED37AD39C5}"/>
              </a:ext>
            </a:extLst>
          </p:cNvPr>
          <p:cNvSpPr txBox="1"/>
          <p:nvPr/>
        </p:nvSpPr>
        <p:spPr>
          <a:xfrm>
            <a:off x="2823710" y="4470984"/>
            <a:ext cx="94256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RyzenAI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 Stack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0B2204-A2E4-9ECA-4E52-3A93F964E73C}"/>
              </a:ext>
            </a:extLst>
          </p:cNvPr>
          <p:cNvSpPr txBox="1"/>
          <p:nvPr/>
        </p:nvSpPr>
        <p:spPr>
          <a:xfrm>
            <a:off x="5418377" y="4487527"/>
            <a:ext cx="94256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RyzenAI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 Stack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AEDCBF-427D-1991-6A7A-0E7008B8CEA9}"/>
              </a:ext>
            </a:extLst>
          </p:cNvPr>
          <p:cNvSpPr txBox="1"/>
          <p:nvPr/>
        </p:nvSpPr>
        <p:spPr>
          <a:xfrm>
            <a:off x="8149007" y="4538465"/>
            <a:ext cx="106599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ROCm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/HIP Stack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B40BE70-6B1A-080C-59D1-D891A02A9364}"/>
              </a:ext>
            </a:extLst>
          </p:cNvPr>
          <p:cNvCxnSpPr>
            <a:cxnSpLocks/>
          </p:cNvCxnSpPr>
          <p:nvPr/>
        </p:nvCxnSpPr>
        <p:spPr>
          <a:xfrm>
            <a:off x="11566492" y="2189437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2405165-C096-C846-034A-F37DB4451642}"/>
              </a:ext>
            </a:extLst>
          </p:cNvPr>
          <p:cNvCxnSpPr>
            <a:cxnSpLocks/>
          </p:cNvCxnSpPr>
          <p:nvPr/>
        </p:nvCxnSpPr>
        <p:spPr>
          <a:xfrm>
            <a:off x="11566492" y="2403155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C0CBF51-4FDC-80A9-96EF-CE53D79C0231}"/>
              </a:ext>
            </a:extLst>
          </p:cNvPr>
          <p:cNvCxnSpPr>
            <a:cxnSpLocks/>
          </p:cNvCxnSpPr>
          <p:nvPr/>
        </p:nvCxnSpPr>
        <p:spPr>
          <a:xfrm>
            <a:off x="11566492" y="2620486"/>
            <a:ext cx="55050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24B4815-B270-72FD-E9A3-E2F0C2CF668A}"/>
              </a:ext>
            </a:extLst>
          </p:cNvPr>
          <p:cNvSpPr txBox="1"/>
          <p:nvPr/>
        </p:nvSpPr>
        <p:spPr>
          <a:xfrm>
            <a:off x="10452297" y="1554584"/>
            <a:ext cx="104861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iGPU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/VCN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081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38F38-4413-A3CE-16BF-9AED39C73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rrow: Right 99">
            <a:extLst>
              <a:ext uri="{FF2B5EF4-FFF2-40B4-BE49-F238E27FC236}">
                <a16:creationId xmlns:a16="http://schemas.microsoft.com/office/drawing/2014/main" id="{50B35A45-C1B7-EDCD-4D7D-2FA0BBE4E94E}"/>
              </a:ext>
            </a:extLst>
          </p:cNvPr>
          <p:cNvSpPr/>
          <p:nvPr/>
        </p:nvSpPr>
        <p:spPr bwMode="auto">
          <a:xfrm>
            <a:off x="1212980" y="4568037"/>
            <a:ext cx="2442072" cy="229269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B9F16D2-73D6-4513-0001-B311AF02DDD3}"/>
              </a:ext>
            </a:extLst>
          </p:cNvPr>
          <p:cNvSpPr/>
          <p:nvPr/>
        </p:nvSpPr>
        <p:spPr bwMode="auto">
          <a:xfrm>
            <a:off x="1454131" y="3692682"/>
            <a:ext cx="1690138" cy="2631748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2BB68-21A6-40EE-12FC-67463468D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795" y="417093"/>
            <a:ext cx="11049867" cy="369332"/>
          </a:xfrm>
        </p:spPr>
        <p:txBody>
          <a:bodyPr/>
          <a:lstStyle/>
          <a:p>
            <a:r>
              <a:rPr lang="en-US" sz="2000"/>
              <a:t>In Vehicle Voice Assist. Usage to Inference Mapping – Hybrid (broader mkt, Krk2e) </a:t>
            </a:r>
            <a:r>
              <a:rPr lang="en-US" sz="2400"/>
              <a:t>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89885-01C0-248B-2E94-155887A90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836" y="5463874"/>
            <a:ext cx="10517707" cy="507840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76F73F-53FD-727C-2AEE-426AA307A316}"/>
              </a:ext>
            </a:extLst>
          </p:cNvPr>
          <p:cNvSpPr/>
          <p:nvPr/>
        </p:nvSpPr>
        <p:spPr bwMode="auto">
          <a:xfrm>
            <a:off x="378403" y="3881700"/>
            <a:ext cx="807823" cy="930956"/>
          </a:xfrm>
          <a:prstGeom prst="rect">
            <a:avLst/>
          </a:prstGeom>
          <a:solidFill>
            <a:srgbClr val="ED1C24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Input 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Preproc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 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src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: images,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audi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o/video) 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3C7578-7337-96A6-E42B-15040CAE1A7C}"/>
              </a:ext>
            </a:extLst>
          </p:cNvPr>
          <p:cNvCxnSpPr>
            <a:cxnSpLocks/>
          </p:cNvCxnSpPr>
          <p:nvPr/>
        </p:nvCxnSpPr>
        <p:spPr>
          <a:xfrm>
            <a:off x="81287" y="4095931"/>
            <a:ext cx="289508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125FCB-D10A-1522-5E00-402A47E23885}"/>
              </a:ext>
            </a:extLst>
          </p:cNvPr>
          <p:cNvCxnSpPr>
            <a:cxnSpLocks/>
          </p:cNvCxnSpPr>
          <p:nvPr/>
        </p:nvCxnSpPr>
        <p:spPr>
          <a:xfrm flipV="1">
            <a:off x="81287" y="4309248"/>
            <a:ext cx="275254" cy="401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7DC97E-FA7B-9094-F748-F201352D5F61}"/>
              </a:ext>
            </a:extLst>
          </p:cNvPr>
          <p:cNvCxnSpPr>
            <a:cxnSpLocks/>
          </p:cNvCxnSpPr>
          <p:nvPr/>
        </p:nvCxnSpPr>
        <p:spPr>
          <a:xfrm flipV="1">
            <a:off x="81287" y="4522965"/>
            <a:ext cx="246734" cy="4015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2D87471-2FC5-F617-4299-586E6612F063}"/>
              </a:ext>
            </a:extLst>
          </p:cNvPr>
          <p:cNvSpPr txBox="1"/>
          <p:nvPr/>
        </p:nvSpPr>
        <p:spPr>
          <a:xfrm>
            <a:off x="283702" y="5072777"/>
            <a:ext cx="104861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iGPU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/VCN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3F4C189-7B74-4BB3-3782-66E1ACD49105}"/>
              </a:ext>
            </a:extLst>
          </p:cNvPr>
          <p:cNvSpPr/>
          <p:nvPr/>
        </p:nvSpPr>
        <p:spPr bwMode="auto">
          <a:xfrm>
            <a:off x="1182770" y="4211060"/>
            <a:ext cx="264007" cy="250286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1341A442-B7B6-B256-2C81-08B817FB1B35}"/>
              </a:ext>
            </a:extLst>
          </p:cNvPr>
          <p:cNvSpPr/>
          <p:nvPr/>
        </p:nvSpPr>
        <p:spPr bwMode="auto">
          <a:xfrm>
            <a:off x="8451742" y="4184076"/>
            <a:ext cx="973497" cy="285227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153DC50-990D-001D-6C9A-F1F58F896B28}"/>
              </a:ext>
            </a:extLst>
          </p:cNvPr>
          <p:cNvSpPr/>
          <p:nvPr/>
        </p:nvSpPr>
        <p:spPr bwMode="auto">
          <a:xfrm>
            <a:off x="3153800" y="4116991"/>
            <a:ext cx="501380" cy="21886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AB29FB-34DD-38F3-0282-5CC40B4A800D}"/>
              </a:ext>
            </a:extLst>
          </p:cNvPr>
          <p:cNvSpPr/>
          <p:nvPr/>
        </p:nvSpPr>
        <p:spPr bwMode="auto">
          <a:xfrm>
            <a:off x="1625241" y="3954834"/>
            <a:ext cx="1481802" cy="457200"/>
          </a:xfrm>
          <a:prstGeom prst="rect">
            <a:avLst/>
          </a:prstGeom>
          <a:solidFill>
            <a:srgbClr val="0070C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ASR (Whisper)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878452-317E-76D1-A371-F5E05E39A174}"/>
              </a:ext>
            </a:extLst>
          </p:cNvPr>
          <p:cNvSpPr txBox="1"/>
          <p:nvPr/>
        </p:nvSpPr>
        <p:spPr>
          <a:xfrm>
            <a:off x="1948188" y="3765971"/>
            <a:ext cx="6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F8379AF-D394-AF4E-4E72-0656BCF0BE06}"/>
              </a:ext>
            </a:extLst>
          </p:cNvPr>
          <p:cNvCxnSpPr>
            <a:cxnSpLocks/>
          </p:cNvCxnSpPr>
          <p:nvPr/>
        </p:nvCxnSpPr>
        <p:spPr>
          <a:xfrm>
            <a:off x="2133546" y="4442463"/>
            <a:ext cx="0" cy="431807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40E9B45-B99F-7763-7E8A-5C258269A8D7}"/>
              </a:ext>
            </a:extLst>
          </p:cNvPr>
          <p:cNvCxnSpPr>
            <a:cxnSpLocks/>
          </p:cNvCxnSpPr>
          <p:nvPr/>
        </p:nvCxnSpPr>
        <p:spPr>
          <a:xfrm flipV="1">
            <a:off x="2665747" y="4402073"/>
            <a:ext cx="0" cy="492175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21CAEDC-54EF-9FBB-6FE1-5D1F47F4DD04}"/>
              </a:ext>
            </a:extLst>
          </p:cNvPr>
          <p:cNvSpPr/>
          <p:nvPr/>
        </p:nvSpPr>
        <p:spPr bwMode="auto">
          <a:xfrm>
            <a:off x="1691981" y="4894248"/>
            <a:ext cx="1306195" cy="27937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ONNX-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RunTime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DFD5CCA-D0CE-C772-FC37-5E52EEB8FC42}"/>
              </a:ext>
            </a:extLst>
          </p:cNvPr>
          <p:cNvSpPr/>
          <p:nvPr/>
        </p:nvSpPr>
        <p:spPr bwMode="auto">
          <a:xfrm>
            <a:off x="1713205" y="5302701"/>
            <a:ext cx="1284971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VitisAI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EP/ CPU EP 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00F39B1-B6DC-43D8-F1E5-622C4CB405DA}"/>
              </a:ext>
            </a:extLst>
          </p:cNvPr>
          <p:cNvSpPr/>
          <p:nvPr/>
        </p:nvSpPr>
        <p:spPr bwMode="auto">
          <a:xfrm>
            <a:off x="2474677" y="5776507"/>
            <a:ext cx="595306" cy="22849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CPU 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A982313-D610-BC91-B969-C1F576520102}"/>
              </a:ext>
            </a:extLst>
          </p:cNvPr>
          <p:cNvSpPr/>
          <p:nvPr/>
        </p:nvSpPr>
        <p:spPr bwMode="auto">
          <a:xfrm>
            <a:off x="1713205" y="5749486"/>
            <a:ext cx="681318" cy="2462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NPU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EB60C6-B1EF-1220-C3A9-6143313A18D3}"/>
              </a:ext>
            </a:extLst>
          </p:cNvPr>
          <p:cNvSpPr txBox="1"/>
          <p:nvPr/>
        </p:nvSpPr>
        <p:spPr>
          <a:xfrm>
            <a:off x="1544570" y="6615875"/>
            <a:ext cx="159178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NPU/CPU 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Workload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58E281-704E-220A-A40B-F11FC44B563B}"/>
              </a:ext>
            </a:extLst>
          </p:cNvPr>
          <p:cNvSpPr txBox="1"/>
          <p:nvPr/>
        </p:nvSpPr>
        <p:spPr>
          <a:xfrm>
            <a:off x="1919041" y="6070493"/>
            <a:ext cx="94256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RyzenAI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 Stack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4562F9-FDC2-3AF0-4428-74FC1FA0A54D}"/>
              </a:ext>
            </a:extLst>
          </p:cNvPr>
          <p:cNvSpPr txBox="1"/>
          <p:nvPr/>
        </p:nvSpPr>
        <p:spPr>
          <a:xfrm>
            <a:off x="9302742" y="6489527"/>
            <a:ext cx="155820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NPU/CPU Workload Target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16F0D4-209F-59B5-FF78-65AC55BCFCD7}"/>
              </a:ext>
            </a:extLst>
          </p:cNvPr>
          <p:cNvSpPr txBox="1"/>
          <p:nvPr/>
        </p:nvSpPr>
        <p:spPr>
          <a:xfrm>
            <a:off x="8283410" y="3326398"/>
            <a:ext cx="56945" cy="1168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A1128629-F3E6-45B5-945E-E2D6E89F79F2}"/>
              </a:ext>
            </a:extLst>
          </p:cNvPr>
          <p:cNvSpPr/>
          <p:nvPr/>
        </p:nvSpPr>
        <p:spPr bwMode="auto">
          <a:xfrm>
            <a:off x="9462464" y="3844938"/>
            <a:ext cx="1689136" cy="2520871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A14E101-D9EE-B04B-E1F1-B1A5096BA238}"/>
              </a:ext>
            </a:extLst>
          </p:cNvPr>
          <p:cNvSpPr/>
          <p:nvPr/>
        </p:nvSpPr>
        <p:spPr bwMode="auto">
          <a:xfrm>
            <a:off x="9675909" y="4039992"/>
            <a:ext cx="1185037" cy="421354"/>
          </a:xfrm>
          <a:prstGeom prst="rect">
            <a:avLst/>
          </a:prstGeom>
          <a:solidFill>
            <a:srgbClr val="0070C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Model (Text-to-Speech)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A08CBDB-EAC5-2A75-416B-EEA1D8C48562}"/>
              </a:ext>
            </a:extLst>
          </p:cNvPr>
          <p:cNvSpPr txBox="1"/>
          <p:nvPr/>
        </p:nvSpPr>
        <p:spPr>
          <a:xfrm>
            <a:off x="9880667" y="3861384"/>
            <a:ext cx="45719" cy="1418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F24F19F-4891-82B1-9EFC-902A9C4036B4}"/>
              </a:ext>
            </a:extLst>
          </p:cNvPr>
          <p:cNvCxnSpPr>
            <a:cxnSpLocks/>
          </p:cNvCxnSpPr>
          <p:nvPr/>
        </p:nvCxnSpPr>
        <p:spPr>
          <a:xfrm>
            <a:off x="10066025" y="4537876"/>
            <a:ext cx="0" cy="397952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07C31E4-D429-479C-ACFF-B448CD34FFD1}"/>
              </a:ext>
            </a:extLst>
          </p:cNvPr>
          <p:cNvCxnSpPr>
            <a:cxnSpLocks/>
          </p:cNvCxnSpPr>
          <p:nvPr/>
        </p:nvCxnSpPr>
        <p:spPr>
          <a:xfrm flipV="1">
            <a:off x="10598226" y="4537876"/>
            <a:ext cx="0" cy="451785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293193E2-912B-AEDB-20C9-6C8A61E47122}"/>
              </a:ext>
            </a:extLst>
          </p:cNvPr>
          <p:cNvSpPr/>
          <p:nvPr/>
        </p:nvSpPr>
        <p:spPr bwMode="auto">
          <a:xfrm>
            <a:off x="9624461" y="4989661"/>
            <a:ext cx="1439898" cy="25746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ONNX-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RunTime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4E4D212-3EDC-251B-7BEE-A9321EEC929A}"/>
              </a:ext>
            </a:extLst>
          </p:cNvPr>
          <p:cNvSpPr/>
          <p:nvPr/>
        </p:nvSpPr>
        <p:spPr bwMode="auto">
          <a:xfrm>
            <a:off x="9645685" y="5398114"/>
            <a:ext cx="1439898" cy="22691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VitisAI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EP / CPU EP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6FD9531C-83EC-D544-213E-6034E6F0FDCE}"/>
              </a:ext>
            </a:extLst>
          </p:cNvPr>
          <p:cNvSpPr/>
          <p:nvPr/>
        </p:nvSpPr>
        <p:spPr bwMode="auto">
          <a:xfrm>
            <a:off x="10443073" y="5809863"/>
            <a:ext cx="621286" cy="22691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CPU 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C24B194-B3D5-EAE9-8380-CD303A81B450}"/>
              </a:ext>
            </a:extLst>
          </p:cNvPr>
          <p:cNvSpPr/>
          <p:nvPr/>
        </p:nvSpPr>
        <p:spPr bwMode="auto">
          <a:xfrm>
            <a:off x="9675909" y="5798454"/>
            <a:ext cx="609500" cy="22691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NPU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44CA433-A09F-163A-9B7F-91873899E19F}"/>
              </a:ext>
            </a:extLst>
          </p:cNvPr>
          <p:cNvSpPr txBox="1"/>
          <p:nvPr/>
        </p:nvSpPr>
        <p:spPr>
          <a:xfrm>
            <a:off x="9980659" y="6107915"/>
            <a:ext cx="84321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 err="1">
                <a:solidFill>
                  <a:srgbClr val="FFFFFF"/>
                </a:solidFill>
                <a:latin typeface="Arial" panose="020B0604020202020204"/>
              </a:rPr>
              <a:t>RyzenAI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 Stack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679CDD-2B22-76AE-D4DC-0C0A5C3BF696}"/>
              </a:ext>
            </a:extLst>
          </p:cNvPr>
          <p:cNvCxnSpPr>
            <a:cxnSpLocks/>
          </p:cNvCxnSpPr>
          <p:nvPr/>
        </p:nvCxnSpPr>
        <p:spPr>
          <a:xfrm>
            <a:off x="7571328" y="2370077"/>
            <a:ext cx="237997" cy="10946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E7F0E98-06F5-8822-DDB2-55B82806E8DB}"/>
              </a:ext>
            </a:extLst>
          </p:cNvPr>
          <p:cNvCxnSpPr>
            <a:cxnSpLocks/>
          </p:cNvCxnSpPr>
          <p:nvPr/>
        </p:nvCxnSpPr>
        <p:spPr>
          <a:xfrm>
            <a:off x="4934075" y="2090209"/>
            <a:ext cx="430924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088E04-A3A8-49B3-D937-2365A8ED55DC}"/>
              </a:ext>
            </a:extLst>
          </p:cNvPr>
          <p:cNvCxnSpPr>
            <a:cxnSpLocks/>
          </p:cNvCxnSpPr>
          <p:nvPr/>
        </p:nvCxnSpPr>
        <p:spPr>
          <a:xfrm>
            <a:off x="3762212" y="2112781"/>
            <a:ext cx="3704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C6921BB-8068-FF6D-D165-ABCD63365A05}"/>
              </a:ext>
            </a:extLst>
          </p:cNvPr>
          <p:cNvCxnSpPr>
            <a:cxnSpLocks/>
          </p:cNvCxnSpPr>
          <p:nvPr/>
        </p:nvCxnSpPr>
        <p:spPr>
          <a:xfrm>
            <a:off x="3762212" y="1780639"/>
            <a:ext cx="3704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C9370F2-00EE-D507-C9F9-D70883CB1321}"/>
              </a:ext>
            </a:extLst>
          </p:cNvPr>
          <p:cNvSpPr txBox="1"/>
          <p:nvPr/>
        </p:nvSpPr>
        <p:spPr>
          <a:xfrm>
            <a:off x="4048619" y="1187577"/>
            <a:ext cx="1219204" cy="185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Model: 0.5 GB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A36C48-3715-DA1F-C984-F81B3DF4A7A4}"/>
              </a:ext>
            </a:extLst>
          </p:cNvPr>
          <p:cNvSpPr txBox="1"/>
          <p:nvPr/>
        </p:nvSpPr>
        <p:spPr>
          <a:xfrm>
            <a:off x="5286127" y="1210953"/>
            <a:ext cx="1219204" cy="185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Model: </a:t>
            </a:r>
            <a:r>
              <a:rPr lang="en-US" sz="1200">
                <a:solidFill>
                  <a:srgbClr val="FFFFFF"/>
                </a:solidFill>
                <a:latin typeface="Arial" panose="020B0604020202020204"/>
              </a:rPr>
              <a:t>5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877D3D-8744-5C88-E4E2-BCAB1E68E175}"/>
              </a:ext>
            </a:extLst>
          </p:cNvPr>
          <p:cNvSpPr/>
          <p:nvPr/>
        </p:nvSpPr>
        <p:spPr bwMode="auto">
          <a:xfrm>
            <a:off x="1851609" y="2656827"/>
            <a:ext cx="1069562" cy="565717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ASR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0D46DB4-A86E-81B7-0CDE-35131AAF8BC3}"/>
              </a:ext>
            </a:extLst>
          </p:cNvPr>
          <p:cNvSpPr/>
          <p:nvPr/>
        </p:nvSpPr>
        <p:spPr bwMode="auto">
          <a:xfrm>
            <a:off x="7846308" y="1156049"/>
            <a:ext cx="1117416" cy="728717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Function Call,  Message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30DFC9-FE11-E0DC-EC30-927F9ED1CCD1}"/>
              </a:ext>
            </a:extLst>
          </p:cNvPr>
          <p:cNvSpPr txBox="1"/>
          <p:nvPr/>
        </p:nvSpPr>
        <p:spPr>
          <a:xfrm>
            <a:off x="2278138" y="3289275"/>
            <a:ext cx="1219204" cy="185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Model: 1.5 GB</a:t>
            </a:r>
          </a:p>
        </p:txBody>
      </p:sp>
      <p:pic>
        <p:nvPicPr>
          <p:cNvPr id="37" name="Picture 2" descr="In-Cabin AI is Making Driving Safer ...">
            <a:extLst>
              <a:ext uri="{FF2B5EF4-FFF2-40B4-BE49-F238E27FC236}">
                <a16:creationId xmlns:a16="http://schemas.microsoft.com/office/drawing/2014/main" id="{0EA1E03D-BFA7-B85F-4362-C46E3009E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390" y="1258490"/>
            <a:ext cx="1174526" cy="65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Cameras with Front and Rear Views.">
            <a:extLst>
              <a:ext uri="{FF2B5EF4-FFF2-40B4-BE49-F238E27FC236}">
                <a16:creationId xmlns:a16="http://schemas.microsoft.com/office/drawing/2014/main" id="{CF4F0403-2269-A70C-E10D-106AF17EA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625" y="1535593"/>
            <a:ext cx="1050304" cy="63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28F557C2-D7F8-24A4-16FD-76C9450B39A6}"/>
              </a:ext>
            </a:extLst>
          </p:cNvPr>
          <p:cNvSpPr/>
          <p:nvPr/>
        </p:nvSpPr>
        <p:spPr bwMode="auto">
          <a:xfrm>
            <a:off x="7800987" y="2112781"/>
            <a:ext cx="1126186" cy="516152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TTS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A6B00C-C10B-F7A0-5AC4-892CF3C24DF2}"/>
              </a:ext>
            </a:extLst>
          </p:cNvPr>
          <p:cNvSpPr txBox="1"/>
          <p:nvPr/>
        </p:nvSpPr>
        <p:spPr>
          <a:xfrm>
            <a:off x="7851366" y="2704430"/>
            <a:ext cx="1219204" cy="185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Model: 0.5 GB</a:t>
            </a:r>
          </a:p>
        </p:txBody>
      </p:sp>
      <p:pic>
        <p:nvPicPr>
          <p:cNvPr id="43" name="Picture 12" descr="1,327,300+ Driver Stock Photos, Pictures &amp; Royalty-Free ...">
            <a:extLst>
              <a:ext uri="{FF2B5EF4-FFF2-40B4-BE49-F238E27FC236}">
                <a16:creationId xmlns:a16="http://schemas.microsoft.com/office/drawing/2014/main" id="{4A5A03B2-9A3A-D535-B35C-8D60AB8CE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9627" y="1254965"/>
            <a:ext cx="1934363" cy="141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7A5338-89AB-076E-19A8-E52DF52B5AFC}"/>
              </a:ext>
            </a:extLst>
          </p:cNvPr>
          <p:cNvCxnSpPr>
            <a:cxnSpLocks/>
          </p:cNvCxnSpPr>
          <p:nvPr/>
        </p:nvCxnSpPr>
        <p:spPr>
          <a:xfrm>
            <a:off x="8924894" y="1612228"/>
            <a:ext cx="38367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A4783C8-4AC9-EA8D-9243-5CC2947A3170}"/>
              </a:ext>
            </a:extLst>
          </p:cNvPr>
          <p:cNvSpPr txBox="1"/>
          <p:nvPr/>
        </p:nvSpPr>
        <p:spPr>
          <a:xfrm>
            <a:off x="685110" y="2545455"/>
            <a:ext cx="146682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Speech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D7915B1-C81B-CF0F-2021-D4FE4ECC6492}"/>
              </a:ext>
            </a:extLst>
          </p:cNvPr>
          <p:cNvCxnSpPr>
            <a:cxnSpLocks/>
          </p:cNvCxnSpPr>
          <p:nvPr/>
        </p:nvCxnSpPr>
        <p:spPr>
          <a:xfrm>
            <a:off x="8920479" y="2370077"/>
            <a:ext cx="38367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210ADCE-85CD-C9A4-56AA-51674C570693}"/>
              </a:ext>
            </a:extLst>
          </p:cNvPr>
          <p:cNvCxnSpPr>
            <a:cxnSpLocks/>
          </p:cNvCxnSpPr>
          <p:nvPr/>
        </p:nvCxnSpPr>
        <p:spPr>
          <a:xfrm>
            <a:off x="3807777" y="2950150"/>
            <a:ext cx="2713699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9777F6C-D375-3904-BD62-C768D797DD35}"/>
              </a:ext>
            </a:extLst>
          </p:cNvPr>
          <p:cNvCxnSpPr>
            <a:cxnSpLocks/>
          </p:cNvCxnSpPr>
          <p:nvPr/>
        </p:nvCxnSpPr>
        <p:spPr>
          <a:xfrm>
            <a:off x="7571328" y="1737263"/>
            <a:ext cx="22485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A8754D77-4624-66D5-E5C4-2CFF63BFD870}"/>
              </a:ext>
            </a:extLst>
          </p:cNvPr>
          <p:cNvCxnSpPr>
            <a:cxnSpLocks/>
            <a:endCxn id="32" idx="1"/>
          </p:cNvCxnSpPr>
          <p:nvPr/>
        </p:nvCxnSpPr>
        <p:spPr>
          <a:xfrm rot="10800000">
            <a:off x="1851609" y="2939686"/>
            <a:ext cx="8610316" cy="285224"/>
          </a:xfrm>
          <a:prstGeom prst="bentConnector3">
            <a:avLst>
              <a:gd name="adj1" fmla="val 103256"/>
            </a:avLst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185C42DB-96CA-5B88-F657-7ACF895A960A}"/>
              </a:ext>
            </a:extLst>
          </p:cNvPr>
          <p:cNvSpPr/>
          <p:nvPr/>
        </p:nvSpPr>
        <p:spPr bwMode="auto">
          <a:xfrm>
            <a:off x="3038543" y="2644004"/>
            <a:ext cx="776118" cy="565717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FA430B1-C801-962B-E90E-303A725078F7}"/>
              </a:ext>
            </a:extLst>
          </p:cNvPr>
          <p:cNvSpPr/>
          <p:nvPr/>
        </p:nvSpPr>
        <p:spPr bwMode="auto">
          <a:xfrm>
            <a:off x="4155198" y="1466570"/>
            <a:ext cx="850684" cy="1072123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CLIP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(Visual Encoder)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CADE2F7-3B1C-32FD-CED8-5EA1280B4B52}"/>
              </a:ext>
            </a:extLst>
          </p:cNvPr>
          <p:cNvSpPr/>
          <p:nvPr/>
        </p:nvSpPr>
        <p:spPr bwMode="auto">
          <a:xfrm>
            <a:off x="5379445" y="1427928"/>
            <a:ext cx="885824" cy="1078542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LLM</a:t>
            </a:r>
          </a:p>
        </p:txBody>
      </p:sp>
      <p:pic>
        <p:nvPicPr>
          <p:cNvPr id="70" name="Picture 2" descr="387,700+ Microphone Stock Photos, Pictures &amp; Royalty-Free ...">
            <a:extLst>
              <a:ext uri="{FF2B5EF4-FFF2-40B4-BE49-F238E27FC236}">
                <a16:creationId xmlns:a16="http://schemas.microsoft.com/office/drawing/2014/main" id="{554C86BD-2AE5-A303-F51A-8F593C1E8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675" y="2757570"/>
            <a:ext cx="574816" cy="531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985FB1C0-5399-6F92-BF8D-697199CF8876}"/>
              </a:ext>
            </a:extLst>
          </p:cNvPr>
          <p:cNvSpPr/>
          <p:nvPr/>
        </p:nvSpPr>
        <p:spPr bwMode="auto">
          <a:xfrm>
            <a:off x="3963916" y="1057324"/>
            <a:ext cx="2419607" cy="1780874"/>
          </a:xfrm>
          <a:prstGeom prst="rect">
            <a:avLst/>
          </a:prstGeom>
          <a:noFill/>
          <a:ln>
            <a:solidFill>
              <a:srgbClr val="00B0F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00B0F0"/>
                </a:solidFill>
                <a:ea typeface="Segoe UI" pitchFamily="34" charset="0"/>
                <a:cs typeface="Segoe UI" pitchFamily="34" charset="0"/>
              </a:rPr>
              <a:t>VLM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764B7DB-DFC1-A858-070C-0668D2CC1A96}"/>
              </a:ext>
            </a:extLst>
          </p:cNvPr>
          <p:cNvSpPr txBox="1"/>
          <p:nvPr/>
        </p:nvSpPr>
        <p:spPr>
          <a:xfrm>
            <a:off x="894462" y="1302126"/>
            <a:ext cx="14668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2000">
                <a:solidFill>
                  <a:srgbClr val="00B0F0"/>
                </a:solidFill>
                <a:latin typeface="Arial" panose="020B0604020202020204"/>
              </a:rPr>
              <a:t>Images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2000">
                <a:solidFill>
                  <a:srgbClr val="00B0F0"/>
                </a:solidFill>
                <a:latin typeface="Arial" panose="020B0604020202020204"/>
              </a:rPr>
              <a:t>videos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ADE642-7296-2DEB-7C62-D52C330DC8EB}"/>
              </a:ext>
            </a:extLst>
          </p:cNvPr>
          <p:cNvSpPr/>
          <p:nvPr/>
        </p:nvSpPr>
        <p:spPr bwMode="auto">
          <a:xfrm>
            <a:off x="6609935" y="1073663"/>
            <a:ext cx="965672" cy="2001425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/>
              </a:rPr>
              <a:t>AI Agent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28C5E8-7431-0E85-C41D-0ED6C996EF1D}"/>
              </a:ext>
            </a:extLst>
          </p:cNvPr>
          <p:cNvCxnSpPr>
            <a:cxnSpLocks/>
          </p:cNvCxnSpPr>
          <p:nvPr/>
        </p:nvCxnSpPr>
        <p:spPr>
          <a:xfrm>
            <a:off x="6182935" y="1978290"/>
            <a:ext cx="430924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7DF141-F496-5432-CEA7-30C28257B1FD}"/>
              </a:ext>
            </a:extLst>
          </p:cNvPr>
          <p:cNvSpPr/>
          <p:nvPr/>
        </p:nvSpPr>
        <p:spPr bwMode="auto">
          <a:xfrm>
            <a:off x="5950142" y="5562946"/>
            <a:ext cx="2525430" cy="1228235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accent2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078572-C3D1-EC36-3E17-5FD10DEC13FF}"/>
              </a:ext>
            </a:extLst>
          </p:cNvPr>
          <p:cNvSpPr/>
          <p:nvPr/>
        </p:nvSpPr>
        <p:spPr bwMode="auto">
          <a:xfrm>
            <a:off x="3712481" y="5514490"/>
            <a:ext cx="1955000" cy="1276691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accent2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B4D236C-B05F-79DF-7911-7C23B3984AF5}"/>
              </a:ext>
            </a:extLst>
          </p:cNvPr>
          <p:cNvSpPr/>
          <p:nvPr/>
        </p:nvSpPr>
        <p:spPr bwMode="auto">
          <a:xfrm>
            <a:off x="5328221" y="4172853"/>
            <a:ext cx="557268" cy="457876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7C5F29-65E2-8885-AC41-456AE72AFF34}"/>
              </a:ext>
            </a:extLst>
          </p:cNvPr>
          <p:cNvSpPr txBox="1"/>
          <p:nvPr/>
        </p:nvSpPr>
        <p:spPr>
          <a:xfrm>
            <a:off x="6518353" y="6477909"/>
            <a:ext cx="132087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iGPU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Workload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764F32-CE41-2677-79E8-12FE0E3B6BE5}"/>
              </a:ext>
            </a:extLst>
          </p:cNvPr>
          <p:cNvSpPr/>
          <p:nvPr/>
        </p:nvSpPr>
        <p:spPr bwMode="auto">
          <a:xfrm>
            <a:off x="3978937" y="4116322"/>
            <a:ext cx="1352710" cy="602805"/>
          </a:xfrm>
          <a:prstGeom prst="rect">
            <a:avLst/>
          </a:prstGeom>
          <a:solidFill>
            <a:srgbClr val="0070C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Encoder-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Prefiller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(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, 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size_small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)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(Compute Intensive)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23CC5F-D952-54ED-596B-69121513FC20}"/>
              </a:ext>
            </a:extLst>
          </p:cNvPr>
          <p:cNvSpPr txBox="1"/>
          <p:nvPr/>
        </p:nvSpPr>
        <p:spPr>
          <a:xfrm>
            <a:off x="3136352" y="3915863"/>
            <a:ext cx="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583C405-2775-56CD-ABBC-2562D610F02B}"/>
              </a:ext>
            </a:extLst>
          </p:cNvPr>
          <p:cNvCxnSpPr>
            <a:cxnSpLocks/>
          </p:cNvCxnSpPr>
          <p:nvPr/>
        </p:nvCxnSpPr>
        <p:spPr>
          <a:xfrm>
            <a:off x="4299697" y="4759517"/>
            <a:ext cx="0" cy="699552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0373419-6C00-3C5E-8E63-C0DD340A6F45}"/>
              </a:ext>
            </a:extLst>
          </p:cNvPr>
          <p:cNvCxnSpPr>
            <a:cxnSpLocks/>
          </p:cNvCxnSpPr>
          <p:nvPr/>
        </p:nvCxnSpPr>
        <p:spPr>
          <a:xfrm flipV="1">
            <a:off x="5188246" y="4734490"/>
            <a:ext cx="0" cy="492175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5CC11F1-FEA3-61C0-AA7F-2CD062DCFB6A}"/>
              </a:ext>
            </a:extLst>
          </p:cNvPr>
          <p:cNvSpPr/>
          <p:nvPr/>
        </p:nvSpPr>
        <p:spPr bwMode="auto">
          <a:xfrm>
            <a:off x="4837012" y="5179698"/>
            <a:ext cx="2299853" cy="27937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Unified Memory 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8B044D88-C15C-E499-DF8F-4DB4B418B4AB}"/>
              </a:ext>
            </a:extLst>
          </p:cNvPr>
          <p:cNvSpPr/>
          <p:nvPr/>
        </p:nvSpPr>
        <p:spPr bwMode="auto">
          <a:xfrm>
            <a:off x="3841622" y="5588392"/>
            <a:ext cx="1609561" cy="37551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VitisAI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EP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FC77D790-9C18-8368-2F16-D8C2AABFFACA}"/>
              </a:ext>
            </a:extLst>
          </p:cNvPr>
          <p:cNvSpPr/>
          <p:nvPr/>
        </p:nvSpPr>
        <p:spPr bwMode="auto">
          <a:xfrm>
            <a:off x="3841622" y="6070493"/>
            <a:ext cx="1588337" cy="37551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NPU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451A5A-BE3D-9197-A166-EE9E0E71D65D}"/>
              </a:ext>
            </a:extLst>
          </p:cNvPr>
          <p:cNvSpPr/>
          <p:nvPr/>
        </p:nvSpPr>
        <p:spPr bwMode="auto">
          <a:xfrm>
            <a:off x="5879783" y="4071795"/>
            <a:ext cx="2082564" cy="664524"/>
          </a:xfrm>
          <a:prstGeom prst="rect">
            <a:avLst/>
          </a:prstGeom>
          <a:solidFill>
            <a:srgbClr val="C00000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Decoder-Token Gen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(LLM, </a:t>
            </a: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size_large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( Memory Intensive) 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134C0CF-FDF9-0001-2320-B7D366E24648}"/>
              </a:ext>
            </a:extLst>
          </p:cNvPr>
          <p:cNvSpPr txBox="1"/>
          <p:nvPr/>
        </p:nvSpPr>
        <p:spPr>
          <a:xfrm>
            <a:off x="6630217" y="4089662"/>
            <a:ext cx="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6FAF777-3D13-68AE-98AA-1CD94575F911}"/>
              </a:ext>
            </a:extLst>
          </p:cNvPr>
          <p:cNvCxnSpPr>
            <a:cxnSpLocks/>
          </p:cNvCxnSpPr>
          <p:nvPr/>
        </p:nvCxnSpPr>
        <p:spPr>
          <a:xfrm>
            <a:off x="7623627" y="4747620"/>
            <a:ext cx="0" cy="801302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70EE1D0-2EAF-62FF-2D5F-C02DD6A91312}"/>
              </a:ext>
            </a:extLst>
          </p:cNvPr>
          <p:cNvCxnSpPr>
            <a:cxnSpLocks/>
          </p:cNvCxnSpPr>
          <p:nvPr/>
        </p:nvCxnSpPr>
        <p:spPr>
          <a:xfrm flipV="1">
            <a:off x="6383289" y="4734490"/>
            <a:ext cx="0" cy="444660"/>
          </a:xfrm>
          <a:prstGeom prst="straightConnector1">
            <a:avLst/>
          </a:prstGeom>
          <a:ln w="7620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14FF91AC-D68C-7FD2-3560-868C3D38B51F}"/>
              </a:ext>
            </a:extLst>
          </p:cNvPr>
          <p:cNvSpPr/>
          <p:nvPr/>
        </p:nvSpPr>
        <p:spPr bwMode="auto">
          <a:xfrm>
            <a:off x="6374010" y="5736789"/>
            <a:ext cx="1609561" cy="26821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ROC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m EP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C5EE4FE1-0CA5-BE8E-440B-7ACFFED075BE}"/>
              </a:ext>
            </a:extLst>
          </p:cNvPr>
          <p:cNvSpPr/>
          <p:nvPr/>
        </p:nvSpPr>
        <p:spPr bwMode="auto">
          <a:xfrm>
            <a:off x="6329900" y="6080336"/>
            <a:ext cx="1588337" cy="27492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iGPU</a:t>
            </a:r>
            <a:r>
              <a:rPr lang="en-US" sz="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/>
                <a:ea typeface="Segoe UI" pitchFamily="34" charset="0"/>
                <a:cs typeface="Segoe UI" pitchFamily="34" charset="0"/>
              </a:rPr>
              <a:t>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E198C2C-B7CB-85EB-BB0D-E2C7C963D914}"/>
              </a:ext>
            </a:extLst>
          </p:cNvPr>
          <p:cNvSpPr txBox="1"/>
          <p:nvPr/>
        </p:nvSpPr>
        <p:spPr>
          <a:xfrm>
            <a:off x="3859401" y="6542469"/>
            <a:ext cx="159178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NPU/CPU </a:t>
            </a: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Workload Target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B1430CA0-D882-66B5-416A-DDACCD93B544}"/>
              </a:ext>
            </a:extLst>
          </p:cNvPr>
          <p:cNvSpPr/>
          <p:nvPr/>
        </p:nvSpPr>
        <p:spPr bwMode="auto">
          <a:xfrm>
            <a:off x="3704653" y="3692682"/>
            <a:ext cx="4770919" cy="1211919"/>
          </a:xfrm>
          <a:prstGeom prst="roundRect">
            <a:avLst/>
          </a:prstGeom>
          <a:noFill/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16A98D0-DEE2-53FB-AD20-E6B5C93B54B7}"/>
              </a:ext>
            </a:extLst>
          </p:cNvPr>
          <p:cNvSpPr txBox="1"/>
          <p:nvPr/>
        </p:nvSpPr>
        <p:spPr>
          <a:xfrm>
            <a:off x="5105077" y="3818496"/>
            <a:ext cx="140102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lang="en-US" sz="1000">
                <a:solidFill>
                  <a:srgbClr val="FFFFFF"/>
                </a:solidFill>
                <a:latin typeface="Arial" panose="020B0604020202020204"/>
              </a:rPr>
              <a:t>Multi-Modal LLM (VLM) 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439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46" grpId="0"/>
      <p:bldP spid="68" grpId="0" animBg="1"/>
      <p:bldP spid="69" grpId="0" animBg="1"/>
      <p:bldP spid="81" grpId="0" animBg="1"/>
      <p:bldP spid="8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4A6D6-E002-0425-2F0C-90B74654A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7BB9506-5D03-56B6-7767-8F5F262BC64F}"/>
              </a:ext>
            </a:extLst>
          </p:cNvPr>
          <p:cNvSpPr/>
          <p:nvPr/>
        </p:nvSpPr>
        <p:spPr>
          <a:xfrm>
            <a:off x="4727483" y="742158"/>
            <a:ext cx="2743200" cy="54864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C2DE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IVI &lt;Product Name&gt; Development Kit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C2D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D705C4-4DAF-5C76-6D62-324ECCBA924C}"/>
              </a:ext>
            </a:extLst>
          </p:cNvPr>
          <p:cNvSpPr/>
          <p:nvPr/>
        </p:nvSpPr>
        <p:spPr>
          <a:xfrm>
            <a:off x="932688" y="742158"/>
            <a:ext cx="2743200" cy="54864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45708" rIns="0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C2DE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Robotics </a:t>
            </a:r>
            <a:r>
              <a:rPr lang="en-US" sz="1800" b="1" dirty="0">
                <a:solidFill>
                  <a:srgbClr val="00C2DE"/>
                </a:solidFill>
                <a:ea typeface="+mn-lt"/>
                <a:cs typeface="Arial" panose="020B0604020202020204"/>
              </a:rPr>
              <a:t>&lt;Product Name&gt; Development Kit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C2D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0C3D92B4-26A1-13C3-6CFB-4D659480B075}"/>
              </a:ext>
            </a:extLst>
          </p:cNvPr>
          <p:cNvSpPr txBox="1">
            <a:spLocks/>
          </p:cNvSpPr>
          <p:nvPr/>
        </p:nvSpPr>
        <p:spPr>
          <a:xfrm>
            <a:off x="68739" y="176773"/>
            <a:ext cx="7465917" cy="47434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1" kern="1200" cap="none" spc="0" baseline="0">
                <a:ln w="3175">
                  <a:noFill/>
                </a:ln>
                <a:solidFill>
                  <a:schemeClr val="accent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Vertical SW Stack – Building Blocks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3123CA8-C152-6535-7891-D93F1E4930DF}"/>
              </a:ext>
            </a:extLst>
          </p:cNvPr>
          <p:cNvSpPr/>
          <p:nvPr/>
        </p:nvSpPr>
        <p:spPr>
          <a:xfrm>
            <a:off x="8542834" y="742160"/>
            <a:ext cx="2743200" cy="54864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45708" rIns="0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C2DE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Industrial</a:t>
            </a:r>
            <a:r>
              <a:rPr lang="en-US" sz="1800" b="1" dirty="0">
                <a:solidFill>
                  <a:srgbClr val="00C2DE"/>
                </a:solidFill>
                <a:ea typeface="+mn-lt"/>
                <a:cs typeface="Arial" panose="020B0604020202020204"/>
              </a:rPr>
              <a:t> &lt;Product Name&gt; Development Kit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C2D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859466-3045-AB78-FCFE-108FC2D5CF3B}"/>
              </a:ext>
            </a:extLst>
          </p:cNvPr>
          <p:cNvSpPr/>
          <p:nvPr/>
        </p:nvSpPr>
        <p:spPr>
          <a:xfrm>
            <a:off x="4971688" y="2630445"/>
            <a:ext cx="2286000" cy="27432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C2DE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IVI </a:t>
            </a:r>
            <a:r>
              <a:rPr lang="en-US" sz="1800" b="1">
                <a:solidFill>
                  <a:srgbClr val="00C2DE"/>
                </a:solidFill>
                <a:ea typeface="+mn-lt"/>
                <a:cs typeface="Arial" panose="020B0604020202020204"/>
              </a:rPr>
              <a:t>SW Suite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0C2D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34E36C6-5982-4AF9-E203-1F4FD91C03DC}"/>
              </a:ext>
            </a:extLst>
          </p:cNvPr>
          <p:cNvSpPr txBox="1"/>
          <p:nvPr/>
        </p:nvSpPr>
        <p:spPr>
          <a:xfrm>
            <a:off x="1331120" y="1978003"/>
            <a:ext cx="432811" cy="246221"/>
          </a:xfrm>
          <a:prstGeom prst="rect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Glue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92CACC2-AA89-DF03-D2A9-D9884E66C729}"/>
              </a:ext>
            </a:extLst>
          </p:cNvPr>
          <p:cNvSpPr txBox="1"/>
          <p:nvPr/>
        </p:nvSpPr>
        <p:spPr>
          <a:xfrm>
            <a:off x="1164672" y="1566385"/>
            <a:ext cx="524182" cy="246221"/>
          </a:xfrm>
          <a:prstGeom prst="rect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Script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1B6FFE6-DFE2-694A-E536-B236FC3E27DA}"/>
              </a:ext>
            </a:extLst>
          </p:cNvPr>
          <p:cNvSpPr txBox="1"/>
          <p:nvPr/>
        </p:nvSpPr>
        <p:spPr>
          <a:xfrm>
            <a:off x="2082357" y="1959247"/>
            <a:ext cx="1037143" cy="246221"/>
          </a:xfrm>
          <a:prstGeom prst="rect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Benchmark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CA689EE-CAC7-A8AD-973C-729D8337FF15}"/>
              </a:ext>
            </a:extLst>
          </p:cNvPr>
          <p:cNvSpPr txBox="1"/>
          <p:nvPr/>
        </p:nvSpPr>
        <p:spPr>
          <a:xfrm>
            <a:off x="2129942" y="1587175"/>
            <a:ext cx="1378583" cy="246221"/>
          </a:xfrm>
          <a:prstGeom prst="rect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Documentation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07CDEB9-4995-E03A-2F35-52EF83446B55}"/>
              </a:ext>
            </a:extLst>
          </p:cNvPr>
          <p:cNvSpPr txBox="1"/>
          <p:nvPr/>
        </p:nvSpPr>
        <p:spPr>
          <a:xfrm>
            <a:off x="1837814" y="2206814"/>
            <a:ext cx="932948" cy="246221"/>
          </a:xfrm>
          <a:prstGeom prst="rect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SOC/CRB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BE8FFE4-D1E7-F508-6B8E-182B74C70FC5}"/>
              </a:ext>
            </a:extLst>
          </p:cNvPr>
          <p:cNvSpPr/>
          <p:nvPr/>
        </p:nvSpPr>
        <p:spPr>
          <a:xfrm>
            <a:off x="1164672" y="2713087"/>
            <a:ext cx="2286000" cy="27432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C2DE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Robotics SW Suite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0C2D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42956AF-E293-070B-FAD2-EF99E9EFB1DC}"/>
              </a:ext>
            </a:extLst>
          </p:cNvPr>
          <p:cNvSpPr/>
          <p:nvPr/>
        </p:nvSpPr>
        <p:spPr>
          <a:xfrm>
            <a:off x="8754279" y="2630447"/>
            <a:ext cx="2286000" cy="27432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C2DE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Industrial </a:t>
            </a:r>
            <a:r>
              <a:rPr lang="en-US" sz="1800" b="1">
                <a:solidFill>
                  <a:srgbClr val="00C2DE"/>
                </a:solidFill>
                <a:ea typeface="+mn-lt"/>
                <a:cs typeface="Arial" panose="020B0604020202020204"/>
              </a:rPr>
              <a:t>SW Suite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0C2D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EBBAB4D5-7420-84DD-81D2-823BE40D6326}"/>
              </a:ext>
            </a:extLst>
          </p:cNvPr>
          <p:cNvSpPr/>
          <p:nvPr/>
        </p:nvSpPr>
        <p:spPr bwMode="auto">
          <a:xfrm>
            <a:off x="5059599" y="3306800"/>
            <a:ext cx="2103120" cy="32004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IVI SDK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1C5A40F2-0CA6-04AA-96D7-41619483FED9}"/>
              </a:ext>
            </a:extLst>
          </p:cNvPr>
          <p:cNvSpPr/>
          <p:nvPr/>
        </p:nvSpPr>
        <p:spPr bwMode="auto">
          <a:xfrm>
            <a:off x="1269359" y="3948244"/>
            <a:ext cx="2103120" cy="32004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Audio  SDK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7F43FED1-7250-5B1E-F59B-27F25BD172CB}"/>
              </a:ext>
            </a:extLst>
          </p:cNvPr>
          <p:cNvSpPr/>
          <p:nvPr/>
        </p:nvSpPr>
        <p:spPr bwMode="auto">
          <a:xfrm>
            <a:off x="1262102" y="3331710"/>
            <a:ext cx="2103120" cy="32004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Robotic SDK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500C2439-9AFC-8406-0128-183C0FCD17C5}"/>
              </a:ext>
            </a:extLst>
          </p:cNvPr>
          <p:cNvSpPr/>
          <p:nvPr/>
        </p:nvSpPr>
        <p:spPr bwMode="auto">
          <a:xfrm>
            <a:off x="8845086" y="3292827"/>
            <a:ext cx="2103120" cy="32004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Industrial SDK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12C22B-B2EB-5A47-8ECC-0A475A486D88}"/>
              </a:ext>
            </a:extLst>
          </p:cNvPr>
          <p:cNvSpPr/>
          <p:nvPr/>
        </p:nvSpPr>
        <p:spPr bwMode="auto">
          <a:xfrm>
            <a:off x="1284323" y="5728112"/>
            <a:ext cx="2103120" cy="32004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Foundation BSP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C7C08E-2266-2DFD-3BEB-8C1D6AB790CA}"/>
              </a:ext>
            </a:extLst>
          </p:cNvPr>
          <p:cNvSpPr/>
          <p:nvPr/>
        </p:nvSpPr>
        <p:spPr bwMode="auto">
          <a:xfrm>
            <a:off x="1269359" y="4515441"/>
            <a:ext cx="2103120" cy="32004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Physical AI SDK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BB065D-941B-BEBB-6DC0-F463DB1A0A3F}"/>
              </a:ext>
            </a:extLst>
          </p:cNvPr>
          <p:cNvSpPr/>
          <p:nvPr/>
        </p:nvSpPr>
        <p:spPr bwMode="auto">
          <a:xfrm>
            <a:off x="1262101" y="5012029"/>
            <a:ext cx="2103120" cy="32004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Tools  SDK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2221D4A-6862-01B8-E6CC-55035A736E65}"/>
              </a:ext>
            </a:extLst>
          </p:cNvPr>
          <p:cNvSpPr/>
          <p:nvPr/>
        </p:nvSpPr>
        <p:spPr bwMode="auto">
          <a:xfrm>
            <a:off x="5066857" y="3893043"/>
            <a:ext cx="2103120" cy="32004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Audio  SDK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44E986-07F1-50C5-0159-7C0BD141C900}"/>
              </a:ext>
            </a:extLst>
          </p:cNvPr>
          <p:cNvSpPr/>
          <p:nvPr/>
        </p:nvSpPr>
        <p:spPr bwMode="auto">
          <a:xfrm>
            <a:off x="5066857" y="4460240"/>
            <a:ext cx="2103120" cy="32004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Physical AI SDK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05CD401-6C37-F894-985A-D705B0C5370E}"/>
              </a:ext>
            </a:extLst>
          </p:cNvPr>
          <p:cNvSpPr/>
          <p:nvPr/>
        </p:nvSpPr>
        <p:spPr bwMode="auto">
          <a:xfrm>
            <a:off x="5059599" y="4956828"/>
            <a:ext cx="2103120" cy="32004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Tools  SDK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9990FA-7548-2CB4-A06C-390D5B2AF2E5}"/>
              </a:ext>
            </a:extLst>
          </p:cNvPr>
          <p:cNvSpPr/>
          <p:nvPr/>
        </p:nvSpPr>
        <p:spPr bwMode="auto">
          <a:xfrm>
            <a:off x="5001768" y="5687502"/>
            <a:ext cx="2103120" cy="32004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Foundation BSP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804E6E-8D6A-B4CC-62CD-9CD04C1B7BE9}"/>
              </a:ext>
            </a:extLst>
          </p:cNvPr>
          <p:cNvSpPr/>
          <p:nvPr/>
        </p:nvSpPr>
        <p:spPr bwMode="auto">
          <a:xfrm>
            <a:off x="8816255" y="5687502"/>
            <a:ext cx="2103120" cy="32004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Foundation BSP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C6B79EB-2EB3-1533-1A90-45EE3A5962B4}"/>
              </a:ext>
            </a:extLst>
          </p:cNvPr>
          <p:cNvSpPr/>
          <p:nvPr/>
        </p:nvSpPr>
        <p:spPr bwMode="auto">
          <a:xfrm>
            <a:off x="8845086" y="3871254"/>
            <a:ext cx="2103120" cy="32004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Audio  SDK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29FC6B5-DE48-B4FE-188B-AF9BD8BB26CA}"/>
              </a:ext>
            </a:extLst>
          </p:cNvPr>
          <p:cNvSpPr/>
          <p:nvPr/>
        </p:nvSpPr>
        <p:spPr bwMode="auto">
          <a:xfrm>
            <a:off x="8845086" y="4438451"/>
            <a:ext cx="2103120" cy="32004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Physical AI SDK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AAD8E14-0ADC-755B-5DEC-B124250F8757}"/>
              </a:ext>
            </a:extLst>
          </p:cNvPr>
          <p:cNvSpPr/>
          <p:nvPr/>
        </p:nvSpPr>
        <p:spPr bwMode="auto">
          <a:xfrm>
            <a:off x="8837828" y="4935039"/>
            <a:ext cx="2103120" cy="32004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Segoe UI" pitchFamily="34" charset="0"/>
                <a:cs typeface="Segoe UI" pitchFamily="34" charset="0"/>
              </a:rPr>
              <a:t>Tools  SDK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CD8F6A-1FA2-3031-90BB-B8240E2DBE94}"/>
              </a:ext>
            </a:extLst>
          </p:cNvPr>
          <p:cNvSpPr txBox="1"/>
          <p:nvPr/>
        </p:nvSpPr>
        <p:spPr>
          <a:xfrm>
            <a:off x="5080283" y="2012952"/>
            <a:ext cx="432811" cy="246221"/>
          </a:xfrm>
          <a:prstGeom prst="rect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Glue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6D37BD-668C-A0FF-BBD0-B1BFA0BDCC20}"/>
              </a:ext>
            </a:extLst>
          </p:cNvPr>
          <p:cNvSpPr txBox="1"/>
          <p:nvPr/>
        </p:nvSpPr>
        <p:spPr>
          <a:xfrm>
            <a:off x="4913835" y="1601334"/>
            <a:ext cx="524182" cy="246221"/>
          </a:xfrm>
          <a:prstGeom prst="rect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Script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B2F1D6-FDC6-A894-1CD2-1D74A30461C5}"/>
              </a:ext>
            </a:extLst>
          </p:cNvPr>
          <p:cNvSpPr txBox="1"/>
          <p:nvPr/>
        </p:nvSpPr>
        <p:spPr>
          <a:xfrm>
            <a:off x="5831520" y="1994196"/>
            <a:ext cx="1037143" cy="246221"/>
          </a:xfrm>
          <a:prstGeom prst="rect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Benchmark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AE166E-536B-DCC5-2CAC-5C17286CF3A4}"/>
              </a:ext>
            </a:extLst>
          </p:cNvPr>
          <p:cNvSpPr txBox="1"/>
          <p:nvPr/>
        </p:nvSpPr>
        <p:spPr>
          <a:xfrm>
            <a:off x="5879105" y="1622124"/>
            <a:ext cx="1378583" cy="246221"/>
          </a:xfrm>
          <a:prstGeom prst="rect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Documentation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E3C31E-2943-AB8F-33FB-2A7893FCB42E}"/>
              </a:ext>
            </a:extLst>
          </p:cNvPr>
          <p:cNvSpPr txBox="1"/>
          <p:nvPr/>
        </p:nvSpPr>
        <p:spPr>
          <a:xfrm>
            <a:off x="5586977" y="2241763"/>
            <a:ext cx="932948" cy="246221"/>
          </a:xfrm>
          <a:prstGeom prst="rect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SOC/CRB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9E0F24-16D9-E2B5-136F-2BB4B88951D8}"/>
              </a:ext>
            </a:extLst>
          </p:cNvPr>
          <p:cNvSpPr txBox="1"/>
          <p:nvPr/>
        </p:nvSpPr>
        <p:spPr>
          <a:xfrm>
            <a:off x="9011534" y="1976744"/>
            <a:ext cx="432811" cy="246221"/>
          </a:xfrm>
          <a:prstGeom prst="rect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6B69DD-3C50-9139-2524-4DC03334D858}"/>
              </a:ext>
            </a:extLst>
          </p:cNvPr>
          <p:cNvSpPr txBox="1"/>
          <p:nvPr/>
        </p:nvSpPr>
        <p:spPr>
          <a:xfrm>
            <a:off x="8845086" y="1565126"/>
            <a:ext cx="524182" cy="246221"/>
          </a:xfrm>
          <a:prstGeom prst="rect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Script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5C63E7-95CD-2004-5A1F-A8D54A67C875}"/>
              </a:ext>
            </a:extLst>
          </p:cNvPr>
          <p:cNvSpPr txBox="1"/>
          <p:nvPr/>
        </p:nvSpPr>
        <p:spPr>
          <a:xfrm>
            <a:off x="9762771" y="1957988"/>
            <a:ext cx="1037143" cy="246221"/>
          </a:xfrm>
          <a:prstGeom prst="rect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Benchmark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6A39DB-BED1-3311-C951-C6B33CC510E9}"/>
              </a:ext>
            </a:extLst>
          </p:cNvPr>
          <p:cNvSpPr txBox="1"/>
          <p:nvPr/>
        </p:nvSpPr>
        <p:spPr>
          <a:xfrm>
            <a:off x="9810356" y="1585916"/>
            <a:ext cx="1378583" cy="246221"/>
          </a:xfrm>
          <a:prstGeom prst="rect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Documentation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BDF491-D883-43AB-6ED2-3ED930A7C32B}"/>
              </a:ext>
            </a:extLst>
          </p:cNvPr>
          <p:cNvSpPr txBox="1"/>
          <p:nvPr/>
        </p:nvSpPr>
        <p:spPr>
          <a:xfrm>
            <a:off x="9518228" y="2205555"/>
            <a:ext cx="932948" cy="246221"/>
          </a:xfrm>
          <a:prstGeom prst="rect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SOC/CRB</a:t>
            </a:r>
          </a:p>
        </p:txBody>
      </p:sp>
    </p:spTree>
    <p:extLst>
      <p:ext uri="{BB962C8B-B14F-4D97-AF65-F5344CB8AC3E}">
        <p14:creationId xmlns:p14="http://schemas.microsoft.com/office/powerpoint/2010/main" val="312416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MD Corporate Template_Dark">
  <a:themeElements>
    <a:clrScheme name="AMD Palet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C1A968"/>
      </a:accent3>
      <a:accent4>
        <a:srgbClr val="F26522"/>
      </a:accent4>
      <a:accent5>
        <a:srgbClr val="ED1C24"/>
      </a:accent5>
      <a:accent6>
        <a:srgbClr val="24C7D3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7" id="{94DDD171-3649-784B-8DFF-0523AEB0E1C6}" vid="{59C6D40F-03E9-B54A-84C3-8AA2035591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TemplafySlideTemplateConfiguration><![CDATA[{"slideVersion":1,"isValidatorEnabled":false,"isLocked":false,"elementsMetadata":[],"slideId":"637629098780805369","enableDocumentContentUpdater":true,"version":"2.0"}]]></TemplafySlideTemplateConfiguration>
</file>

<file path=customXml/item2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3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4.xml><?xml version="1.0" encoding="utf-8"?>
<TemplafySlideTemplateConfiguration><![CDATA[{"slideVersion":1,"isValidatorEnabled":false,"isLocked":false,"elementsMetadata":[],"slideId":"637629098780802172","enableDocumentContentUpdater":true,"version":"2.0"}]]></TemplafySlideTemplateConfiguration>
</file>

<file path=customXml/item5.xml><?xml version="1.0" encoding="utf-8"?>
<TemplafySlideTemplateConfiguration><![CDATA[{"slideVersion":1,"isValidatorEnabled":false,"isLocked":false,"elementsMetadata":[],"slideId":"637629098780808397","enableDocumentContentUpdater":true,"version":"2.0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1.xml><?xml version="1.0" encoding="utf-8"?>
<TemplafySlideTemplateConfiguration><![CDATA[{"slideVersion":1,"isValidatorEnabled":false,"isLocked":false,"elementsMetadata":[],"slideId":"637629098780808397","enableDocumentContentUpdater":true,"version":"2.0"}]]></TemplafySlideTemplateConfiguration>
</file>

<file path=customXml/item1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A2EBC6E34694C80F43E94FCA993B5" ma:contentTypeVersion="14" ma:contentTypeDescription="Create a new document." ma:contentTypeScope="" ma:versionID="1a7ced39ac191f9ec8deffde533b0c1c">
  <xsd:schema xmlns:xsd="http://www.w3.org/2001/XMLSchema" xmlns:xs="http://www.w3.org/2001/XMLSchema" xmlns:p="http://schemas.microsoft.com/office/2006/metadata/properties" xmlns:ns1="http://schemas.microsoft.com/sharepoint/v3" xmlns:ns2="e4aa919a-b200-49cb-beca-4c7e0810321e" xmlns:ns3="06670dda-0291-4061-b6e0-f6c0cb392c51" targetNamespace="http://schemas.microsoft.com/office/2006/metadata/properties" ma:root="true" ma:fieldsID="bedea8c8816a4e5934c808becd103583" ns1:_="" ns2:_="" ns3:_="">
    <xsd:import namespace="http://schemas.microsoft.com/sharepoint/v3"/>
    <xsd:import namespace="e4aa919a-b200-49cb-beca-4c7e0810321e"/>
    <xsd:import namespace="06670dda-0291-4061-b6e0-f6c0cb392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919a-b200-49cb-beca-4c7e08103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70dda-0291-4061-b6e0-f6c0cb392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e4aa919a-b200-49cb-beca-4c7e0810321e" xsi:nil="true"/>
  </documentManagement>
</p:properties>
</file>

<file path=customXml/item14.xml><?xml version="1.0" encoding="utf-8"?>
<TemplafySlideTemplateConfiguration><![CDATA[{"slideVersion":1,"isValidatorEnabled":false,"isLocked":false,"elementsMetadata":[],"slideId":"637629098780808397","enableDocumentContentUpdater":true,"version":"2.0"}]]></TemplafySlideTemplateConfiguration>
</file>

<file path=customXml/item1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95AE8F77-448C-4B7C-8669-DC6D4241F9CE}">
  <ds:schemaRefs/>
</ds:datastoreItem>
</file>

<file path=customXml/itemProps2.xml><?xml version="1.0" encoding="utf-8"?>
<ds:datastoreItem xmlns:ds="http://schemas.openxmlformats.org/officeDocument/2006/customXml" ds:itemID="{6291F803-2EF0-4E47-96D6-4796950CE6BD}">
  <ds:schemaRefs/>
</ds:datastoreItem>
</file>

<file path=customXml/itemProps3.xml><?xml version="1.0" encoding="utf-8"?>
<ds:datastoreItem xmlns:ds="http://schemas.openxmlformats.org/officeDocument/2006/customXml" ds:itemID="{43BC5722-1D5B-4915-8247-E6D5F513E549}">
  <ds:schemaRefs/>
</ds:datastoreItem>
</file>

<file path=customXml/itemProps4.xml><?xml version="1.0" encoding="utf-8"?>
<ds:datastoreItem xmlns:ds="http://schemas.openxmlformats.org/officeDocument/2006/customXml" ds:itemID="{BE3BB7DD-0C86-4747-A387-5C5D191BB970}">
  <ds:schemaRefs/>
</ds:datastoreItem>
</file>

<file path=customXml/itemProps5.xml><?xml version="1.0" encoding="utf-8"?>
<ds:datastoreItem xmlns:ds="http://schemas.openxmlformats.org/officeDocument/2006/customXml" ds:itemID="{24E81CCE-7882-4DCC-8900-5EFAB22BF4ED}">
  <ds:schemaRefs/>
</ds:datastoreItem>
</file>

<file path=customXml/itemProps6.xml><?xml version="1.0" encoding="utf-8"?>
<ds:datastoreItem xmlns:ds="http://schemas.openxmlformats.org/officeDocument/2006/customXml" ds:itemID="{3D719615-E8C3-42D3-B19D-076A1FC4620D}">
  <ds:schemaRefs/>
</ds:datastoreItem>
</file>

<file path=customXml/itemProps7.xml><?xml version="1.0" encoding="utf-8"?>
<ds:datastoreItem xmlns:ds="http://schemas.openxmlformats.org/officeDocument/2006/customXml" ds:itemID="{F8E61321-9B35-4FD7-B60B-C7EC3E22D467}">
  <ds:schemaRefs/>
</ds:datastoreItem>
</file>

<file path=customXml/itemProps8.xml><?xml version="1.0" encoding="utf-8"?>
<ds:datastoreItem xmlns:ds="http://schemas.openxmlformats.org/officeDocument/2006/customXml" ds:itemID="{2225125F-5696-47CE-8DAC-738F52FBFC0E}">
  <ds:schemaRefs/>
</ds:datastoreItem>
</file>

<file path=customXml/itemProps9.xml><?xml version="1.0" encoding="utf-8"?>
<ds:datastoreItem xmlns:ds="http://schemas.openxmlformats.org/officeDocument/2006/customXml" ds:itemID="{C5DD1971-334A-45E9-9D2B-FB6BD8AAE58A}">
  <ds:schemaRefs/>
</ds:datastoreItem>
</file>

<file path=customXml/itemProps10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11.xml><?xml version="1.0" encoding="utf-8"?>
<ds:datastoreItem xmlns:ds="http://schemas.openxmlformats.org/officeDocument/2006/customXml" ds:itemID="{449C4417-0F53-4D3B-81D4-2388253EEAB9}">
  <ds:schemaRefs/>
</ds:datastoreItem>
</file>

<file path=customXml/itemProps12.xml><?xml version="1.0" encoding="utf-8"?>
<ds:datastoreItem xmlns:ds="http://schemas.openxmlformats.org/officeDocument/2006/customXml" ds:itemID="{0BB3C309-8520-4616-80FC-2CB10D5B83A0}">
  <ds:schemaRefs>
    <ds:schemaRef ds:uri="06670dda-0291-4061-b6e0-f6c0cb392c51"/>
    <ds:schemaRef ds:uri="e4aa919a-b200-49cb-beca-4c7e081032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13.xml><?xml version="1.0" encoding="utf-8"?>
<ds:datastoreItem xmlns:ds="http://schemas.openxmlformats.org/officeDocument/2006/customXml" ds:itemID="{F990F116-B58F-4255-B05B-DA3808E0E5C6}">
  <ds:schemaRefs>
    <ds:schemaRef ds:uri="06670dda-0291-4061-b6e0-f6c0cb392c51"/>
    <ds:schemaRef ds:uri="e4aa919a-b200-49cb-beca-4c7e0810321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14.xml><?xml version="1.0" encoding="utf-8"?>
<ds:datastoreItem xmlns:ds="http://schemas.openxmlformats.org/officeDocument/2006/customXml" ds:itemID="{96AF7B26-95D9-463A-9309-DD90701A9779}">
  <ds:schemaRefs/>
</ds:datastoreItem>
</file>

<file path=customXml/itemProps15.xml><?xml version="1.0" encoding="utf-8"?>
<ds:datastoreItem xmlns:ds="http://schemas.openxmlformats.org/officeDocument/2006/customXml" ds:itemID="{8C409301-29C2-4A72-8C2F-AE2F9CCC764B}">
  <ds:schemaRefs/>
</ds:datastoreItem>
</file>

<file path=docMetadata/LabelInfo.xml><?xml version="1.0" encoding="utf-8"?>
<clbl:labelList xmlns:clbl="http://schemas.microsoft.com/office/2020/mipLabelMetadata">
  <clbl:label id="{64e4cbe8-b4f6-45dc-bcba-6123dfd2d8bf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2318</Words>
  <Application>Microsoft Office PowerPoint</Application>
  <PresentationFormat>Widescreen</PresentationFormat>
  <Paragraphs>614</Paragraphs>
  <Slides>17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AMD Corporate Template_Dark</vt:lpstr>
      <vt:lpstr>Physical AI SDK:  AI Model and Systems Roadmap   Hari Krishna Vydana AECG/PAVS AI SW  </vt:lpstr>
      <vt:lpstr>Model Lifecycle Overview </vt:lpstr>
      <vt:lpstr>Physical AI SDK – AI Models for Robotics Segment    </vt:lpstr>
      <vt:lpstr>Physical AI SDK – AI Models for Industrial Segment</vt:lpstr>
      <vt:lpstr>Physical AI SDK – AI Models for Healthcare Segment</vt:lpstr>
      <vt:lpstr>Physical AI SDK – Inference Frameworks and Runtime </vt:lpstr>
      <vt:lpstr>VLM Performance Optimization Components (via AI Box Scale)  </vt:lpstr>
      <vt:lpstr>Physical AI SDK – Tools &amp; Infrastructure   </vt:lpstr>
      <vt:lpstr>Physical AI SDK – Pipeline Frameworks and Sample Apps (OOB)   </vt:lpstr>
      <vt:lpstr>AI Inference Runtime Mapping – Heterogenous (In car voice asst. usage) </vt:lpstr>
      <vt:lpstr>Agentic/Robotics (Ex. CogACT) Usage Mapping to Inference Pipeline  </vt:lpstr>
      <vt:lpstr>APU Hybrid Execution for Encoder-Decoder-Diffusion Models  </vt:lpstr>
      <vt:lpstr>Industrial Application Usage Pipeline (Ex. Veo Follow-Cam) </vt:lpstr>
      <vt:lpstr>BACKUP </vt:lpstr>
      <vt:lpstr>Embedded AI SW Stack Inference Runtime Flow - Generic  </vt:lpstr>
      <vt:lpstr>In Vehicle Voice Assist. Usage to Inference Mapping – Hybrid (broader mkt, Krk2e)    </vt:lpstr>
      <vt:lpstr>PowerPoint Presentation</vt:lpstr>
    </vt:vector>
  </TitlesOfParts>
  <Manager>&lt;Comms manager name here&gt;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AMD Corporate Powerpoint Template</dc:subject>
  <dc:creator>Federico Gasquet</dc:creator>
  <cp:keywords>AMD Corporate Powerpoint Template</cp:keywords>
  <dc:description/>
  <cp:lastModifiedBy>Yan, Zhaohui</cp:lastModifiedBy>
  <cp:revision>17</cp:revision>
  <cp:lastPrinted>2020-04-30T18:59:47Z</cp:lastPrinted>
  <dcterms:created xsi:type="dcterms:W3CDTF">2021-04-19T14:31:00Z</dcterms:created>
  <dcterms:modified xsi:type="dcterms:W3CDTF">2026-03-09T12:28:24Z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2021-07-26T15:24:38</vt:lpwstr>
  </property>
  <property fmtid="{D5CDD505-2E9C-101B-9397-08002B2CF9AE}" pid="6" name="ClassificationContentMarkingHeaderLocations">
    <vt:lpwstr>AMD Corporate Template_Dark:6</vt:lpwstr>
  </property>
  <property fmtid="{D5CDD505-2E9C-101B-9397-08002B2CF9AE}" pid="7" name="ClassificationContentMarkingHeaderText">
    <vt:lpwstr>[AMD Official Use Only - General]</vt:lpwstr>
  </property>
  <property fmtid="{D5CDD505-2E9C-101B-9397-08002B2CF9AE}" pid="8" name="MSIP_Label_64e4cbe8-b4f6-45dc-bcba-6123dfd2d8bf_Enabled">
    <vt:lpwstr>true</vt:lpwstr>
  </property>
  <property fmtid="{D5CDD505-2E9C-101B-9397-08002B2CF9AE}" pid="9" name="MSIP_Label_64e4cbe8-b4f6-45dc-bcba-6123dfd2d8bf_SetDate">
    <vt:lpwstr>2024-02-15T15:59:13Z</vt:lpwstr>
  </property>
  <property fmtid="{D5CDD505-2E9C-101B-9397-08002B2CF9AE}" pid="10" name="MSIP_Label_64e4cbe8-b4f6-45dc-bcba-6123dfd2d8bf_Method">
    <vt:lpwstr>Privileged</vt:lpwstr>
  </property>
  <property fmtid="{D5CDD505-2E9C-101B-9397-08002B2CF9AE}" pid="11" name="MSIP_Label_64e4cbe8-b4f6-45dc-bcba-6123dfd2d8bf_Name">
    <vt:lpwstr>Non-Business-AIP 2.0</vt:lpwstr>
  </property>
  <property fmtid="{D5CDD505-2E9C-101B-9397-08002B2CF9AE}" pid="12" name="MSIP_Label_64e4cbe8-b4f6-45dc-bcba-6123dfd2d8bf_SiteId">
    <vt:lpwstr>3dd8961f-e488-4e60-8e11-a82d994e183d</vt:lpwstr>
  </property>
  <property fmtid="{D5CDD505-2E9C-101B-9397-08002B2CF9AE}" pid="13" name="MSIP_Label_64e4cbe8-b4f6-45dc-bcba-6123dfd2d8bf_ActionId">
    <vt:lpwstr>c382c031-d868-43ef-a7b1-f4e852747774</vt:lpwstr>
  </property>
  <property fmtid="{D5CDD505-2E9C-101B-9397-08002B2CF9AE}" pid="14" name="MSIP_Label_64e4cbe8-b4f6-45dc-bcba-6123dfd2d8bf_ContentBits">
    <vt:lpwstr>0</vt:lpwstr>
  </property>
</Properties>
</file>